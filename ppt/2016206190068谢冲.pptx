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31"/>
  </p:notesMasterIdLst>
  <p:sldIdLst>
    <p:sldId id="256" r:id="rId2"/>
    <p:sldId id="281" r:id="rId3"/>
    <p:sldId id="291" r:id="rId4"/>
    <p:sldId id="283" r:id="rId5"/>
    <p:sldId id="322" r:id="rId6"/>
    <p:sldId id="286" r:id="rId7"/>
    <p:sldId id="292" r:id="rId8"/>
    <p:sldId id="323" r:id="rId9"/>
    <p:sldId id="296" r:id="rId10"/>
    <p:sldId id="297" r:id="rId11"/>
    <p:sldId id="294" r:id="rId12"/>
    <p:sldId id="299" r:id="rId13"/>
    <p:sldId id="318" r:id="rId14"/>
    <p:sldId id="320" r:id="rId15"/>
    <p:sldId id="302" r:id="rId16"/>
    <p:sldId id="303" r:id="rId17"/>
    <p:sldId id="324" r:id="rId18"/>
    <p:sldId id="305" r:id="rId19"/>
    <p:sldId id="307" r:id="rId20"/>
    <p:sldId id="325" r:id="rId21"/>
    <p:sldId id="308" r:id="rId22"/>
    <p:sldId id="309" r:id="rId23"/>
    <p:sldId id="310" r:id="rId24"/>
    <p:sldId id="311" r:id="rId25"/>
    <p:sldId id="312" r:id="rId26"/>
    <p:sldId id="319" r:id="rId27"/>
    <p:sldId id="314" r:id="rId28"/>
    <p:sldId id="315" r:id="rId29"/>
    <p:sldId id="31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59"/>
    <a:srgbClr val="354059"/>
    <a:srgbClr val="AFB4BA"/>
    <a:srgbClr val="354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608" autoAdjust="0"/>
  </p:normalViewPr>
  <p:slideViewPr>
    <p:cSldViewPr snapToGrid="0">
      <p:cViewPr varScale="1">
        <p:scale>
          <a:sx n="67" d="100"/>
          <a:sy n="67" d="100"/>
        </p:scale>
        <p:origin x="1267"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8D8D01-000F-4F0D-8B76-4EEE469078CB}" type="datetimeFigureOut">
              <a:rPr lang="zh-CN" altLang="en-US" smtClean="0"/>
              <a:t>2019/5/21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731148-9DDC-4C3B-835E-5B831AA7A591}" type="slidenum">
              <a:rPr lang="zh-CN" altLang="en-US" smtClean="0"/>
              <a:t>‹#›</a:t>
            </a:fld>
            <a:endParaRPr lang="zh-CN" altLang="en-US"/>
          </a:p>
        </p:txBody>
      </p:sp>
    </p:spTree>
    <p:extLst>
      <p:ext uri="{BB962C8B-B14F-4D97-AF65-F5344CB8AC3E}">
        <p14:creationId xmlns:p14="http://schemas.microsoft.com/office/powerpoint/2010/main" val="947304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2E1967A-5ECB-4590-9A07-17B85AFA8D8D}" type="slidenum">
              <a:rPr lang="zh-CN" altLang="en-US" smtClean="0"/>
              <a:t>1</a:t>
            </a:fld>
            <a:endParaRPr lang="zh-CN" altLang="en-US"/>
          </a:p>
        </p:txBody>
      </p:sp>
    </p:spTree>
    <p:extLst>
      <p:ext uri="{BB962C8B-B14F-4D97-AF65-F5344CB8AC3E}">
        <p14:creationId xmlns:p14="http://schemas.microsoft.com/office/powerpoint/2010/main" val="3796869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（如车辆轨迹、个人轨迹、社交媒体数据，签到数据等）</a:t>
            </a:r>
            <a:endParaRPr kumimoji="0" lang="en-US" altLang="zh-CN"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t>遥感大数据、互联网</a:t>
            </a:r>
          </a:p>
        </p:txBody>
      </p:sp>
      <p:sp>
        <p:nvSpPr>
          <p:cNvPr id="4" name="灯片编号占位符 3"/>
          <p:cNvSpPr>
            <a:spLocks noGrp="1"/>
          </p:cNvSpPr>
          <p:nvPr>
            <p:ph type="sldNum" sz="quarter" idx="5"/>
          </p:nvPr>
        </p:nvSpPr>
        <p:spPr/>
        <p:txBody>
          <a:bodyPr/>
          <a:lstStyle/>
          <a:p>
            <a:fld id="{6E731148-9DDC-4C3B-835E-5B831AA7A591}" type="slidenum">
              <a:rPr lang="zh-CN" altLang="en-US" smtClean="0"/>
              <a:t>4</a:t>
            </a:fld>
            <a:endParaRPr lang="zh-CN" altLang="en-US"/>
          </a:p>
        </p:txBody>
      </p:sp>
    </p:spTree>
    <p:extLst>
      <p:ext uri="{BB962C8B-B14F-4D97-AF65-F5344CB8AC3E}">
        <p14:creationId xmlns:p14="http://schemas.microsoft.com/office/powerpoint/2010/main" val="1558992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基于分布式文件系统的时空大数据管理方式能够高效支持离线批处理任务，但无法支持低延迟时空查询。以</a:t>
            </a:r>
            <a:r>
              <a:rPr lang="en-US" altLang="zh-CN" sz="1200" kern="1200" dirty="0">
                <a:solidFill>
                  <a:schemeClr val="tx1"/>
                </a:solidFill>
                <a:effectLst/>
                <a:latin typeface="+mn-lt"/>
                <a:ea typeface="+mn-ea"/>
                <a:cs typeface="+mn-cs"/>
              </a:rPr>
              <a:t>HBase</a:t>
            </a:r>
            <a:r>
              <a:rPr lang="zh-CN" altLang="zh-CN" sz="1200" kern="1200" dirty="0">
                <a:solidFill>
                  <a:schemeClr val="tx1"/>
                </a:solidFill>
                <a:effectLst/>
                <a:latin typeface="+mn-lt"/>
                <a:ea typeface="+mn-ea"/>
                <a:cs typeface="+mn-cs"/>
              </a:rPr>
              <a:t>为代表的分布式数据库支持键值对条件过滤查询，但对多维时空查询支持能力不足</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时空索引</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5</a:t>
            </a:fld>
            <a:endParaRPr lang="zh-CN" altLang="en-US"/>
          </a:p>
        </p:txBody>
      </p:sp>
    </p:spTree>
    <p:extLst>
      <p:ext uri="{BB962C8B-B14F-4D97-AF65-F5344CB8AC3E}">
        <p14:creationId xmlns:p14="http://schemas.microsoft.com/office/powerpoint/2010/main" val="1786096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6</a:t>
            </a:fld>
            <a:endParaRPr lang="zh-CN" altLang="en-US"/>
          </a:p>
        </p:txBody>
      </p:sp>
    </p:spTree>
    <p:extLst>
      <p:ext uri="{BB962C8B-B14F-4D97-AF65-F5344CB8AC3E}">
        <p14:creationId xmlns:p14="http://schemas.microsoft.com/office/powerpoint/2010/main" val="3704546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HBase</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表</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由行</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和列</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族</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组成，每</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行行键</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按照字典序排列，列族</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下再划分子列</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均可</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动态添加</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每个单元的数据有</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若干</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时间版本，</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时间戳来索引</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每个数据由行键、列族、列、时间戳</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200" dirty="0">
                <a:latin typeface="Times New Roman" panose="02020603050405020304" pitchFamily="18" charset="0"/>
                <a:ea typeface="微软雅黑" panose="020B0503020204020204" pitchFamily="34" charset="-122"/>
                <a:cs typeface="Times New Roman" panose="02020603050405020304" pitchFamily="18" charset="0"/>
              </a:rPr>
              <a:t>个坐标唯一确定</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0" i="0" kern="1200" dirty="0">
                <a:solidFill>
                  <a:schemeClr val="tx1"/>
                </a:solidFill>
                <a:effectLst/>
                <a:latin typeface="+mn-lt"/>
                <a:ea typeface="+mn-ea"/>
                <a:cs typeface="+mn-cs"/>
              </a:rPr>
              <a:t>从</a:t>
            </a:r>
            <a:r>
              <a:rPr lang="en-US" altLang="zh-CN" sz="1200" b="0" i="0" kern="1200" dirty="0">
                <a:solidFill>
                  <a:schemeClr val="tx1"/>
                </a:solidFill>
                <a:effectLst/>
                <a:latin typeface="+mn-lt"/>
                <a:ea typeface="+mn-ea"/>
                <a:cs typeface="+mn-cs"/>
              </a:rPr>
              <a:t>0.92</a:t>
            </a:r>
            <a:r>
              <a:rPr lang="zh-CN" altLang="en-US" sz="1200" b="0" i="0" kern="1200" dirty="0">
                <a:solidFill>
                  <a:schemeClr val="tx1"/>
                </a:solidFill>
                <a:effectLst/>
                <a:latin typeface="+mn-lt"/>
                <a:ea typeface="+mn-ea"/>
                <a:cs typeface="+mn-cs"/>
              </a:rPr>
              <a:t>版本开始，</a:t>
            </a:r>
            <a:r>
              <a:rPr lang="en-US" altLang="zh-CN" sz="1200" b="0" i="0" kern="1200" dirty="0">
                <a:solidFill>
                  <a:schemeClr val="tx1"/>
                </a:solidFill>
                <a:effectLst/>
                <a:latin typeface="+mn-lt"/>
                <a:ea typeface="+mn-ea"/>
                <a:cs typeface="+mn-cs"/>
              </a:rPr>
              <a:t>HBase</a:t>
            </a:r>
            <a:r>
              <a:rPr lang="zh-CN" altLang="en-US" sz="1200" b="0" i="0" kern="1200" dirty="0">
                <a:solidFill>
                  <a:schemeClr val="tx1"/>
                </a:solidFill>
                <a:effectLst/>
                <a:latin typeface="+mn-lt"/>
                <a:ea typeface="+mn-ea"/>
                <a:cs typeface="+mn-cs"/>
              </a:rPr>
              <a:t>加入了协处理器（</a:t>
            </a:r>
            <a:r>
              <a:rPr lang="en-US" altLang="zh-CN" sz="1200" b="0" i="0" kern="1200" dirty="0">
                <a:solidFill>
                  <a:schemeClr val="tx1"/>
                </a:solidFill>
                <a:effectLst/>
                <a:latin typeface="+mn-lt"/>
                <a:ea typeface="+mn-ea"/>
                <a:cs typeface="+mn-cs"/>
              </a:rPr>
              <a:t>coprocessors</a:t>
            </a:r>
            <a:r>
              <a:rPr lang="zh-CN" altLang="en-US" sz="1200" b="0" i="0" kern="1200" dirty="0">
                <a:solidFill>
                  <a:schemeClr val="tx1"/>
                </a:solidFill>
                <a:effectLst/>
                <a:latin typeface="+mn-lt"/>
                <a:ea typeface="+mn-ea"/>
                <a:cs typeface="+mn-cs"/>
              </a:rPr>
              <a:t>），利用协处理器，用户可以编写运行在 </a:t>
            </a:r>
            <a:r>
              <a:rPr lang="en-US" altLang="zh-CN" sz="1200" b="0" i="0" kern="1200" dirty="0">
                <a:solidFill>
                  <a:schemeClr val="tx1"/>
                </a:solidFill>
                <a:effectLst/>
                <a:latin typeface="+mn-lt"/>
                <a:ea typeface="+mn-ea"/>
                <a:cs typeface="+mn-cs"/>
              </a:rPr>
              <a:t>HBase Server </a:t>
            </a:r>
            <a:r>
              <a:rPr lang="zh-CN" altLang="en-US" sz="1200" b="0" i="0" kern="1200" dirty="0">
                <a:solidFill>
                  <a:schemeClr val="tx1"/>
                </a:solidFill>
                <a:effectLst/>
                <a:latin typeface="+mn-lt"/>
                <a:ea typeface="+mn-ea"/>
                <a:cs typeface="+mn-cs"/>
              </a:rPr>
              <a:t>端的代码。可以实现“二级索引”，求和、计数、排序、过滤等</a:t>
            </a:r>
            <a:r>
              <a:rPr lang="en-US" altLang="zh-CN" sz="1200" b="0" i="0" kern="1200" dirty="0">
                <a:solidFill>
                  <a:schemeClr val="tx1"/>
                </a:solidFill>
                <a:effectLst/>
                <a:latin typeface="+mn-lt"/>
                <a:ea typeface="+mn-ea"/>
                <a:cs typeface="+mn-cs"/>
              </a:rPr>
              <a:t>server</a:t>
            </a:r>
            <a:r>
              <a:rPr lang="zh-CN" altLang="en-US" sz="1200" b="0" i="0" kern="1200" dirty="0">
                <a:solidFill>
                  <a:schemeClr val="tx1"/>
                </a:solidFill>
                <a:effectLst/>
                <a:latin typeface="+mn-lt"/>
                <a:ea typeface="+mn-ea"/>
                <a:cs typeface="+mn-cs"/>
              </a:rPr>
              <a:t>端操作。</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8</a:t>
            </a:fld>
            <a:endParaRPr lang="zh-CN" altLang="en-US"/>
          </a:p>
        </p:txBody>
      </p:sp>
    </p:spTree>
    <p:extLst>
      <p:ext uri="{BB962C8B-B14F-4D97-AF65-F5344CB8AC3E}">
        <p14:creationId xmlns:p14="http://schemas.microsoft.com/office/powerpoint/2010/main" val="3588755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对于点、线面数据，元数据表和数据表没有区别，而由于其几何属性的差别，编码表的方式有所不同。</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9</a:t>
            </a:fld>
            <a:endParaRPr lang="zh-CN" altLang="en-US"/>
          </a:p>
        </p:txBody>
      </p:sp>
    </p:spTree>
    <p:extLst>
      <p:ext uri="{BB962C8B-B14F-4D97-AF65-F5344CB8AC3E}">
        <p14:creationId xmlns:p14="http://schemas.microsoft.com/office/powerpoint/2010/main" val="3790557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对于点、线面数据，元数据表和数据表没有区别，而由于其几何属性的差别，编码表的方式有所不同。</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10</a:t>
            </a:fld>
            <a:endParaRPr lang="zh-CN" altLang="en-US"/>
          </a:p>
        </p:txBody>
      </p:sp>
    </p:spTree>
    <p:extLst>
      <p:ext uri="{BB962C8B-B14F-4D97-AF65-F5344CB8AC3E}">
        <p14:creationId xmlns:p14="http://schemas.microsoft.com/office/powerpoint/2010/main" val="2053241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串接方式：</a:t>
            </a:r>
            <a:endParaRPr lang="en-US" altLang="zh-CN" sz="1400" b="1"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400" dirty="0">
              <a:latin typeface="Times New Roman" panose="02020603050405020304" pitchFamily="18" charset="0"/>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ST: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空间编码在前</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粗粒度时间编码在后的</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TS: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粗粒度时间在前</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空间编码在后</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TST: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两个</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粒度时间在两边，空间编码</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中间</a:t>
            </a:r>
            <a:endParaRPr lang="en-US" altLang="zh-CN" sz="1400"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11</a:t>
            </a:fld>
            <a:endParaRPr lang="zh-CN" altLang="en-US"/>
          </a:p>
        </p:txBody>
      </p:sp>
    </p:spTree>
    <p:extLst>
      <p:ext uri="{BB962C8B-B14F-4D97-AF65-F5344CB8AC3E}">
        <p14:creationId xmlns:p14="http://schemas.microsoft.com/office/powerpoint/2010/main" val="646990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对于点、线面数据，元数据表和数据表没有区别，而由于其几何属性的差别，编码表的方式有所不同。</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12</a:t>
            </a:fld>
            <a:endParaRPr lang="zh-CN" altLang="en-US"/>
          </a:p>
        </p:txBody>
      </p:sp>
    </p:spTree>
    <p:extLst>
      <p:ext uri="{BB962C8B-B14F-4D97-AF65-F5344CB8AC3E}">
        <p14:creationId xmlns:p14="http://schemas.microsoft.com/office/powerpoint/2010/main" val="1634460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对于点、线面数据，元数据表和数据表没有区别，而由于其几何属性的差别，编码表的方式有所不同。</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由于线面对象的几何属性与点对象不同，线面对象在空间上可能跨越多个时空单元</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若使用细粒度的空间单元，可以更细致的逼近线面对象的几何形状，但所需的</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时空</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单元数量会非常多</a:t>
            </a:r>
            <a:endParaRPr lang="zh-CN" altLang="en-US"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13</a:t>
            </a:fld>
            <a:endParaRPr lang="zh-CN" altLang="en-US"/>
          </a:p>
        </p:txBody>
      </p:sp>
    </p:spTree>
    <p:extLst>
      <p:ext uri="{BB962C8B-B14F-4D97-AF65-F5344CB8AC3E}">
        <p14:creationId xmlns:p14="http://schemas.microsoft.com/office/powerpoint/2010/main" val="2181285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对于点、线面数据，元数据表和数据表没有区别，而由于其几何属性的差别，编码表的方式有所不同。</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14</a:t>
            </a:fld>
            <a:endParaRPr lang="zh-CN" altLang="en-US"/>
          </a:p>
        </p:txBody>
      </p:sp>
    </p:spTree>
    <p:extLst>
      <p:ext uri="{BB962C8B-B14F-4D97-AF65-F5344CB8AC3E}">
        <p14:creationId xmlns:p14="http://schemas.microsoft.com/office/powerpoint/2010/main" val="2715005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蓝色查询矩形可以被划分为多个大小不同的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Range</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段</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16</a:t>
            </a:fld>
            <a:endParaRPr lang="zh-CN" altLang="en-US"/>
          </a:p>
        </p:txBody>
      </p:sp>
    </p:spTree>
    <p:extLst>
      <p:ext uri="{BB962C8B-B14F-4D97-AF65-F5344CB8AC3E}">
        <p14:creationId xmlns:p14="http://schemas.microsoft.com/office/powerpoint/2010/main" val="1524241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。对于点矢量对象，本章主要介绍其分别在时空串接编码，时空一体编码下的时空范围查询算法。</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17</a:t>
            </a:fld>
            <a:endParaRPr lang="zh-CN" altLang="en-US"/>
          </a:p>
        </p:txBody>
      </p:sp>
    </p:spTree>
    <p:extLst>
      <p:ext uri="{BB962C8B-B14F-4D97-AF65-F5344CB8AC3E}">
        <p14:creationId xmlns:p14="http://schemas.microsoft.com/office/powerpoint/2010/main" val="3817801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协处理器精过滤算法</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 </a:t>
            </a:r>
            <a:r>
              <a:rPr lang="en-US" altLang="zh-CN" sz="12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HBase</a:t>
            </a:r>
            <a:r>
              <a:rPr lang="zh-CN" altLang="zh-CN" sz="12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的协处理器机制可以允许用户自定义功能加载到数据库服务器端，从而将复杂的计算操作在服务器端并行完成，减少原始数据返回客户端后的串行处理时间</a:t>
            </a:r>
            <a:r>
              <a:rPr lang="zh-CN" altLang="en-US" sz="12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a:p>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E731148-9DDC-4C3B-835E-5B831AA7A591}" type="slidenum">
              <a:rPr lang="zh-CN" altLang="en-US" smtClean="0"/>
              <a:t>18</a:t>
            </a:fld>
            <a:endParaRPr lang="zh-CN" altLang="en-US"/>
          </a:p>
        </p:txBody>
      </p:sp>
    </p:spTree>
    <p:extLst>
      <p:ext uri="{BB962C8B-B14F-4D97-AF65-F5344CB8AC3E}">
        <p14:creationId xmlns:p14="http://schemas.microsoft.com/office/powerpoint/2010/main" val="3190665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设定初始网格，找到中心坐标对应的网格，以及其八邻域的网格。</a:t>
            </a:r>
            <a:endParaRPr lang="zh-CN" altLang="zh-CN" sz="105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利用协处理器，快速得到中心网格及其周围八邻域的数据总计数</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05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与用户参数</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比较，此处设置</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比例因子</a:t>
            </a:r>
            <a:r>
              <a:rPr lang="zh-CN"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，用于</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比较，若</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小于</a:t>
            </a:r>
            <a:r>
              <a:rPr lang="zh-CN"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乘以</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，则可认为中心坐标所处的区域属于数据稀疏区域</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并重新执行步骤</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）；否则则认为数据可以直接使用当前的网格大小进行搜索查询。</a:t>
            </a:r>
            <a:endParaRPr lang="zh-CN" altLang="zh-CN" sz="105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E731148-9DDC-4C3B-835E-5B831AA7A591}" type="slidenum">
              <a:rPr lang="zh-CN" altLang="en-US" smtClean="0"/>
              <a:t>19</a:t>
            </a:fld>
            <a:endParaRPr lang="zh-CN" altLang="en-US"/>
          </a:p>
        </p:txBody>
      </p:sp>
    </p:spTree>
    <p:extLst>
      <p:ext uri="{BB962C8B-B14F-4D97-AF65-F5344CB8AC3E}">
        <p14:creationId xmlns:p14="http://schemas.microsoft.com/office/powerpoint/2010/main" val="851199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设定初始网格，找到中心坐标对应的网格，以及其八邻域的网格。</a:t>
            </a:r>
            <a:endParaRPr lang="zh-CN" altLang="zh-CN" sz="105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利用协处理器，快速得到中心网格及其周围八邻域的数据总计数</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05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与用户参数</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比较，此处设置</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比例因子</a:t>
            </a:r>
            <a:r>
              <a:rPr lang="zh-CN"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，用于</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比较，若</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小于</a:t>
            </a:r>
            <a:r>
              <a:rPr lang="zh-CN"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乘以</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，则可认为中心坐标所处的区域属于数据稀疏区域</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并重新执行步骤</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）；否则则认为数据可以直接使用当前的网格大小进行搜索查询。</a:t>
            </a:r>
            <a:endParaRPr lang="zh-CN" altLang="zh-CN" sz="105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E731148-9DDC-4C3B-835E-5B831AA7A591}" type="slidenum">
              <a:rPr lang="zh-CN" altLang="en-US" smtClean="0"/>
              <a:t>20</a:t>
            </a:fld>
            <a:endParaRPr lang="zh-CN" altLang="en-US"/>
          </a:p>
        </p:txBody>
      </p:sp>
    </p:spTree>
    <p:extLst>
      <p:ext uri="{BB962C8B-B14F-4D97-AF65-F5344CB8AC3E}">
        <p14:creationId xmlns:p14="http://schemas.microsoft.com/office/powerpoint/2010/main" val="3420741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时空范围查询可以定义为在给定的时间范</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空间区域（通常矩形，也可为不规则多边形）的条件下，从数据库中取出所有满足查询条件的时空矢量对象。对于点矢量对象，本章主要介绍其分别在时空串接编码，时空一体编码下的时空范围查询算法。而对于线面对象，由于每个线面都需要引入空间上层级的概念，此处只使用时空串接编码。</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22</a:t>
            </a:fld>
            <a:endParaRPr lang="zh-CN" altLang="en-US"/>
          </a:p>
        </p:txBody>
      </p:sp>
    </p:spTree>
    <p:extLst>
      <p:ext uri="{BB962C8B-B14F-4D97-AF65-F5344CB8AC3E}">
        <p14:creationId xmlns:p14="http://schemas.microsoft.com/office/powerpoint/2010/main" val="3399994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在不同查询情景下，各种索引方案有着不同的表现。图</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5-3</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展示了其效率对比图，其中，横轴每一个查询情景均进行了多次实验并取平均时间，且各实验均在有协处理器的条件下进行。</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ST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时间编码的粒度为小时，而</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编码中粗粒度时间为</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，细粒度时间为小时。如图所示，当空间查询范围较小时，而无论时空查询范围是较小还是较大时，</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ST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编码与</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编码查询效率相近。而其他情况下以小时为最小粒度的情况下</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编码效果更好。当时间粒度小于小时的时候，则</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TST</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编码性能应该优于</a:t>
            </a: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TS</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编码。</a:t>
            </a:r>
            <a:endParaRPr lang="zh-CN" altLang="zh-CN" sz="1050" kern="100" dirty="0">
              <a:latin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23</a:t>
            </a:fld>
            <a:endParaRPr lang="zh-CN" altLang="en-US"/>
          </a:p>
        </p:txBody>
      </p:sp>
    </p:spTree>
    <p:extLst>
      <p:ext uri="{BB962C8B-B14F-4D97-AF65-F5344CB8AC3E}">
        <p14:creationId xmlns:p14="http://schemas.microsoft.com/office/powerpoint/2010/main" val="118670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304800" algn="just">
              <a:lnSpc>
                <a:spcPct val="150000"/>
              </a:lnSpc>
              <a:spcAft>
                <a:spcPts val="0"/>
              </a:spcAft>
            </a:pPr>
            <a:r>
              <a:rPr lang="en-US" altLang="zh-CN" sz="105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自顶向下划分算法的效率随递归次数的增长大致呈</a:t>
            </a:r>
            <a:r>
              <a:rPr lang="en-US"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a:t>
            </a:r>
            <a:r>
              <a:rPr lang="zh-CN"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字形走向，当最大递归次数为</a:t>
            </a:r>
            <a:r>
              <a:rPr lang="en-US"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6-8</a:t>
            </a:r>
            <a:r>
              <a:rPr lang="zh-CN"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次时，查询效率最大。当最大递归次数小于</a:t>
            </a:r>
            <a:r>
              <a:rPr lang="en-US"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时，由于粗查询得到的假真值过多，导致精过滤压力过大，降低查询效率；当最大递归次数大于</a:t>
            </a:r>
            <a:r>
              <a:rPr lang="en-US"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时，由于划分过细，得到的</a:t>
            </a:r>
            <a:r>
              <a:rPr lang="en-US"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Range</a:t>
            </a:r>
            <a:r>
              <a:rPr lang="zh-CN" altLang="zh-CN" sz="105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数量过多，导致查询次数增大，使得查询效率降低</a:t>
            </a:r>
            <a:endParaRPr lang="zh-CN" altLang="zh-CN" sz="1050" kern="100" dirty="0">
              <a:latin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E731148-9DDC-4C3B-835E-5B831AA7A591}" type="slidenum">
              <a:rPr lang="zh-CN" altLang="en-US" smtClean="0"/>
              <a:t>24</a:t>
            </a:fld>
            <a:endParaRPr lang="zh-CN" altLang="en-US"/>
          </a:p>
        </p:txBody>
      </p:sp>
    </p:spTree>
    <p:extLst>
      <p:ext uri="{BB962C8B-B14F-4D97-AF65-F5344CB8AC3E}">
        <p14:creationId xmlns:p14="http://schemas.microsoft.com/office/powerpoint/2010/main" val="1008479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之所以出现这种结果是因为当</a:t>
            </a:r>
            <a:r>
              <a:rPr lang="en-US" altLang="zh-CN" i="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查询的中心坐标处于数据密集的区域，若初始网格的边长较小，在</a:t>
            </a:r>
            <a:r>
              <a:rPr lang="en-US" altLang="zh-CN" i="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查询不断往外扩搜索的同时，可以比较高效率的访问到其空间相近的矢量对象；而若中心坐标处于数据稀疏区域，若同样设定较小的初始网格，在</a:t>
            </a:r>
            <a:r>
              <a:rPr lang="en-US" altLang="zh-CN" i="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查询扩散搜索的同时，将会有大量网格返回的是空值，严重影响到</a:t>
            </a:r>
            <a:r>
              <a:rPr lang="en-US" altLang="zh-CN" i="1"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查询算法的效率。</a:t>
            </a:r>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25</a:t>
            </a:fld>
            <a:endParaRPr lang="zh-CN" altLang="en-US"/>
          </a:p>
        </p:txBody>
      </p:sp>
    </p:spTree>
    <p:extLst>
      <p:ext uri="{BB962C8B-B14F-4D97-AF65-F5344CB8AC3E}">
        <p14:creationId xmlns:p14="http://schemas.microsoft.com/office/powerpoint/2010/main" val="877803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分别为数据密集区域的编号</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点与数据稀疏区域的编号</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点，原始算法与自适应网格的优化算法的</a:t>
            </a:r>
            <a:r>
              <a:rPr lang="en-US" altLang="zh-CN" sz="1200" i="1" kern="1200" dirty="0">
                <a:solidFill>
                  <a:schemeClr val="tx1"/>
                </a:solidFill>
                <a:effectLst/>
                <a:latin typeface="+mn-lt"/>
                <a:ea typeface="+mn-ea"/>
                <a:cs typeface="+mn-cs"/>
              </a:rPr>
              <a:t>k</a:t>
            </a:r>
            <a:r>
              <a:rPr lang="en-US" altLang="zh-CN" sz="1200" kern="1200" dirty="0">
                <a:solidFill>
                  <a:schemeClr val="tx1"/>
                </a:solidFill>
                <a:effectLst/>
                <a:latin typeface="+mn-lt"/>
                <a:ea typeface="+mn-ea"/>
                <a:cs typeface="+mn-cs"/>
              </a:rPr>
              <a:t>-NN</a:t>
            </a:r>
            <a:r>
              <a:rPr lang="zh-CN" altLang="zh-CN" sz="1200" kern="1200" dirty="0">
                <a:solidFill>
                  <a:schemeClr val="tx1"/>
                </a:solidFill>
                <a:effectLst/>
                <a:latin typeface="+mn-lt"/>
                <a:ea typeface="+mn-ea"/>
                <a:cs typeface="+mn-cs"/>
              </a:rPr>
              <a:t>查询算法实验结果对比。通过实验可以看出，自适应网格优化算法有较强的适用性，其能够根据数据分布，自适应选择合适的网格边长再进行搜索，优化过后的</a:t>
            </a:r>
            <a:r>
              <a:rPr lang="en-US" altLang="zh-CN" sz="1200" i="1" kern="1200" dirty="0">
                <a:solidFill>
                  <a:schemeClr val="tx1"/>
                </a:solidFill>
                <a:effectLst/>
                <a:latin typeface="+mn-lt"/>
                <a:ea typeface="+mn-ea"/>
                <a:cs typeface="+mn-cs"/>
              </a:rPr>
              <a:t>k</a:t>
            </a:r>
            <a:r>
              <a:rPr lang="en-US" altLang="zh-CN" sz="1200" kern="1200" dirty="0">
                <a:solidFill>
                  <a:schemeClr val="tx1"/>
                </a:solidFill>
                <a:effectLst/>
                <a:latin typeface="+mn-lt"/>
                <a:ea typeface="+mn-ea"/>
                <a:cs typeface="+mn-cs"/>
              </a:rPr>
              <a:t>-NN</a:t>
            </a:r>
            <a:r>
              <a:rPr lang="zh-CN" altLang="zh-CN" sz="1200" kern="1200" dirty="0">
                <a:solidFill>
                  <a:schemeClr val="tx1"/>
                </a:solidFill>
                <a:effectLst/>
                <a:latin typeface="+mn-lt"/>
                <a:ea typeface="+mn-ea"/>
                <a:cs typeface="+mn-cs"/>
              </a:rPr>
              <a:t>算法查询效率有大幅度的提升，且在数据稀疏区域有更显著的效果。</a:t>
            </a:r>
          </a:p>
          <a:p>
            <a:endParaRPr lang="zh-CN" altLang="en-US"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26</a:t>
            </a:fld>
            <a:endParaRPr lang="zh-CN" altLang="en-US"/>
          </a:p>
        </p:txBody>
      </p:sp>
    </p:spTree>
    <p:extLst>
      <p:ext uri="{BB962C8B-B14F-4D97-AF65-F5344CB8AC3E}">
        <p14:creationId xmlns:p14="http://schemas.microsoft.com/office/powerpoint/2010/main" val="2831357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加限定词，准确表达</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6E731148-9DDC-4C3B-835E-5B831AA7A591}" type="slidenum">
              <a:rPr lang="zh-CN" altLang="en-US" smtClean="0"/>
              <a:t>28</a:t>
            </a:fld>
            <a:endParaRPr lang="zh-CN" altLang="en-US"/>
          </a:p>
        </p:txBody>
      </p:sp>
    </p:spTree>
    <p:extLst>
      <p:ext uri="{BB962C8B-B14F-4D97-AF65-F5344CB8AC3E}">
        <p14:creationId xmlns:p14="http://schemas.microsoft.com/office/powerpoint/2010/main" val="11464130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加面对象存储查询</a:t>
            </a:r>
          </a:p>
        </p:txBody>
      </p:sp>
      <p:sp>
        <p:nvSpPr>
          <p:cNvPr id="4" name="灯片编号占位符 3"/>
          <p:cNvSpPr>
            <a:spLocks noGrp="1"/>
          </p:cNvSpPr>
          <p:nvPr>
            <p:ph type="sldNum" sz="quarter" idx="5"/>
          </p:nvPr>
        </p:nvSpPr>
        <p:spPr/>
        <p:txBody>
          <a:bodyPr/>
          <a:lstStyle/>
          <a:p>
            <a:fld id="{6E731148-9DDC-4C3B-835E-5B831AA7A591}" type="slidenum">
              <a:rPr lang="zh-CN" altLang="en-US" smtClean="0"/>
              <a:t>29</a:t>
            </a:fld>
            <a:endParaRPr lang="zh-CN" altLang="en-US"/>
          </a:p>
        </p:txBody>
      </p:sp>
    </p:spTree>
    <p:extLst>
      <p:ext uri="{BB962C8B-B14F-4D97-AF65-F5344CB8AC3E}">
        <p14:creationId xmlns:p14="http://schemas.microsoft.com/office/powerpoint/2010/main" val="2998417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E2188E-8EDB-4501-8F10-CFA5136623E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81C4281-9D03-4D75-BE03-A68922E948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448088-1D7A-442F-96A3-C20266760EA0}"/>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5" name="页脚占位符 4">
            <a:extLst>
              <a:ext uri="{FF2B5EF4-FFF2-40B4-BE49-F238E27FC236}">
                <a16:creationId xmlns:a16="http://schemas.microsoft.com/office/drawing/2014/main" id="{F0840E54-42B2-42EC-A9E6-F2C70AFFB3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4F1797-E23E-49F4-A141-5BC0E275A04F}"/>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3816846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8DCB20-C8E5-44DC-BB81-8A9C03EF71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9494C90-88B6-4ABA-97B3-4DCBA3A2D2C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CA19A40-7D90-4C37-A84F-02EDAAC45D6A}"/>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5" name="页脚占位符 4">
            <a:extLst>
              <a:ext uri="{FF2B5EF4-FFF2-40B4-BE49-F238E27FC236}">
                <a16:creationId xmlns:a16="http://schemas.microsoft.com/office/drawing/2014/main" id="{81653527-9BF7-4B23-940F-29CFFC4B49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E68048-4C82-448A-9768-770D16D5B2B1}"/>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309995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EAA6B5-E5A8-4E0A-A39C-39866097403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51F5D3A-3AB2-40D5-A994-1124FA28D3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1317106-575B-4C83-BCD5-7649B9F3EDB8}"/>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5" name="页脚占位符 4">
            <a:extLst>
              <a:ext uri="{FF2B5EF4-FFF2-40B4-BE49-F238E27FC236}">
                <a16:creationId xmlns:a16="http://schemas.microsoft.com/office/drawing/2014/main" id="{6CF75B04-2453-4335-B3A2-D5E09D5A9B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F2C4A2-1FD7-44C3-B712-8E8CCBDD4CE1}"/>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3603631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BBFF56-85FD-405F-A1AB-D95FF9B29A5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C5EF510-845D-4C68-8C31-B341887CE99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F77C701-569B-44FB-A30C-F08D40C8C49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BC58C80-7277-4BC6-A6A3-9C9636258FDC}"/>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6" name="页脚占位符 5">
            <a:extLst>
              <a:ext uri="{FF2B5EF4-FFF2-40B4-BE49-F238E27FC236}">
                <a16:creationId xmlns:a16="http://schemas.microsoft.com/office/drawing/2014/main" id="{93124519-E802-464A-988B-33B3238B68B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57DE4E4-6587-4B53-A1C2-78AB7EF83E45}"/>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2864759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7D6DD-1B96-48B4-9C58-5913F037E42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6C34654-5BF8-4D5C-A5B9-C9A2DC2DBE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A5E6879-998C-4C6D-9627-AF7BA680CEF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6490CD3-A555-44C7-B765-B1962704AA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9EBEEE5-A1CB-4A6F-92DD-7126378E71A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ED33D66-F86E-42F5-BCD7-0488D20DA2D9}"/>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8" name="页脚占位符 7">
            <a:extLst>
              <a:ext uri="{FF2B5EF4-FFF2-40B4-BE49-F238E27FC236}">
                <a16:creationId xmlns:a16="http://schemas.microsoft.com/office/drawing/2014/main" id="{C395A1AD-24E4-41CB-9BBB-9C539316018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912A56F-27DD-4263-89BA-7FBB80829567}"/>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4160536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2A7A7-3F79-484F-8B65-405AEB38402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28DD514-F6B4-452B-A019-0B58E0B9A6DD}"/>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4" name="页脚占位符 3">
            <a:extLst>
              <a:ext uri="{FF2B5EF4-FFF2-40B4-BE49-F238E27FC236}">
                <a16:creationId xmlns:a16="http://schemas.microsoft.com/office/drawing/2014/main" id="{036A4365-3BAC-4890-81B8-6B444AE10F1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80A399-4BE2-4B8F-A9D8-B633F3F2E376}"/>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367317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B212E-C781-42E2-8EE4-42C1B19EDA3E}"/>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3" name="页脚占位符 2">
            <a:extLst>
              <a:ext uri="{FF2B5EF4-FFF2-40B4-BE49-F238E27FC236}">
                <a16:creationId xmlns:a16="http://schemas.microsoft.com/office/drawing/2014/main" id="{D5CB7F3F-0A10-4234-AA79-6CC3F2D34F0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3CE7DDD-9B7B-4964-B438-F72DF054D613}"/>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3918676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56F5B-FADF-46AC-A913-7878C90F34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B5EB9A0-18BF-4184-B4E1-BDCFB8830B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75233B2-3B97-45DB-AF20-17E451B625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7BB942E-664A-430A-A6A1-7BE38A565830}"/>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6" name="页脚占位符 5">
            <a:extLst>
              <a:ext uri="{FF2B5EF4-FFF2-40B4-BE49-F238E27FC236}">
                <a16:creationId xmlns:a16="http://schemas.microsoft.com/office/drawing/2014/main" id="{8AA7A545-B3E5-45FF-9288-D633EDF978B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655467-1D79-4B91-8685-1F95629FC895}"/>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2760662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CA9DFF-29D4-4CF6-A285-5A4B88BF33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4BC04C9-20E3-4BD7-A671-FBEF76E34D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8861CEA-5932-4F14-B58E-A76F22AF6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1EF9393-7FD2-49D1-BC96-1A7A8271B709}"/>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6" name="页脚占位符 5">
            <a:extLst>
              <a:ext uri="{FF2B5EF4-FFF2-40B4-BE49-F238E27FC236}">
                <a16:creationId xmlns:a16="http://schemas.microsoft.com/office/drawing/2014/main" id="{0AFB1020-4AB1-4594-9BFF-2DD22FD9BCF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424BF9-F621-4FF8-A7CE-545481B9455D}"/>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2462354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5A5729-72A6-4123-9EFE-73A71E0A6D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04EE0E4-C6D5-422F-B104-F708763C859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8C8638-D709-45A7-8AB7-39B3D64C97E7}"/>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5" name="页脚占位符 4">
            <a:extLst>
              <a:ext uri="{FF2B5EF4-FFF2-40B4-BE49-F238E27FC236}">
                <a16:creationId xmlns:a16="http://schemas.microsoft.com/office/drawing/2014/main" id="{3CCF1361-5095-436B-B57A-6D11457A77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A8BB53-6567-4A49-AA23-EA0387B58925}"/>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2399848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A2D46F-D409-452F-B8A5-68D9DB006D0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4128D7-123A-4B17-94A1-8CFC28F19EE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6B248FE-A705-4BD7-935A-F74EAA953E27}"/>
              </a:ext>
            </a:extLst>
          </p:cNvPr>
          <p:cNvSpPr>
            <a:spLocks noGrp="1"/>
          </p:cNvSpPr>
          <p:nvPr>
            <p:ph type="dt" sz="half" idx="10"/>
          </p:nvPr>
        </p:nvSpPr>
        <p:spPr/>
        <p:txBody>
          <a:bodyPr/>
          <a:lstStyle/>
          <a:p>
            <a:fld id="{E8273A03-98A1-41E8-85A0-849B6CC7ED06}" type="datetimeFigureOut">
              <a:rPr lang="zh-CN" altLang="en-US" smtClean="0"/>
              <a:t>2019/5/21</a:t>
            </a:fld>
            <a:endParaRPr lang="zh-CN" altLang="en-US"/>
          </a:p>
        </p:txBody>
      </p:sp>
      <p:sp>
        <p:nvSpPr>
          <p:cNvPr id="5" name="页脚占位符 4">
            <a:extLst>
              <a:ext uri="{FF2B5EF4-FFF2-40B4-BE49-F238E27FC236}">
                <a16:creationId xmlns:a16="http://schemas.microsoft.com/office/drawing/2014/main" id="{CECE1CF9-ACAE-456D-A93C-1655645911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4785EDF-BD02-4D93-8655-A60D209D5330}"/>
              </a:ext>
            </a:extLst>
          </p:cNvPr>
          <p:cNvSpPr>
            <a:spLocks noGrp="1"/>
          </p:cNvSpPr>
          <p:nvPr>
            <p:ph type="sldNum" sz="quarter" idx="12"/>
          </p:nvPr>
        </p:nvSpPr>
        <p:spPr/>
        <p:txBody>
          <a:body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2150290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grpSp>
        <p:nvGrpSpPr>
          <p:cNvPr id="4" name="组合 13">
            <a:extLst>
              <a:ext uri="{FF2B5EF4-FFF2-40B4-BE49-F238E27FC236}">
                <a16:creationId xmlns:a16="http://schemas.microsoft.com/office/drawing/2014/main" id="{6B280283-118A-4574-AA1E-A40C941818CC}"/>
              </a:ext>
            </a:extLst>
          </p:cNvPr>
          <p:cNvGrpSpPr>
            <a:grpSpLocks/>
          </p:cNvGrpSpPr>
          <p:nvPr userDrawn="1"/>
        </p:nvGrpSpPr>
        <p:grpSpPr bwMode="auto">
          <a:xfrm>
            <a:off x="4763" y="6542088"/>
            <a:ext cx="12192000" cy="320675"/>
            <a:chOff x="4763" y="6500813"/>
            <a:chExt cx="12192000" cy="357187"/>
          </a:xfrm>
        </p:grpSpPr>
        <p:sp>
          <p:nvSpPr>
            <p:cNvPr id="5" name="任意多边形 11">
              <a:extLst>
                <a:ext uri="{FF2B5EF4-FFF2-40B4-BE49-F238E27FC236}">
                  <a16:creationId xmlns:a16="http://schemas.microsoft.com/office/drawing/2014/main" id="{57583FE3-7C9B-4235-BAD3-9BA12A2F84E0}"/>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6" name="平行四边形 13">
              <a:extLst>
                <a:ext uri="{FF2B5EF4-FFF2-40B4-BE49-F238E27FC236}">
                  <a16:creationId xmlns:a16="http://schemas.microsoft.com/office/drawing/2014/main" id="{8A2BCC4B-2995-47B8-ABAC-C815B57FE3A9}"/>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352726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0BF8BF1-41B1-44E1-9ADE-160B34840B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C335174-B644-44F1-8147-AF8F0FDDA1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91D4CD-2BEE-48CF-BA22-95D21D7AE4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73A03-98A1-41E8-85A0-849B6CC7ED06}" type="datetimeFigureOut">
              <a:rPr lang="zh-CN" altLang="en-US" smtClean="0"/>
              <a:t>2019/5/21</a:t>
            </a:fld>
            <a:endParaRPr lang="zh-CN" altLang="en-US"/>
          </a:p>
        </p:txBody>
      </p:sp>
      <p:sp>
        <p:nvSpPr>
          <p:cNvPr id="5" name="页脚占位符 4">
            <a:extLst>
              <a:ext uri="{FF2B5EF4-FFF2-40B4-BE49-F238E27FC236}">
                <a16:creationId xmlns:a16="http://schemas.microsoft.com/office/drawing/2014/main" id="{0CD034C8-8F1D-4FDD-92B1-CEC6876D5A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A542728-F87A-4B43-842C-0B1F27663F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95473-3F11-4242-8366-95B42ED63FA0}" type="slidenum">
              <a:rPr lang="zh-CN" altLang="en-US" smtClean="0"/>
              <a:t>‹#›</a:t>
            </a:fld>
            <a:endParaRPr lang="zh-CN" altLang="en-US"/>
          </a:p>
        </p:txBody>
      </p:sp>
    </p:spTree>
    <p:extLst>
      <p:ext uri="{BB962C8B-B14F-4D97-AF65-F5344CB8AC3E}">
        <p14:creationId xmlns:p14="http://schemas.microsoft.com/office/powerpoint/2010/main" val="3058263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gif"/><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package" Target="../embeddings/Microsoft_Visio_Drawing.vsdx"/></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17.emf"/><Relationship Id="rId4" Type="http://schemas.openxmlformats.org/officeDocument/2006/relationships/package" Target="../embeddings/Microsoft_Visio_Drawing1.vsdx"/></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0.tiff"/></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3.tif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 name="矩形 129">
            <a:extLst>
              <a:ext uri="{FF2B5EF4-FFF2-40B4-BE49-F238E27FC236}">
                <a16:creationId xmlns:a16="http://schemas.microsoft.com/office/drawing/2014/main" id="{D2366CBD-C934-4E9B-A62C-40CF3BFD04CD}"/>
              </a:ext>
            </a:extLst>
          </p:cNvPr>
          <p:cNvSpPr/>
          <p:nvPr/>
        </p:nvSpPr>
        <p:spPr bwMode="auto">
          <a:xfrm>
            <a:off x="0" y="-7901"/>
            <a:ext cx="12192000" cy="806552"/>
          </a:xfrm>
          <a:prstGeom prst="rect">
            <a:avLst/>
          </a:prstGeom>
          <a:solidFill>
            <a:srgbClr val="1B2153"/>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1219200" rtl="0" eaLnBrk="1" fontAlgn="base" latinLnBrk="0" hangingPunct="1">
              <a:lnSpc>
                <a:spcPct val="100000"/>
              </a:lnSpc>
              <a:spcBef>
                <a:spcPct val="0"/>
              </a:spcBef>
              <a:spcAft>
                <a:spcPct val="0"/>
              </a:spcAft>
              <a:buClrTx/>
              <a:buSzTx/>
              <a:buFont typeface="Arial" pitchFamily="34" charset="0"/>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31" name="箭头: V 形 130">
            <a:extLst>
              <a:ext uri="{FF2B5EF4-FFF2-40B4-BE49-F238E27FC236}">
                <a16:creationId xmlns:a16="http://schemas.microsoft.com/office/drawing/2014/main" id="{AFB54414-F645-4A91-9607-85FE6EEEF233}"/>
              </a:ext>
            </a:extLst>
          </p:cNvPr>
          <p:cNvSpPr/>
          <p:nvPr/>
        </p:nvSpPr>
        <p:spPr bwMode="auto">
          <a:xfrm rot="5400000">
            <a:off x="5528852" y="-4740942"/>
            <a:ext cx="1134298" cy="12192001"/>
          </a:xfrm>
          <a:prstGeom prst="chevron">
            <a:avLst>
              <a:gd name="adj" fmla="val 57542"/>
            </a:avLst>
          </a:prstGeom>
          <a:solidFill>
            <a:srgbClr val="92D05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1219200" rtl="0" eaLnBrk="1" fontAlgn="base" latinLnBrk="0" hangingPunct="1">
              <a:lnSpc>
                <a:spcPct val="100000"/>
              </a:lnSpc>
              <a:spcBef>
                <a:spcPct val="0"/>
              </a:spcBef>
              <a:spcAft>
                <a:spcPct val="0"/>
              </a:spcAft>
              <a:buClrTx/>
              <a:buSzTx/>
              <a:buFont typeface="Arial" pitchFamily="34" charset="0"/>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sp>
        <p:nvSpPr>
          <p:cNvPr id="132" name="等腰三角形 131">
            <a:extLst>
              <a:ext uri="{FF2B5EF4-FFF2-40B4-BE49-F238E27FC236}">
                <a16:creationId xmlns:a16="http://schemas.microsoft.com/office/drawing/2014/main" id="{E0E2290C-8DB6-412D-8C94-1842262AFBA8}"/>
              </a:ext>
            </a:extLst>
          </p:cNvPr>
          <p:cNvSpPr/>
          <p:nvPr/>
        </p:nvSpPr>
        <p:spPr bwMode="auto">
          <a:xfrm rot="10800000">
            <a:off x="0" y="795130"/>
            <a:ext cx="12191999" cy="645665"/>
          </a:xfrm>
          <a:prstGeom prst="triangle">
            <a:avLst/>
          </a:prstGeom>
          <a:solidFill>
            <a:srgbClr val="1B2153"/>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1219200" rtl="0" eaLnBrk="1" fontAlgn="base" latinLnBrk="0" hangingPunct="1">
              <a:lnSpc>
                <a:spcPct val="100000"/>
              </a:lnSpc>
              <a:spcBef>
                <a:spcPct val="0"/>
              </a:spcBef>
              <a:spcAft>
                <a:spcPct val="0"/>
              </a:spcAft>
              <a:buClrTx/>
              <a:buSzTx/>
              <a:buFont typeface="Arial" pitchFamily="34" charset="0"/>
              <a:buNone/>
              <a:tabLst/>
            </a:pPr>
            <a:endParaRPr kumimoji="0" lang="zh-CN" altLang="en-US" sz="2400" b="0" i="0" u="none" strike="noStrike" cap="none" normalizeH="0" baseline="0">
              <a:ln>
                <a:noFill/>
              </a:ln>
              <a:solidFill>
                <a:schemeClr val="tx1"/>
              </a:solidFill>
              <a:effectLst/>
              <a:latin typeface="Arial" pitchFamily="34" charset="0"/>
              <a:ea typeface="宋体" pitchFamily="2" charset="-122"/>
            </a:endParaRPr>
          </a:p>
        </p:txBody>
      </p:sp>
      <p:grpSp>
        <p:nvGrpSpPr>
          <p:cNvPr id="19" name="Group 3">
            <a:extLst>
              <a:ext uri="{FF2B5EF4-FFF2-40B4-BE49-F238E27FC236}">
                <a16:creationId xmlns:a16="http://schemas.microsoft.com/office/drawing/2014/main" id="{E6B5C647-52E6-4197-AB11-46DC9CB4B2CB}"/>
              </a:ext>
            </a:extLst>
          </p:cNvPr>
          <p:cNvGrpSpPr>
            <a:grpSpLocks/>
          </p:cNvGrpSpPr>
          <p:nvPr/>
        </p:nvGrpSpPr>
        <p:grpSpPr bwMode="auto">
          <a:xfrm>
            <a:off x="987669" y="2101137"/>
            <a:ext cx="10488612" cy="4195763"/>
            <a:chOff x="0" y="0"/>
            <a:chExt cx="4955" cy="1982"/>
          </a:xfrm>
          <a:solidFill>
            <a:schemeClr val="bg1">
              <a:lumMod val="85000"/>
              <a:alpha val="50000"/>
            </a:schemeClr>
          </a:solidFill>
        </p:grpSpPr>
        <p:sp>
          <p:nvSpPr>
            <p:cNvPr id="20" name="Freeform 4">
              <a:extLst>
                <a:ext uri="{FF2B5EF4-FFF2-40B4-BE49-F238E27FC236}">
                  <a16:creationId xmlns:a16="http://schemas.microsoft.com/office/drawing/2014/main" id="{FBDD6B49-6EF1-4794-BB82-A05B5ECD07CC}"/>
                </a:ext>
              </a:extLst>
            </p:cNvPr>
            <p:cNvSpPr>
              <a:spLocks noChangeArrowheads="1"/>
            </p:cNvSpPr>
            <p:nvPr/>
          </p:nvSpPr>
          <p:spPr bwMode="auto">
            <a:xfrm>
              <a:off x="91" y="88"/>
              <a:ext cx="1457" cy="1812"/>
            </a:xfrm>
            <a:custGeom>
              <a:avLst/>
              <a:gdLst>
                <a:gd name="T0" fmla="*/ 8 w 1692"/>
                <a:gd name="T1" fmla="*/ 1 h 2586"/>
                <a:gd name="T2" fmla="*/ 22 w 1692"/>
                <a:gd name="T3" fmla="*/ 1 h 2586"/>
                <a:gd name="T4" fmla="*/ 29 w 1692"/>
                <a:gd name="T5" fmla="*/ 1 h 2586"/>
                <a:gd name="T6" fmla="*/ 29 w 1692"/>
                <a:gd name="T7" fmla="*/ 1 h 2586"/>
                <a:gd name="T8" fmla="*/ 19 w 1692"/>
                <a:gd name="T9" fmla="*/ 1 h 2586"/>
                <a:gd name="T10" fmla="*/ 16 w 1692"/>
                <a:gd name="T11" fmla="*/ 1 h 2586"/>
                <a:gd name="T12" fmla="*/ 19 w 1692"/>
                <a:gd name="T13" fmla="*/ 1 h 2586"/>
                <a:gd name="T14" fmla="*/ 22 w 1692"/>
                <a:gd name="T15" fmla="*/ 1 h 2586"/>
                <a:gd name="T16" fmla="*/ 22 w 1692"/>
                <a:gd name="T17" fmla="*/ 1 h 2586"/>
                <a:gd name="T18" fmla="*/ 33 w 1692"/>
                <a:gd name="T19" fmla="*/ 2 h 2586"/>
                <a:gd name="T20" fmla="*/ 44 w 1692"/>
                <a:gd name="T21" fmla="*/ 2 h 2586"/>
                <a:gd name="T22" fmla="*/ 53 w 1692"/>
                <a:gd name="T23" fmla="*/ 2 h 2586"/>
                <a:gd name="T24" fmla="*/ 58 w 1692"/>
                <a:gd name="T25" fmla="*/ 3 h 2586"/>
                <a:gd name="T26" fmla="*/ 53 w 1692"/>
                <a:gd name="T27" fmla="*/ 3 h 2586"/>
                <a:gd name="T28" fmla="*/ 62 w 1692"/>
                <a:gd name="T29" fmla="*/ 3 h 2586"/>
                <a:gd name="T30" fmla="*/ 71 w 1692"/>
                <a:gd name="T31" fmla="*/ 4 h 2586"/>
                <a:gd name="T32" fmla="*/ 74 w 1692"/>
                <a:gd name="T33" fmla="*/ 4 h 2586"/>
                <a:gd name="T34" fmla="*/ 81 w 1692"/>
                <a:gd name="T35" fmla="*/ 4 h 2586"/>
                <a:gd name="T36" fmla="*/ 87 w 1692"/>
                <a:gd name="T37" fmla="*/ 4 h 2586"/>
                <a:gd name="T38" fmla="*/ 84 w 1692"/>
                <a:gd name="T39" fmla="*/ 4 h 2586"/>
                <a:gd name="T40" fmla="*/ 87 w 1692"/>
                <a:gd name="T41" fmla="*/ 4 h 2586"/>
                <a:gd name="T42" fmla="*/ 93 w 1692"/>
                <a:gd name="T43" fmla="*/ 4 h 2586"/>
                <a:gd name="T44" fmla="*/ 99 w 1692"/>
                <a:gd name="T45" fmla="*/ 4 h 2586"/>
                <a:gd name="T46" fmla="*/ 106 w 1692"/>
                <a:gd name="T47" fmla="*/ 3 h 2586"/>
                <a:gd name="T48" fmla="*/ 110 w 1692"/>
                <a:gd name="T49" fmla="*/ 3 h 2586"/>
                <a:gd name="T50" fmla="*/ 104 w 1692"/>
                <a:gd name="T51" fmla="*/ 3 h 2586"/>
                <a:gd name="T52" fmla="*/ 94 w 1692"/>
                <a:gd name="T53" fmla="*/ 3 h 2586"/>
                <a:gd name="T54" fmla="*/ 75 w 1692"/>
                <a:gd name="T55" fmla="*/ 2 h 2586"/>
                <a:gd name="T56" fmla="*/ 67 w 1692"/>
                <a:gd name="T57" fmla="*/ 2 h 2586"/>
                <a:gd name="T58" fmla="*/ 61 w 1692"/>
                <a:gd name="T59" fmla="*/ 2 h 2586"/>
                <a:gd name="T60" fmla="*/ 53 w 1692"/>
                <a:gd name="T61" fmla="*/ 2 h 2586"/>
                <a:gd name="T62" fmla="*/ 52 w 1692"/>
                <a:gd name="T63" fmla="*/ 2 h 2586"/>
                <a:gd name="T64" fmla="*/ 50 w 1692"/>
                <a:gd name="T65" fmla="*/ 2 h 2586"/>
                <a:gd name="T66" fmla="*/ 43 w 1692"/>
                <a:gd name="T67" fmla="*/ 2 h 2586"/>
                <a:gd name="T68" fmla="*/ 40 w 1692"/>
                <a:gd name="T69" fmla="*/ 1 h 2586"/>
                <a:gd name="T70" fmla="*/ 50 w 1692"/>
                <a:gd name="T71" fmla="*/ 1 h 2586"/>
                <a:gd name="T72" fmla="*/ 58 w 1692"/>
                <a:gd name="T73" fmla="*/ 1 h 2586"/>
                <a:gd name="T74" fmla="*/ 61 w 1692"/>
                <a:gd name="T75" fmla="*/ 1 h 2586"/>
                <a:gd name="T76" fmla="*/ 72 w 1692"/>
                <a:gd name="T77" fmla="*/ 1 h 2586"/>
                <a:gd name="T78" fmla="*/ 81 w 1692"/>
                <a:gd name="T79" fmla="*/ 1 h 2586"/>
                <a:gd name="T80" fmla="*/ 87 w 1692"/>
                <a:gd name="T81" fmla="*/ 1 h 2586"/>
                <a:gd name="T82" fmla="*/ 90 w 1692"/>
                <a:gd name="T83" fmla="*/ 1 h 2586"/>
                <a:gd name="T84" fmla="*/ 87 w 1692"/>
                <a:gd name="T85" fmla="*/ 1 h 2586"/>
                <a:gd name="T86" fmla="*/ 104 w 1692"/>
                <a:gd name="T87" fmla="*/ 1 h 2586"/>
                <a:gd name="T88" fmla="*/ 95 w 1692"/>
                <a:gd name="T89" fmla="*/ 1 h 2586"/>
                <a:gd name="T90" fmla="*/ 90 w 1692"/>
                <a:gd name="T91" fmla="*/ 1 h 2586"/>
                <a:gd name="T92" fmla="*/ 84 w 1692"/>
                <a:gd name="T93" fmla="*/ 1 h 2586"/>
                <a:gd name="T94" fmla="*/ 75 w 1692"/>
                <a:gd name="T95" fmla="*/ 1 h 2586"/>
                <a:gd name="T96" fmla="*/ 70 w 1692"/>
                <a:gd name="T97" fmla="*/ 1 h 2586"/>
                <a:gd name="T98" fmla="*/ 82 w 1692"/>
                <a:gd name="T99" fmla="*/ 1 h 2586"/>
                <a:gd name="T100" fmla="*/ 86 w 1692"/>
                <a:gd name="T101" fmla="*/ 1 h 2586"/>
                <a:gd name="T102" fmla="*/ 90 w 1692"/>
                <a:gd name="T103" fmla="*/ 1 h 2586"/>
                <a:gd name="T104" fmla="*/ 87 w 1692"/>
                <a:gd name="T105" fmla="*/ 1 h 2586"/>
                <a:gd name="T106" fmla="*/ 85 w 1692"/>
                <a:gd name="T107" fmla="*/ 1 h 2586"/>
                <a:gd name="T108" fmla="*/ 82 w 1692"/>
                <a:gd name="T109" fmla="*/ 1 h 2586"/>
                <a:gd name="T110" fmla="*/ 75 w 1692"/>
                <a:gd name="T111" fmla="*/ 1 h 2586"/>
                <a:gd name="T112" fmla="*/ 65 w 1692"/>
                <a:gd name="T113" fmla="*/ 1 h 2586"/>
                <a:gd name="T114" fmla="*/ 37 w 1692"/>
                <a:gd name="T115" fmla="*/ 0 h 2586"/>
                <a:gd name="T116" fmla="*/ 24 w 1692"/>
                <a:gd name="T117" fmla="*/ 1 h 2586"/>
                <a:gd name="T118" fmla="*/ 19 w 1692"/>
                <a:gd name="T119" fmla="*/ 1 h 2586"/>
                <a:gd name="T120" fmla="*/ 9 w 1692"/>
                <a:gd name="T121" fmla="*/ 1 h 2586"/>
                <a:gd name="T122" fmla="*/ 9 w 1692"/>
                <a:gd name="T123" fmla="*/ 1 h 2586"/>
                <a:gd name="T124" fmla="*/ 2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92"/>
                <a:gd name="T190" fmla="*/ 0 h 2586"/>
                <a:gd name="T191" fmla="*/ 1692 w 1692"/>
                <a:gd name="T192" fmla="*/ 2586 h 25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dirty="0"/>
            </a:p>
          </p:txBody>
        </p:sp>
        <p:sp>
          <p:nvSpPr>
            <p:cNvPr id="21" name="Freeform 5">
              <a:extLst>
                <a:ext uri="{FF2B5EF4-FFF2-40B4-BE49-F238E27FC236}">
                  <a16:creationId xmlns:a16="http://schemas.microsoft.com/office/drawing/2014/main" id="{8429D594-43A0-41DA-AD70-08E13A5219F7}"/>
                </a:ext>
              </a:extLst>
            </p:cNvPr>
            <p:cNvSpPr>
              <a:spLocks noChangeArrowheads="1"/>
            </p:cNvSpPr>
            <p:nvPr/>
          </p:nvSpPr>
          <p:spPr bwMode="auto">
            <a:xfrm>
              <a:off x="45" y="261"/>
              <a:ext cx="39" cy="26"/>
            </a:xfrm>
            <a:custGeom>
              <a:avLst/>
              <a:gdLst>
                <a:gd name="T0" fmla="*/ 3 w 46"/>
                <a:gd name="T1" fmla="*/ 1 h 38"/>
                <a:gd name="T2" fmla="*/ 0 w 46"/>
                <a:gd name="T3" fmla="*/ 1 h 38"/>
                <a:gd name="T4" fmla="*/ 3 w 46"/>
                <a:gd name="T5" fmla="*/ 1 h 38"/>
                <a:gd name="T6" fmla="*/ 3 w 46"/>
                <a:gd name="T7" fmla="*/ 1 h 38"/>
                <a:gd name="T8" fmla="*/ 3 w 46"/>
                <a:gd name="T9" fmla="*/ 0 h 38"/>
                <a:gd name="T10" fmla="*/ 3 w 46"/>
                <a:gd name="T11" fmla="*/ 1 h 38"/>
                <a:gd name="T12" fmla="*/ 0 60000 65536"/>
                <a:gd name="T13" fmla="*/ 0 60000 65536"/>
                <a:gd name="T14" fmla="*/ 0 60000 65536"/>
                <a:gd name="T15" fmla="*/ 0 60000 65536"/>
                <a:gd name="T16" fmla="*/ 0 60000 65536"/>
                <a:gd name="T17" fmla="*/ 0 60000 65536"/>
                <a:gd name="T18" fmla="*/ 0 w 46"/>
                <a:gd name="T19" fmla="*/ 0 h 38"/>
                <a:gd name="T20" fmla="*/ 46 w 46"/>
                <a:gd name="T21" fmla="*/ 38 h 38"/>
              </a:gdLst>
              <a:ahLst/>
              <a:cxnLst>
                <a:cxn ang="T12">
                  <a:pos x="T0" y="T1"/>
                </a:cxn>
                <a:cxn ang="T13">
                  <a:pos x="T2" y="T3"/>
                </a:cxn>
                <a:cxn ang="T14">
                  <a:pos x="T4" y="T5"/>
                </a:cxn>
                <a:cxn ang="T15">
                  <a:pos x="T6" y="T7"/>
                </a:cxn>
                <a:cxn ang="T16">
                  <a:pos x="T8" y="T9"/>
                </a:cxn>
                <a:cxn ang="T17">
                  <a:pos x="T10" y="T11"/>
                </a:cxn>
              </a:cxnLst>
              <a:rect l="T18" t="T19" r="T20" b="T21"/>
              <a:pathLst>
                <a:path w="46" h="38">
                  <a:moveTo>
                    <a:pt x="16" y="4"/>
                  </a:moveTo>
                  <a:lnTo>
                    <a:pt x="0" y="22"/>
                  </a:lnTo>
                  <a:lnTo>
                    <a:pt x="22" y="38"/>
                  </a:lnTo>
                  <a:lnTo>
                    <a:pt x="46" y="26"/>
                  </a:lnTo>
                  <a:lnTo>
                    <a:pt x="30" y="0"/>
                  </a:lnTo>
                  <a:lnTo>
                    <a:pt x="16" y="4"/>
                  </a:ln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2" name="Freeform 6">
              <a:extLst>
                <a:ext uri="{FF2B5EF4-FFF2-40B4-BE49-F238E27FC236}">
                  <a16:creationId xmlns:a16="http://schemas.microsoft.com/office/drawing/2014/main" id="{6499A057-9151-4390-B002-53AD0FFF1BE8}"/>
                </a:ext>
              </a:extLst>
            </p:cNvPr>
            <p:cNvSpPr>
              <a:spLocks noChangeArrowheads="1"/>
            </p:cNvSpPr>
            <p:nvPr/>
          </p:nvSpPr>
          <p:spPr bwMode="auto">
            <a:xfrm>
              <a:off x="398" y="376"/>
              <a:ext cx="45" cy="30"/>
            </a:xfrm>
            <a:custGeom>
              <a:avLst/>
              <a:gdLst>
                <a:gd name="T0" fmla="*/ 3 w 52"/>
                <a:gd name="T1" fmla="*/ 0 h 44"/>
                <a:gd name="T2" fmla="*/ 3 w 52"/>
                <a:gd name="T3" fmla="*/ 1 h 44"/>
                <a:gd name="T4" fmla="*/ 3 w 52"/>
                <a:gd name="T5" fmla="*/ 1 h 44"/>
                <a:gd name="T6" fmla="*/ 3 w 52"/>
                <a:gd name="T7" fmla="*/ 1 h 44"/>
                <a:gd name="T8" fmla="*/ 3 w 52"/>
                <a:gd name="T9" fmla="*/ 1 h 44"/>
                <a:gd name="T10" fmla="*/ 3 w 52"/>
                <a:gd name="T11" fmla="*/ 0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3" name="Freeform 7">
              <a:extLst>
                <a:ext uri="{FF2B5EF4-FFF2-40B4-BE49-F238E27FC236}">
                  <a16:creationId xmlns:a16="http://schemas.microsoft.com/office/drawing/2014/main" id="{98175ED2-4F8D-459F-AB9F-CAA8F53D0D6C}"/>
                </a:ext>
              </a:extLst>
            </p:cNvPr>
            <p:cNvSpPr>
              <a:spLocks noChangeArrowheads="1"/>
            </p:cNvSpPr>
            <p:nvPr/>
          </p:nvSpPr>
          <p:spPr bwMode="auto">
            <a:xfrm>
              <a:off x="1297" y="428"/>
              <a:ext cx="113" cy="69"/>
            </a:xfrm>
            <a:custGeom>
              <a:avLst/>
              <a:gdLst>
                <a:gd name="T0" fmla="*/ 7 w 131"/>
                <a:gd name="T1" fmla="*/ 0 h 98"/>
                <a:gd name="T2" fmla="*/ 6 w 131"/>
                <a:gd name="T3" fmla="*/ 1 h 98"/>
                <a:gd name="T4" fmla="*/ 3 w 131"/>
                <a:gd name="T5" fmla="*/ 1 h 98"/>
                <a:gd name="T6" fmla="*/ 3 w 131"/>
                <a:gd name="T7" fmla="*/ 1 h 98"/>
                <a:gd name="T8" fmla="*/ 3 w 131"/>
                <a:gd name="T9" fmla="*/ 1 h 98"/>
                <a:gd name="T10" fmla="*/ 4 w 131"/>
                <a:gd name="T11" fmla="*/ 1 h 98"/>
                <a:gd name="T12" fmla="*/ 6 w 131"/>
                <a:gd name="T13" fmla="*/ 1 h 98"/>
                <a:gd name="T14" fmla="*/ 6 w 131"/>
                <a:gd name="T15" fmla="*/ 1 h 98"/>
                <a:gd name="T16" fmla="*/ 6 w 131"/>
                <a:gd name="T17" fmla="*/ 1 h 98"/>
                <a:gd name="T18" fmla="*/ 7 w 131"/>
                <a:gd name="T19" fmla="*/ 1 h 98"/>
                <a:gd name="T20" fmla="*/ 9 w 131"/>
                <a:gd name="T21" fmla="*/ 1 h 98"/>
                <a:gd name="T22" fmla="*/ 9 w 131"/>
                <a:gd name="T23" fmla="*/ 1 h 98"/>
                <a:gd name="T24" fmla="*/ 7 w 131"/>
                <a:gd name="T25" fmla="*/ 1 h 98"/>
                <a:gd name="T26" fmla="*/ 8 w 131"/>
                <a:gd name="T27" fmla="*/ 1 h 98"/>
                <a:gd name="T28" fmla="*/ 8 w 131"/>
                <a:gd name="T29" fmla="*/ 1 h 98"/>
                <a:gd name="T30" fmla="*/ 7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1"/>
                <a:gd name="T49" fmla="*/ 0 h 98"/>
                <a:gd name="T50" fmla="*/ 131 w 131"/>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4" name="Freeform 8">
              <a:extLst>
                <a:ext uri="{FF2B5EF4-FFF2-40B4-BE49-F238E27FC236}">
                  <a16:creationId xmlns:a16="http://schemas.microsoft.com/office/drawing/2014/main" id="{C97CF91C-8D24-4A43-B83F-173B3B834977}"/>
                </a:ext>
              </a:extLst>
            </p:cNvPr>
            <p:cNvSpPr>
              <a:spLocks noChangeArrowheads="1"/>
            </p:cNvSpPr>
            <p:nvPr/>
          </p:nvSpPr>
          <p:spPr bwMode="auto">
            <a:xfrm>
              <a:off x="752" y="787"/>
              <a:ext cx="182" cy="79"/>
            </a:xfrm>
            <a:custGeom>
              <a:avLst/>
              <a:gdLst>
                <a:gd name="T0" fmla="*/ 3 w 212"/>
                <a:gd name="T1" fmla="*/ 1 h 112"/>
                <a:gd name="T2" fmla="*/ 3 w 212"/>
                <a:gd name="T3" fmla="*/ 1 h 112"/>
                <a:gd name="T4" fmla="*/ 3 w 212"/>
                <a:gd name="T5" fmla="*/ 1 h 112"/>
                <a:gd name="T6" fmla="*/ 3 w 212"/>
                <a:gd name="T7" fmla="*/ 1 h 112"/>
                <a:gd name="T8" fmla="*/ 3 w 212"/>
                <a:gd name="T9" fmla="*/ 1 h 112"/>
                <a:gd name="T10" fmla="*/ 6 w 212"/>
                <a:gd name="T11" fmla="*/ 1 h 112"/>
                <a:gd name="T12" fmla="*/ 7 w 212"/>
                <a:gd name="T13" fmla="*/ 1 h 112"/>
                <a:gd name="T14" fmla="*/ 8 w 212"/>
                <a:gd name="T15" fmla="*/ 1 h 112"/>
                <a:gd name="T16" fmla="*/ 9 w 212"/>
                <a:gd name="T17" fmla="*/ 1 h 112"/>
                <a:gd name="T18" fmla="*/ 9 w 212"/>
                <a:gd name="T19" fmla="*/ 1 h 112"/>
                <a:gd name="T20" fmla="*/ 11 w 212"/>
                <a:gd name="T21" fmla="*/ 1 h 112"/>
                <a:gd name="T22" fmla="*/ 11 w 212"/>
                <a:gd name="T23" fmla="*/ 1 h 112"/>
                <a:gd name="T24" fmla="*/ 13 w 212"/>
                <a:gd name="T25" fmla="*/ 1 h 112"/>
                <a:gd name="T26" fmla="*/ 9 w 212"/>
                <a:gd name="T27" fmla="*/ 1 h 112"/>
                <a:gd name="T28" fmla="*/ 7 w 212"/>
                <a:gd name="T29" fmla="*/ 1 h 112"/>
                <a:gd name="T30" fmla="*/ 3 w 212"/>
                <a:gd name="T31" fmla="*/ 1 h 112"/>
                <a:gd name="T32" fmla="*/ 3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2"/>
                <a:gd name="T52" fmla="*/ 0 h 112"/>
                <a:gd name="T53" fmla="*/ 212 w 212"/>
                <a:gd name="T54" fmla="*/ 112 h 1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5" name="Freeform 9">
              <a:extLst>
                <a:ext uri="{FF2B5EF4-FFF2-40B4-BE49-F238E27FC236}">
                  <a16:creationId xmlns:a16="http://schemas.microsoft.com/office/drawing/2014/main" id="{298BEA9D-3529-4807-866B-08A107BC580D}"/>
                </a:ext>
              </a:extLst>
            </p:cNvPr>
            <p:cNvSpPr>
              <a:spLocks noChangeArrowheads="1"/>
            </p:cNvSpPr>
            <p:nvPr/>
          </p:nvSpPr>
          <p:spPr bwMode="auto">
            <a:xfrm>
              <a:off x="902" y="847"/>
              <a:ext cx="114" cy="38"/>
            </a:xfrm>
            <a:custGeom>
              <a:avLst/>
              <a:gdLst>
                <a:gd name="T0" fmla="*/ 3 w 133"/>
                <a:gd name="T1" fmla="*/ 0 h 54"/>
                <a:gd name="T2" fmla="*/ 3 w 133"/>
                <a:gd name="T3" fmla="*/ 1 h 54"/>
                <a:gd name="T4" fmla="*/ 3 w 133"/>
                <a:gd name="T5" fmla="*/ 1 h 54"/>
                <a:gd name="T6" fmla="*/ 3 w 133"/>
                <a:gd name="T7" fmla="*/ 1 h 54"/>
                <a:gd name="T8" fmla="*/ 3 w 133"/>
                <a:gd name="T9" fmla="*/ 1 h 54"/>
                <a:gd name="T10" fmla="*/ 3 w 133"/>
                <a:gd name="T11" fmla="*/ 1 h 54"/>
                <a:gd name="T12" fmla="*/ 8 w 133"/>
                <a:gd name="T13" fmla="*/ 1 h 54"/>
                <a:gd name="T14" fmla="*/ 8 w 133"/>
                <a:gd name="T15" fmla="*/ 1 h 54"/>
                <a:gd name="T16" fmla="*/ 7 w 133"/>
                <a:gd name="T17" fmla="*/ 1 h 54"/>
                <a:gd name="T18" fmla="*/ 6 w 133"/>
                <a:gd name="T19" fmla="*/ 1 h 54"/>
                <a:gd name="T20" fmla="*/ 6 w 133"/>
                <a:gd name="T21" fmla="*/ 1 h 54"/>
                <a:gd name="T22" fmla="*/ 4 w 133"/>
                <a:gd name="T23" fmla="*/ 1 h 54"/>
                <a:gd name="T24" fmla="*/ 3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3"/>
                <a:gd name="T40" fmla="*/ 0 h 54"/>
                <a:gd name="T41" fmla="*/ 133 w 133"/>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6" name="Freeform 10">
              <a:extLst>
                <a:ext uri="{FF2B5EF4-FFF2-40B4-BE49-F238E27FC236}">
                  <a16:creationId xmlns:a16="http://schemas.microsoft.com/office/drawing/2014/main" id="{460E5FB5-A84E-4521-8824-4E1AF54E1C71}"/>
                </a:ext>
              </a:extLst>
            </p:cNvPr>
            <p:cNvSpPr>
              <a:spLocks noChangeArrowheads="1"/>
            </p:cNvSpPr>
            <p:nvPr/>
          </p:nvSpPr>
          <p:spPr bwMode="auto">
            <a:xfrm>
              <a:off x="1023" y="871"/>
              <a:ext cx="43"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7" name="Freeform 11">
              <a:extLst>
                <a:ext uri="{FF2B5EF4-FFF2-40B4-BE49-F238E27FC236}">
                  <a16:creationId xmlns:a16="http://schemas.microsoft.com/office/drawing/2014/main" id="{22F80DBB-47D9-4255-8E53-505E92BF43B8}"/>
                </a:ext>
              </a:extLst>
            </p:cNvPr>
            <p:cNvSpPr>
              <a:spLocks noChangeArrowheads="1"/>
            </p:cNvSpPr>
            <p:nvPr/>
          </p:nvSpPr>
          <p:spPr bwMode="auto">
            <a:xfrm>
              <a:off x="1087" y="874"/>
              <a:ext cx="14" cy="24"/>
            </a:xfrm>
            <a:custGeom>
              <a:avLst/>
              <a:gdLst>
                <a:gd name="T0" fmla="*/ 4 w 16"/>
                <a:gd name="T1" fmla="*/ 0 h 34"/>
                <a:gd name="T2" fmla="*/ 0 w 16"/>
                <a:gd name="T3" fmla="*/ 1 h 34"/>
                <a:gd name="T4" fmla="*/ 4 w 16"/>
                <a:gd name="T5" fmla="*/ 1 h 34"/>
                <a:gd name="T6" fmla="*/ 4 w 16"/>
                <a:gd name="T7" fmla="*/ 1 h 34"/>
                <a:gd name="T8" fmla="*/ 4 w 16"/>
                <a:gd name="T9" fmla="*/ 1 h 34"/>
                <a:gd name="T10" fmla="*/ 4 w 16"/>
                <a:gd name="T11" fmla="*/ 0 h 34"/>
                <a:gd name="T12" fmla="*/ 0 60000 65536"/>
                <a:gd name="T13" fmla="*/ 0 60000 65536"/>
                <a:gd name="T14" fmla="*/ 0 60000 65536"/>
                <a:gd name="T15" fmla="*/ 0 60000 65536"/>
                <a:gd name="T16" fmla="*/ 0 60000 65536"/>
                <a:gd name="T17" fmla="*/ 0 60000 65536"/>
                <a:gd name="T18" fmla="*/ 0 w 16"/>
                <a:gd name="T19" fmla="*/ 0 h 34"/>
                <a:gd name="T20" fmla="*/ 16 w 16"/>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8" name="Freeform 12">
              <a:extLst>
                <a:ext uri="{FF2B5EF4-FFF2-40B4-BE49-F238E27FC236}">
                  <a16:creationId xmlns:a16="http://schemas.microsoft.com/office/drawing/2014/main" id="{2E3BF17F-001B-4CDE-B534-E5AC2EA18D76}"/>
                </a:ext>
              </a:extLst>
            </p:cNvPr>
            <p:cNvSpPr>
              <a:spLocks noChangeArrowheads="1"/>
            </p:cNvSpPr>
            <p:nvPr/>
          </p:nvSpPr>
          <p:spPr bwMode="auto">
            <a:xfrm>
              <a:off x="876" y="83"/>
              <a:ext cx="207" cy="82"/>
            </a:xfrm>
            <a:custGeom>
              <a:avLst/>
              <a:gdLst>
                <a:gd name="T0" fmla="*/ 4 w 240"/>
                <a:gd name="T1" fmla="*/ 1 h 117"/>
                <a:gd name="T2" fmla="*/ 3 w 240"/>
                <a:gd name="T3" fmla="*/ 1 h 117"/>
                <a:gd name="T4" fmla="*/ 3 w 240"/>
                <a:gd name="T5" fmla="*/ 1 h 117"/>
                <a:gd name="T6" fmla="*/ 0 w 240"/>
                <a:gd name="T7" fmla="*/ 1 h 117"/>
                <a:gd name="T8" fmla="*/ 3 w 240"/>
                <a:gd name="T9" fmla="*/ 1 h 117"/>
                <a:gd name="T10" fmla="*/ 3 w 240"/>
                <a:gd name="T11" fmla="*/ 1 h 117"/>
                <a:gd name="T12" fmla="*/ 5 w 240"/>
                <a:gd name="T13" fmla="*/ 1 h 117"/>
                <a:gd name="T14" fmla="*/ 6 w 240"/>
                <a:gd name="T15" fmla="*/ 1 h 117"/>
                <a:gd name="T16" fmla="*/ 6 w 240"/>
                <a:gd name="T17" fmla="*/ 1 h 117"/>
                <a:gd name="T18" fmla="*/ 4 w 240"/>
                <a:gd name="T19" fmla="*/ 1 h 117"/>
                <a:gd name="T20" fmla="*/ 5 w 240"/>
                <a:gd name="T21" fmla="*/ 1 h 117"/>
                <a:gd name="T22" fmla="*/ 3 w 240"/>
                <a:gd name="T23" fmla="*/ 1 h 117"/>
                <a:gd name="T24" fmla="*/ 5 w 240"/>
                <a:gd name="T25" fmla="*/ 1 h 117"/>
                <a:gd name="T26" fmla="*/ 6 w 240"/>
                <a:gd name="T27" fmla="*/ 1 h 117"/>
                <a:gd name="T28" fmla="*/ 8 w 240"/>
                <a:gd name="T29" fmla="*/ 1 h 117"/>
                <a:gd name="T30" fmla="*/ 10 w 240"/>
                <a:gd name="T31" fmla="*/ 1 h 117"/>
                <a:gd name="T32" fmla="*/ 12 w 240"/>
                <a:gd name="T33" fmla="*/ 1 h 117"/>
                <a:gd name="T34" fmla="*/ 14 w 240"/>
                <a:gd name="T35" fmla="*/ 1 h 117"/>
                <a:gd name="T36" fmla="*/ 16 w 240"/>
                <a:gd name="T37" fmla="*/ 1 h 117"/>
                <a:gd name="T38" fmla="*/ 16 w 240"/>
                <a:gd name="T39" fmla="*/ 1 h 117"/>
                <a:gd name="T40" fmla="*/ 16 w 240"/>
                <a:gd name="T41" fmla="*/ 1 h 117"/>
                <a:gd name="T42" fmla="*/ 16 w 240"/>
                <a:gd name="T43" fmla="*/ 1 h 117"/>
                <a:gd name="T44" fmla="*/ 14 w 240"/>
                <a:gd name="T45" fmla="*/ 1 h 117"/>
                <a:gd name="T46" fmla="*/ 14 w 240"/>
                <a:gd name="T47" fmla="*/ 1 h 117"/>
                <a:gd name="T48" fmla="*/ 12 w 240"/>
                <a:gd name="T49" fmla="*/ 1 h 117"/>
                <a:gd name="T50" fmla="*/ 9 w 240"/>
                <a:gd name="T51" fmla="*/ 1 h 117"/>
                <a:gd name="T52" fmla="*/ 7 w 240"/>
                <a:gd name="T53" fmla="*/ 1 h 117"/>
                <a:gd name="T54" fmla="*/ 6 w 240"/>
                <a:gd name="T55" fmla="*/ 1 h 117"/>
                <a:gd name="T56" fmla="*/ 4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0"/>
                <a:gd name="T88" fmla="*/ 0 h 117"/>
                <a:gd name="T89" fmla="*/ 240 w 240"/>
                <a:gd name="T90" fmla="*/ 117 h 1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9" name="Freeform 13">
              <a:extLst>
                <a:ext uri="{FF2B5EF4-FFF2-40B4-BE49-F238E27FC236}">
                  <a16:creationId xmlns:a16="http://schemas.microsoft.com/office/drawing/2014/main" id="{30911398-F574-437F-9F54-1998E66783EB}"/>
                </a:ext>
              </a:extLst>
            </p:cNvPr>
            <p:cNvSpPr>
              <a:spLocks noChangeArrowheads="1"/>
            </p:cNvSpPr>
            <p:nvPr/>
          </p:nvSpPr>
          <p:spPr bwMode="auto">
            <a:xfrm>
              <a:off x="968" y="45"/>
              <a:ext cx="168" cy="56"/>
            </a:xfrm>
            <a:custGeom>
              <a:avLst/>
              <a:gdLst>
                <a:gd name="T0" fmla="*/ 8 w 194"/>
                <a:gd name="T1" fmla="*/ 1 h 80"/>
                <a:gd name="T2" fmla="*/ 3 w 194"/>
                <a:gd name="T3" fmla="*/ 1 h 80"/>
                <a:gd name="T4" fmla="*/ 3 w 194"/>
                <a:gd name="T5" fmla="*/ 1 h 80"/>
                <a:gd name="T6" fmla="*/ 4 w 194"/>
                <a:gd name="T7" fmla="*/ 1 h 80"/>
                <a:gd name="T8" fmla="*/ 10 w 194"/>
                <a:gd name="T9" fmla="*/ 1 h 80"/>
                <a:gd name="T10" fmla="*/ 13 w 194"/>
                <a:gd name="T11" fmla="*/ 1 h 80"/>
                <a:gd name="T12" fmla="*/ 14 w 194"/>
                <a:gd name="T13" fmla="*/ 1 h 80"/>
                <a:gd name="T14" fmla="*/ 13 w 194"/>
                <a:gd name="T15" fmla="*/ 1 h 80"/>
                <a:gd name="T16" fmla="*/ 12 w 194"/>
                <a:gd name="T17" fmla="*/ 1 h 80"/>
                <a:gd name="T18" fmla="*/ 10 w 194"/>
                <a:gd name="T19" fmla="*/ 1 h 80"/>
                <a:gd name="T20" fmla="*/ 8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4"/>
                <a:gd name="T34" fmla="*/ 0 h 80"/>
                <a:gd name="T35" fmla="*/ 194 w 194"/>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0" name="Freeform 14">
              <a:extLst>
                <a:ext uri="{FF2B5EF4-FFF2-40B4-BE49-F238E27FC236}">
                  <a16:creationId xmlns:a16="http://schemas.microsoft.com/office/drawing/2014/main" id="{3FF23488-6C11-4053-88B7-11A187A670C0}"/>
                </a:ext>
              </a:extLst>
            </p:cNvPr>
            <p:cNvSpPr>
              <a:spLocks noChangeArrowheads="1"/>
            </p:cNvSpPr>
            <p:nvPr/>
          </p:nvSpPr>
          <p:spPr bwMode="auto">
            <a:xfrm>
              <a:off x="1204" y="110"/>
              <a:ext cx="268" cy="178"/>
            </a:xfrm>
            <a:custGeom>
              <a:avLst/>
              <a:gdLst>
                <a:gd name="T0" fmla="*/ 5 w 310"/>
                <a:gd name="T1" fmla="*/ 1 h 254"/>
                <a:gd name="T2" fmla="*/ 3 w 310"/>
                <a:gd name="T3" fmla="*/ 1 h 254"/>
                <a:gd name="T4" fmla="*/ 3 w 310"/>
                <a:gd name="T5" fmla="*/ 1 h 254"/>
                <a:gd name="T6" fmla="*/ 3 w 310"/>
                <a:gd name="T7" fmla="*/ 1 h 254"/>
                <a:gd name="T8" fmla="*/ 6 w 310"/>
                <a:gd name="T9" fmla="*/ 1 h 254"/>
                <a:gd name="T10" fmla="*/ 8 w 310"/>
                <a:gd name="T11" fmla="*/ 1 h 254"/>
                <a:gd name="T12" fmla="*/ 9 w 310"/>
                <a:gd name="T13" fmla="*/ 1 h 254"/>
                <a:gd name="T14" fmla="*/ 10 w 310"/>
                <a:gd name="T15" fmla="*/ 1 h 254"/>
                <a:gd name="T16" fmla="*/ 10 w 310"/>
                <a:gd name="T17" fmla="*/ 1 h 254"/>
                <a:gd name="T18" fmla="*/ 8 w 310"/>
                <a:gd name="T19" fmla="*/ 1 h 254"/>
                <a:gd name="T20" fmla="*/ 7 w 310"/>
                <a:gd name="T21" fmla="*/ 1 h 254"/>
                <a:gd name="T22" fmla="*/ 5 w 310"/>
                <a:gd name="T23" fmla="*/ 1 h 254"/>
                <a:gd name="T24" fmla="*/ 4 w 310"/>
                <a:gd name="T25" fmla="*/ 1 h 254"/>
                <a:gd name="T26" fmla="*/ 3 w 310"/>
                <a:gd name="T27" fmla="*/ 1 h 254"/>
                <a:gd name="T28" fmla="*/ 3 w 310"/>
                <a:gd name="T29" fmla="*/ 1 h 254"/>
                <a:gd name="T30" fmla="*/ 5 w 310"/>
                <a:gd name="T31" fmla="*/ 1 h 254"/>
                <a:gd name="T32" fmla="*/ 7 w 310"/>
                <a:gd name="T33" fmla="*/ 1 h 254"/>
                <a:gd name="T34" fmla="*/ 8 w 310"/>
                <a:gd name="T35" fmla="*/ 1 h 254"/>
                <a:gd name="T36" fmla="*/ 9 w 310"/>
                <a:gd name="T37" fmla="*/ 1 h 254"/>
                <a:gd name="T38" fmla="*/ 10 w 310"/>
                <a:gd name="T39" fmla="*/ 1 h 254"/>
                <a:gd name="T40" fmla="*/ 10 w 310"/>
                <a:gd name="T41" fmla="*/ 1 h 254"/>
                <a:gd name="T42" fmla="*/ 12 w 310"/>
                <a:gd name="T43" fmla="*/ 1 h 254"/>
                <a:gd name="T44" fmla="*/ 14 w 310"/>
                <a:gd name="T45" fmla="*/ 1 h 254"/>
                <a:gd name="T46" fmla="*/ 16 w 310"/>
                <a:gd name="T47" fmla="*/ 1 h 254"/>
                <a:gd name="T48" fmla="*/ 16 w 310"/>
                <a:gd name="T49" fmla="*/ 1 h 254"/>
                <a:gd name="T50" fmla="*/ 16 w 310"/>
                <a:gd name="T51" fmla="*/ 1 h 254"/>
                <a:gd name="T52" fmla="*/ 16 w 310"/>
                <a:gd name="T53" fmla="*/ 1 h 254"/>
                <a:gd name="T54" fmla="*/ 17 w 310"/>
                <a:gd name="T55" fmla="*/ 1 h 254"/>
                <a:gd name="T56" fmla="*/ 18 w 310"/>
                <a:gd name="T57" fmla="*/ 1 h 254"/>
                <a:gd name="T58" fmla="*/ 19 w 310"/>
                <a:gd name="T59" fmla="*/ 1 h 254"/>
                <a:gd name="T60" fmla="*/ 22 w 310"/>
                <a:gd name="T61" fmla="*/ 1 h 254"/>
                <a:gd name="T62" fmla="*/ 22 w 310"/>
                <a:gd name="T63" fmla="*/ 1 h 254"/>
                <a:gd name="T64" fmla="*/ 19 w 310"/>
                <a:gd name="T65" fmla="*/ 1 h 254"/>
                <a:gd name="T66" fmla="*/ 19 w 310"/>
                <a:gd name="T67" fmla="*/ 1 h 254"/>
                <a:gd name="T68" fmla="*/ 19 w 310"/>
                <a:gd name="T69" fmla="*/ 1 h 254"/>
                <a:gd name="T70" fmla="*/ 19 w 310"/>
                <a:gd name="T71" fmla="*/ 1 h 254"/>
                <a:gd name="T72" fmla="*/ 16 w 310"/>
                <a:gd name="T73" fmla="*/ 1 h 254"/>
                <a:gd name="T74" fmla="*/ 16 w 310"/>
                <a:gd name="T75" fmla="*/ 1 h 254"/>
                <a:gd name="T76" fmla="*/ 14 w 310"/>
                <a:gd name="T77" fmla="*/ 1 h 254"/>
                <a:gd name="T78" fmla="*/ 10 w 310"/>
                <a:gd name="T79" fmla="*/ 1 h 254"/>
                <a:gd name="T80" fmla="*/ 12 w 310"/>
                <a:gd name="T81" fmla="*/ 1 h 254"/>
                <a:gd name="T82" fmla="*/ 10 w 310"/>
                <a:gd name="T83" fmla="*/ 1 h 254"/>
                <a:gd name="T84" fmla="*/ 9 w 310"/>
                <a:gd name="T85" fmla="*/ 1 h 254"/>
                <a:gd name="T86" fmla="*/ 5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10"/>
                <a:gd name="T133" fmla="*/ 0 h 254"/>
                <a:gd name="T134" fmla="*/ 310 w 310"/>
                <a:gd name="T135" fmla="*/ 254 h 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1" name="Freeform 15">
              <a:extLst>
                <a:ext uri="{FF2B5EF4-FFF2-40B4-BE49-F238E27FC236}">
                  <a16:creationId xmlns:a16="http://schemas.microsoft.com/office/drawing/2014/main" id="{B119BE65-4C67-4E7A-BF31-2E9B092CFFDB}"/>
                </a:ext>
              </a:extLst>
            </p:cNvPr>
            <p:cNvSpPr>
              <a:spLocks noChangeArrowheads="1"/>
            </p:cNvSpPr>
            <p:nvPr/>
          </p:nvSpPr>
          <p:spPr bwMode="auto">
            <a:xfrm>
              <a:off x="1202" y="34"/>
              <a:ext cx="51" cy="34"/>
            </a:xfrm>
            <a:custGeom>
              <a:avLst/>
              <a:gdLst>
                <a:gd name="T0" fmla="*/ 3 w 59"/>
                <a:gd name="T1" fmla="*/ 0 h 50"/>
                <a:gd name="T2" fmla="*/ 0 w 59"/>
                <a:gd name="T3" fmla="*/ 1 h 50"/>
                <a:gd name="T4" fmla="*/ 3 w 59"/>
                <a:gd name="T5" fmla="*/ 1 h 50"/>
                <a:gd name="T6" fmla="*/ 3 w 59"/>
                <a:gd name="T7" fmla="*/ 1 h 50"/>
                <a:gd name="T8" fmla="*/ 4 w 59"/>
                <a:gd name="T9" fmla="*/ 1 h 50"/>
                <a:gd name="T10" fmla="*/ 3 w 59"/>
                <a:gd name="T11" fmla="*/ 1 h 50"/>
                <a:gd name="T12" fmla="*/ 3 w 59"/>
                <a:gd name="T13" fmla="*/ 0 h 50"/>
                <a:gd name="T14" fmla="*/ 0 60000 65536"/>
                <a:gd name="T15" fmla="*/ 0 60000 65536"/>
                <a:gd name="T16" fmla="*/ 0 60000 65536"/>
                <a:gd name="T17" fmla="*/ 0 60000 65536"/>
                <a:gd name="T18" fmla="*/ 0 60000 65536"/>
                <a:gd name="T19" fmla="*/ 0 60000 65536"/>
                <a:gd name="T20" fmla="*/ 0 60000 65536"/>
                <a:gd name="T21" fmla="*/ 0 w 59"/>
                <a:gd name="T22" fmla="*/ 0 h 50"/>
                <a:gd name="T23" fmla="*/ 59 w 59"/>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2" name="Freeform 16">
              <a:extLst>
                <a:ext uri="{FF2B5EF4-FFF2-40B4-BE49-F238E27FC236}">
                  <a16:creationId xmlns:a16="http://schemas.microsoft.com/office/drawing/2014/main" id="{9AAD6ADF-759C-4BFB-94C3-FCDFEC9AC460}"/>
                </a:ext>
              </a:extLst>
            </p:cNvPr>
            <p:cNvSpPr>
              <a:spLocks noChangeArrowheads="1"/>
            </p:cNvSpPr>
            <p:nvPr/>
          </p:nvSpPr>
          <p:spPr bwMode="auto">
            <a:xfrm>
              <a:off x="1105" y="99"/>
              <a:ext cx="75" cy="39"/>
            </a:xfrm>
            <a:custGeom>
              <a:avLst/>
              <a:gdLst>
                <a:gd name="T0" fmla="*/ 3 w 86"/>
                <a:gd name="T1" fmla="*/ 1 h 57"/>
                <a:gd name="T2" fmla="*/ 3 w 86"/>
                <a:gd name="T3" fmla="*/ 1 h 57"/>
                <a:gd name="T4" fmla="*/ 3 w 86"/>
                <a:gd name="T5" fmla="*/ 1 h 57"/>
                <a:gd name="T6" fmla="*/ 3 w 86"/>
                <a:gd name="T7" fmla="*/ 1 h 57"/>
                <a:gd name="T8" fmla="*/ 7 w 86"/>
                <a:gd name="T9" fmla="*/ 1 h 57"/>
                <a:gd name="T10" fmla="*/ 8 w 86"/>
                <a:gd name="T11" fmla="*/ 1 h 57"/>
                <a:gd name="T12" fmla="*/ 5 w 86"/>
                <a:gd name="T13" fmla="*/ 1 h 57"/>
                <a:gd name="T14" fmla="*/ 3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 name="T24" fmla="*/ 0 w 86"/>
                <a:gd name="T25" fmla="*/ 0 h 57"/>
                <a:gd name="T26" fmla="*/ 86 w 8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3" name="Freeform 17">
              <a:extLst>
                <a:ext uri="{FF2B5EF4-FFF2-40B4-BE49-F238E27FC236}">
                  <a16:creationId xmlns:a16="http://schemas.microsoft.com/office/drawing/2014/main" id="{422F13BC-5F0B-4B03-8356-834B18873FA8}"/>
                </a:ext>
              </a:extLst>
            </p:cNvPr>
            <p:cNvSpPr>
              <a:spLocks noChangeArrowheads="1"/>
            </p:cNvSpPr>
            <p:nvPr/>
          </p:nvSpPr>
          <p:spPr bwMode="auto">
            <a:xfrm>
              <a:off x="1184" y="107"/>
              <a:ext cx="62" cy="23"/>
            </a:xfrm>
            <a:custGeom>
              <a:avLst/>
              <a:gdLst>
                <a:gd name="T0" fmla="*/ 3 w 73"/>
                <a:gd name="T1" fmla="*/ 0 h 34"/>
                <a:gd name="T2" fmla="*/ 3 w 73"/>
                <a:gd name="T3" fmla="*/ 1 h 34"/>
                <a:gd name="T4" fmla="*/ 3 w 73"/>
                <a:gd name="T5" fmla="*/ 1 h 34"/>
                <a:gd name="T6" fmla="*/ 3 w 73"/>
                <a:gd name="T7" fmla="*/ 1 h 34"/>
                <a:gd name="T8" fmla="*/ 3 w 73"/>
                <a:gd name="T9" fmla="*/ 1 h 34"/>
                <a:gd name="T10" fmla="*/ 3 w 73"/>
                <a:gd name="T11" fmla="*/ 0 h 34"/>
                <a:gd name="T12" fmla="*/ 0 60000 65536"/>
                <a:gd name="T13" fmla="*/ 0 60000 65536"/>
                <a:gd name="T14" fmla="*/ 0 60000 65536"/>
                <a:gd name="T15" fmla="*/ 0 60000 65536"/>
                <a:gd name="T16" fmla="*/ 0 60000 65536"/>
                <a:gd name="T17" fmla="*/ 0 60000 65536"/>
                <a:gd name="T18" fmla="*/ 0 w 73"/>
                <a:gd name="T19" fmla="*/ 0 h 34"/>
                <a:gd name="T20" fmla="*/ 73 w 73"/>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4" name="Freeform 18">
              <a:extLst>
                <a:ext uri="{FF2B5EF4-FFF2-40B4-BE49-F238E27FC236}">
                  <a16:creationId xmlns:a16="http://schemas.microsoft.com/office/drawing/2014/main" id="{0CADEE1F-AAE4-4A05-8993-9D3357B71959}"/>
                </a:ext>
              </a:extLst>
            </p:cNvPr>
            <p:cNvSpPr>
              <a:spLocks noChangeArrowheads="1"/>
            </p:cNvSpPr>
            <p:nvPr/>
          </p:nvSpPr>
          <p:spPr bwMode="auto">
            <a:xfrm>
              <a:off x="1150" y="73"/>
              <a:ext cx="74" cy="32"/>
            </a:xfrm>
            <a:custGeom>
              <a:avLst/>
              <a:gdLst>
                <a:gd name="T0" fmla="*/ 5 w 85"/>
                <a:gd name="T1" fmla="*/ 1 h 45"/>
                <a:gd name="T2" fmla="*/ 3 w 85"/>
                <a:gd name="T3" fmla="*/ 1 h 45"/>
                <a:gd name="T4" fmla="*/ 0 w 85"/>
                <a:gd name="T5" fmla="*/ 1 h 45"/>
                <a:gd name="T6" fmla="*/ 3 w 85"/>
                <a:gd name="T7" fmla="*/ 1 h 45"/>
                <a:gd name="T8" fmla="*/ 5 w 85"/>
                <a:gd name="T9" fmla="*/ 1 h 45"/>
                <a:gd name="T10" fmla="*/ 7 w 85"/>
                <a:gd name="T11" fmla="*/ 1 h 45"/>
                <a:gd name="T12" fmla="*/ 7 w 85"/>
                <a:gd name="T13" fmla="*/ 1 h 45"/>
                <a:gd name="T14" fmla="*/ 5 w 85"/>
                <a:gd name="T15" fmla="*/ 0 h 45"/>
                <a:gd name="T16" fmla="*/ 5 w 85"/>
                <a:gd name="T17" fmla="*/ 1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
                <a:gd name="T28" fmla="*/ 0 h 45"/>
                <a:gd name="T29" fmla="*/ 85 w 85"/>
                <a:gd name="T30" fmla="*/ 45 h 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5" name="Freeform 19">
              <a:extLst>
                <a:ext uri="{FF2B5EF4-FFF2-40B4-BE49-F238E27FC236}">
                  <a16:creationId xmlns:a16="http://schemas.microsoft.com/office/drawing/2014/main" id="{E8FA4BCD-64F4-4AA1-987B-B1EC09BFD1DD}"/>
                </a:ext>
              </a:extLst>
            </p:cNvPr>
            <p:cNvSpPr>
              <a:spLocks noChangeArrowheads="1"/>
            </p:cNvSpPr>
            <p:nvPr/>
          </p:nvSpPr>
          <p:spPr bwMode="auto">
            <a:xfrm>
              <a:off x="1119" y="43"/>
              <a:ext cx="51" cy="22"/>
            </a:xfrm>
            <a:custGeom>
              <a:avLst/>
              <a:gdLst>
                <a:gd name="T0" fmla="*/ 4 w 58"/>
                <a:gd name="T1" fmla="*/ 1 h 31"/>
                <a:gd name="T2" fmla="*/ 0 w 58"/>
                <a:gd name="T3" fmla="*/ 1 h 31"/>
                <a:gd name="T4" fmla="*/ 4 w 58"/>
                <a:gd name="T5" fmla="*/ 1 h 31"/>
                <a:gd name="T6" fmla="*/ 4 w 58"/>
                <a:gd name="T7" fmla="*/ 1 h 31"/>
                <a:gd name="T8" fmla="*/ 5 w 58"/>
                <a:gd name="T9" fmla="*/ 1 h 31"/>
                <a:gd name="T10" fmla="*/ 4 w 58"/>
                <a:gd name="T11" fmla="*/ 0 h 31"/>
                <a:gd name="T12" fmla="*/ 4 w 58"/>
                <a:gd name="T13" fmla="*/ 1 h 31"/>
                <a:gd name="T14" fmla="*/ 0 60000 65536"/>
                <a:gd name="T15" fmla="*/ 0 60000 65536"/>
                <a:gd name="T16" fmla="*/ 0 60000 65536"/>
                <a:gd name="T17" fmla="*/ 0 60000 65536"/>
                <a:gd name="T18" fmla="*/ 0 60000 65536"/>
                <a:gd name="T19" fmla="*/ 0 60000 65536"/>
                <a:gd name="T20" fmla="*/ 0 60000 65536"/>
                <a:gd name="T21" fmla="*/ 0 w 58"/>
                <a:gd name="T22" fmla="*/ 0 h 31"/>
                <a:gd name="T23" fmla="*/ 58 w 58"/>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6" name="Freeform 20">
              <a:extLst>
                <a:ext uri="{FF2B5EF4-FFF2-40B4-BE49-F238E27FC236}">
                  <a16:creationId xmlns:a16="http://schemas.microsoft.com/office/drawing/2014/main" id="{0E132F3F-B8EE-4BB4-81A6-746FF9916886}"/>
                </a:ext>
              </a:extLst>
            </p:cNvPr>
            <p:cNvSpPr>
              <a:spLocks noChangeArrowheads="1"/>
            </p:cNvSpPr>
            <p:nvPr/>
          </p:nvSpPr>
          <p:spPr bwMode="auto">
            <a:xfrm>
              <a:off x="1250" y="46"/>
              <a:ext cx="131" cy="72"/>
            </a:xfrm>
            <a:custGeom>
              <a:avLst/>
              <a:gdLst>
                <a:gd name="T0" fmla="*/ 3 w 152"/>
                <a:gd name="T1" fmla="*/ 0 h 102"/>
                <a:gd name="T2" fmla="*/ 3 w 152"/>
                <a:gd name="T3" fmla="*/ 1 h 102"/>
                <a:gd name="T4" fmla="*/ 3 w 152"/>
                <a:gd name="T5" fmla="*/ 1 h 102"/>
                <a:gd name="T6" fmla="*/ 3 w 152"/>
                <a:gd name="T7" fmla="*/ 1 h 102"/>
                <a:gd name="T8" fmla="*/ 0 w 152"/>
                <a:gd name="T9" fmla="*/ 1 h 102"/>
                <a:gd name="T10" fmla="*/ 3 w 152"/>
                <a:gd name="T11" fmla="*/ 1 h 102"/>
                <a:gd name="T12" fmla="*/ 6 w 152"/>
                <a:gd name="T13" fmla="*/ 1 h 102"/>
                <a:gd name="T14" fmla="*/ 10 w 152"/>
                <a:gd name="T15" fmla="*/ 1 h 102"/>
                <a:gd name="T16" fmla="*/ 5 w 152"/>
                <a:gd name="T17" fmla="*/ 1 h 102"/>
                <a:gd name="T18" fmla="*/ 3 w 152"/>
                <a:gd name="T19" fmla="*/ 1 h 102"/>
                <a:gd name="T20" fmla="*/ 3 w 152"/>
                <a:gd name="T21" fmla="*/ 1 h 102"/>
                <a:gd name="T22" fmla="*/ 3 w 152"/>
                <a:gd name="T23" fmla="*/ 1 h 102"/>
                <a:gd name="T24" fmla="*/ 3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2"/>
                <a:gd name="T40" fmla="*/ 0 h 102"/>
                <a:gd name="T41" fmla="*/ 152 w 152"/>
                <a:gd name="T42" fmla="*/ 102 h 1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7" name="Freeform 21">
              <a:extLst>
                <a:ext uri="{FF2B5EF4-FFF2-40B4-BE49-F238E27FC236}">
                  <a16:creationId xmlns:a16="http://schemas.microsoft.com/office/drawing/2014/main" id="{750B54EC-123C-4EEB-8DD2-3B0723E24BDD}"/>
                </a:ext>
              </a:extLst>
            </p:cNvPr>
            <p:cNvSpPr>
              <a:spLocks noChangeArrowheads="1"/>
            </p:cNvSpPr>
            <p:nvPr/>
          </p:nvSpPr>
          <p:spPr bwMode="auto">
            <a:xfrm>
              <a:off x="0" y="275"/>
              <a:ext cx="29" cy="14"/>
            </a:xfrm>
            <a:custGeom>
              <a:avLst/>
              <a:gdLst>
                <a:gd name="T0" fmla="*/ 3 w 34"/>
                <a:gd name="T1" fmla="*/ 0 h 20"/>
                <a:gd name="T2" fmla="*/ 3 w 34"/>
                <a:gd name="T3" fmla="*/ 1 h 20"/>
                <a:gd name="T4" fmla="*/ 3 w 34"/>
                <a:gd name="T5" fmla="*/ 1 h 20"/>
                <a:gd name="T6" fmla="*/ 3 w 34"/>
                <a:gd name="T7" fmla="*/ 1 h 20"/>
                <a:gd name="T8" fmla="*/ 3 w 34"/>
                <a:gd name="T9" fmla="*/ 0 h 20"/>
                <a:gd name="T10" fmla="*/ 0 60000 65536"/>
                <a:gd name="T11" fmla="*/ 0 60000 65536"/>
                <a:gd name="T12" fmla="*/ 0 60000 65536"/>
                <a:gd name="T13" fmla="*/ 0 60000 65536"/>
                <a:gd name="T14" fmla="*/ 0 60000 65536"/>
                <a:gd name="T15" fmla="*/ 0 w 34"/>
                <a:gd name="T16" fmla="*/ 0 h 20"/>
                <a:gd name="T17" fmla="*/ 34 w 34"/>
                <a:gd name="T18" fmla="*/ 20 h 20"/>
              </a:gdLst>
              <a:ahLst/>
              <a:cxnLst>
                <a:cxn ang="T10">
                  <a:pos x="T0" y="T1"/>
                </a:cxn>
                <a:cxn ang="T11">
                  <a:pos x="T2" y="T3"/>
                </a:cxn>
                <a:cxn ang="T12">
                  <a:pos x="T4" y="T5"/>
                </a:cxn>
                <a:cxn ang="T13">
                  <a:pos x="T6" y="T7"/>
                </a:cxn>
                <a:cxn ang="T14">
                  <a:pos x="T8" y="T9"/>
                </a:cxn>
              </a:cxnLst>
              <a:rect l="T15" t="T16" r="T17" b="T18"/>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8" name="Freeform 22">
              <a:extLst>
                <a:ext uri="{FF2B5EF4-FFF2-40B4-BE49-F238E27FC236}">
                  <a16:creationId xmlns:a16="http://schemas.microsoft.com/office/drawing/2014/main" id="{E32C84FB-F31A-4714-B194-ECF39DBEAE19}"/>
                </a:ext>
              </a:extLst>
            </p:cNvPr>
            <p:cNvSpPr>
              <a:spLocks noChangeArrowheads="1"/>
            </p:cNvSpPr>
            <p:nvPr/>
          </p:nvSpPr>
          <p:spPr bwMode="auto">
            <a:xfrm>
              <a:off x="871" y="753"/>
              <a:ext cx="18" cy="11"/>
            </a:xfrm>
            <a:custGeom>
              <a:avLst/>
              <a:gdLst>
                <a:gd name="T0" fmla="*/ 3 w 21"/>
                <a:gd name="T1" fmla="*/ 0 h 16"/>
                <a:gd name="T2" fmla="*/ 3 w 21"/>
                <a:gd name="T3" fmla="*/ 1 h 16"/>
                <a:gd name="T4" fmla="*/ 3 w 21"/>
                <a:gd name="T5" fmla="*/ 0 h 16"/>
                <a:gd name="T6" fmla="*/ 0 60000 65536"/>
                <a:gd name="T7" fmla="*/ 0 60000 65536"/>
                <a:gd name="T8" fmla="*/ 0 60000 65536"/>
                <a:gd name="T9" fmla="*/ 0 w 21"/>
                <a:gd name="T10" fmla="*/ 0 h 16"/>
                <a:gd name="T11" fmla="*/ 21 w 21"/>
                <a:gd name="T12" fmla="*/ 16 h 16"/>
              </a:gdLst>
              <a:ahLst/>
              <a:cxnLst>
                <a:cxn ang="T6">
                  <a:pos x="T0" y="T1"/>
                </a:cxn>
                <a:cxn ang="T7">
                  <a:pos x="T2" y="T3"/>
                </a:cxn>
                <a:cxn ang="T8">
                  <a:pos x="T4" y="T5"/>
                </a:cxn>
              </a:cxnLst>
              <a:rect l="T9" t="T10" r="T11" b="T12"/>
              <a:pathLst>
                <a:path w="21" h="16">
                  <a:moveTo>
                    <a:pt x="3" y="0"/>
                  </a:moveTo>
                  <a:cubicBezTo>
                    <a:pt x="0" y="9"/>
                    <a:pt x="6" y="11"/>
                    <a:pt x="13" y="16"/>
                  </a:cubicBezTo>
                  <a:cubicBezTo>
                    <a:pt x="21" y="4"/>
                    <a:pt x="16" y="2"/>
                    <a:pt x="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9" name="Freeform 23">
              <a:extLst>
                <a:ext uri="{FF2B5EF4-FFF2-40B4-BE49-F238E27FC236}">
                  <a16:creationId xmlns:a16="http://schemas.microsoft.com/office/drawing/2014/main" id="{90127046-A706-4F15-AE92-F44667CBD6D6}"/>
                </a:ext>
              </a:extLst>
            </p:cNvPr>
            <p:cNvSpPr>
              <a:spLocks noChangeArrowheads="1"/>
            </p:cNvSpPr>
            <p:nvPr/>
          </p:nvSpPr>
          <p:spPr bwMode="auto">
            <a:xfrm>
              <a:off x="874" y="776"/>
              <a:ext cx="19" cy="11"/>
            </a:xfrm>
            <a:custGeom>
              <a:avLst/>
              <a:gdLst>
                <a:gd name="T0" fmla="*/ 3 w 21"/>
                <a:gd name="T1" fmla="*/ 0 h 16"/>
                <a:gd name="T2" fmla="*/ 5 w 21"/>
                <a:gd name="T3" fmla="*/ 1 h 16"/>
                <a:gd name="T4" fmla="*/ 3 w 21"/>
                <a:gd name="T5" fmla="*/ 0 h 16"/>
                <a:gd name="T6" fmla="*/ 0 60000 65536"/>
                <a:gd name="T7" fmla="*/ 0 60000 65536"/>
                <a:gd name="T8" fmla="*/ 0 60000 65536"/>
                <a:gd name="T9" fmla="*/ 0 w 21"/>
                <a:gd name="T10" fmla="*/ 0 h 16"/>
                <a:gd name="T11" fmla="*/ 21 w 21"/>
                <a:gd name="T12" fmla="*/ 16 h 16"/>
              </a:gdLst>
              <a:ahLst/>
              <a:cxnLst>
                <a:cxn ang="T6">
                  <a:pos x="T0" y="T1"/>
                </a:cxn>
                <a:cxn ang="T7">
                  <a:pos x="T2" y="T3"/>
                </a:cxn>
                <a:cxn ang="T8">
                  <a:pos x="T4" y="T5"/>
                </a:cxn>
              </a:cxnLst>
              <a:rect l="T9" t="T10" r="T11" b="T12"/>
              <a:pathLst>
                <a:path w="21" h="16">
                  <a:moveTo>
                    <a:pt x="3" y="0"/>
                  </a:moveTo>
                  <a:cubicBezTo>
                    <a:pt x="0" y="9"/>
                    <a:pt x="6" y="11"/>
                    <a:pt x="13" y="16"/>
                  </a:cubicBezTo>
                  <a:cubicBezTo>
                    <a:pt x="21" y="4"/>
                    <a:pt x="16" y="2"/>
                    <a:pt x="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0" name="Freeform 24">
              <a:extLst>
                <a:ext uri="{FF2B5EF4-FFF2-40B4-BE49-F238E27FC236}">
                  <a16:creationId xmlns:a16="http://schemas.microsoft.com/office/drawing/2014/main" id="{FF7DFAD8-2C67-40FB-8ECF-28B29A776EE8}"/>
                </a:ext>
              </a:extLst>
            </p:cNvPr>
            <p:cNvSpPr>
              <a:spLocks noChangeArrowheads="1"/>
            </p:cNvSpPr>
            <p:nvPr/>
          </p:nvSpPr>
          <p:spPr bwMode="auto">
            <a:xfrm>
              <a:off x="1109" y="899"/>
              <a:ext cx="17" cy="12"/>
            </a:xfrm>
            <a:custGeom>
              <a:avLst/>
              <a:gdLst>
                <a:gd name="T0" fmla="*/ 2 w 21"/>
                <a:gd name="T1" fmla="*/ 0 h 16"/>
                <a:gd name="T2" fmla="*/ 2 w 21"/>
                <a:gd name="T3" fmla="*/ 2 h 16"/>
                <a:gd name="T4" fmla="*/ 2 w 21"/>
                <a:gd name="T5" fmla="*/ 0 h 16"/>
                <a:gd name="T6" fmla="*/ 0 60000 65536"/>
                <a:gd name="T7" fmla="*/ 0 60000 65536"/>
                <a:gd name="T8" fmla="*/ 0 60000 65536"/>
                <a:gd name="T9" fmla="*/ 0 w 21"/>
                <a:gd name="T10" fmla="*/ 0 h 16"/>
                <a:gd name="T11" fmla="*/ 21 w 21"/>
                <a:gd name="T12" fmla="*/ 16 h 16"/>
              </a:gdLst>
              <a:ahLst/>
              <a:cxnLst>
                <a:cxn ang="T6">
                  <a:pos x="T0" y="T1"/>
                </a:cxn>
                <a:cxn ang="T7">
                  <a:pos x="T2" y="T3"/>
                </a:cxn>
                <a:cxn ang="T8">
                  <a:pos x="T4" y="T5"/>
                </a:cxn>
              </a:cxnLst>
              <a:rect l="T9" t="T10" r="T11" b="T12"/>
              <a:pathLst>
                <a:path w="21" h="16">
                  <a:moveTo>
                    <a:pt x="3" y="0"/>
                  </a:moveTo>
                  <a:cubicBezTo>
                    <a:pt x="0" y="9"/>
                    <a:pt x="6" y="11"/>
                    <a:pt x="13" y="16"/>
                  </a:cubicBezTo>
                  <a:cubicBezTo>
                    <a:pt x="21" y="4"/>
                    <a:pt x="16" y="2"/>
                    <a:pt x="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1" name="Freeform 25">
              <a:extLst>
                <a:ext uri="{FF2B5EF4-FFF2-40B4-BE49-F238E27FC236}">
                  <a16:creationId xmlns:a16="http://schemas.microsoft.com/office/drawing/2014/main" id="{D14A1647-7BF1-4A3D-A277-C226B228A223}"/>
                </a:ext>
              </a:extLst>
            </p:cNvPr>
            <p:cNvSpPr>
              <a:spLocks noChangeArrowheads="1"/>
            </p:cNvSpPr>
            <p:nvPr/>
          </p:nvSpPr>
          <p:spPr bwMode="auto">
            <a:xfrm>
              <a:off x="1251" y="447"/>
              <a:ext cx="44"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2" name="Freeform 26">
              <a:extLst>
                <a:ext uri="{FF2B5EF4-FFF2-40B4-BE49-F238E27FC236}">
                  <a16:creationId xmlns:a16="http://schemas.microsoft.com/office/drawing/2014/main" id="{E48DA27D-635F-4862-A90F-28A61E506D58}"/>
                </a:ext>
              </a:extLst>
            </p:cNvPr>
            <p:cNvSpPr>
              <a:spLocks noChangeArrowheads="1"/>
            </p:cNvSpPr>
            <p:nvPr/>
          </p:nvSpPr>
          <p:spPr bwMode="auto">
            <a:xfrm>
              <a:off x="1136" y="255"/>
              <a:ext cx="44"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3" name="Freeform 27">
              <a:extLst>
                <a:ext uri="{FF2B5EF4-FFF2-40B4-BE49-F238E27FC236}">
                  <a16:creationId xmlns:a16="http://schemas.microsoft.com/office/drawing/2014/main" id="{C4BB540C-B766-4C18-AC85-F93B87EE9D61}"/>
                </a:ext>
              </a:extLst>
            </p:cNvPr>
            <p:cNvSpPr>
              <a:spLocks noChangeArrowheads="1"/>
            </p:cNvSpPr>
            <p:nvPr/>
          </p:nvSpPr>
          <p:spPr bwMode="auto">
            <a:xfrm>
              <a:off x="1211" y="88"/>
              <a:ext cx="45" cy="17"/>
            </a:xfrm>
            <a:custGeom>
              <a:avLst/>
              <a:gdLst>
                <a:gd name="T0" fmla="*/ 4 w 51"/>
                <a:gd name="T1" fmla="*/ 0 h 24"/>
                <a:gd name="T2" fmla="*/ 4 w 51"/>
                <a:gd name="T3" fmla="*/ 1 h 24"/>
                <a:gd name="T4" fmla="*/ 4 w 51"/>
                <a:gd name="T5" fmla="*/ 1 h 24"/>
                <a:gd name="T6" fmla="*/ 4 w 51"/>
                <a:gd name="T7" fmla="*/ 1 h 24"/>
                <a:gd name="T8" fmla="*/ 4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4" name="Freeform 28">
              <a:extLst>
                <a:ext uri="{FF2B5EF4-FFF2-40B4-BE49-F238E27FC236}">
                  <a16:creationId xmlns:a16="http://schemas.microsoft.com/office/drawing/2014/main" id="{F3693365-7B63-4B9A-8701-440C6681437A}"/>
                </a:ext>
              </a:extLst>
            </p:cNvPr>
            <p:cNvSpPr>
              <a:spLocks noChangeArrowheads="1"/>
            </p:cNvSpPr>
            <p:nvPr/>
          </p:nvSpPr>
          <p:spPr bwMode="auto">
            <a:xfrm>
              <a:off x="1284" y="189"/>
              <a:ext cx="43"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5" name="Freeform 29">
              <a:extLst>
                <a:ext uri="{FF2B5EF4-FFF2-40B4-BE49-F238E27FC236}">
                  <a16:creationId xmlns:a16="http://schemas.microsoft.com/office/drawing/2014/main" id="{AEED6936-EC6B-47F1-B470-1BE2DE650612}"/>
                </a:ext>
              </a:extLst>
            </p:cNvPr>
            <p:cNvSpPr>
              <a:spLocks noChangeArrowheads="1"/>
            </p:cNvSpPr>
            <p:nvPr/>
          </p:nvSpPr>
          <p:spPr bwMode="auto">
            <a:xfrm>
              <a:off x="1302" y="0"/>
              <a:ext cx="801" cy="323"/>
            </a:xfrm>
            <a:custGeom>
              <a:avLst/>
              <a:gdLst>
                <a:gd name="T0" fmla="*/ 3 w 929"/>
                <a:gd name="T1" fmla="*/ 1 h 462"/>
                <a:gd name="T2" fmla="*/ 3 w 929"/>
                <a:gd name="T3" fmla="*/ 1 h 462"/>
                <a:gd name="T4" fmla="*/ 3 w 929"/>
                <a:gd name="T5" fmla="*/ 1 h 462"/>
                <a:gd name="T6" fmla="*/ 3 w 929"/>
                <a:gd name="T7" fmla="*/ 1 h 462"/>
                <a:gd name="T8" fmla="*/ 8 w 929"/>
                <a:gd name="T9" fmla="*/ 1 h 462"/>
                <a:gd name="T10" fmla="*/ 10 w 929"/>
                <a:gd name="T11" fmla="*/ 1 h 462"/>
                <a:gd name="T12" fmla="*/ 17 w 929"/>
                <a:gd name="T13" fmla="*/ 1 h 462"/>
                <a:gd name="T14" fmla="*/ 21 w 929"/>
                <a:gd name="T15" fmla="*/ 1 h 462"/>
                <a:gd name="T16" fmla="*/ 22 w 929"/>
                <a:gd name="T17" fmla="*/ 1 h 462"/>
                <a:gd name="T18" fmla="*/ 19 w 929"/>
                <a:gd name="T19" fmla="*/ 1 h 462"/>
                <a:gd name="T20" fmla="*/ 16 w 929"/>
                <a:gd name="T21" fmla="*/ 1 h 462"/>
                <a:gd name="T22" fmla="*/ 18 w 929"/>
                <a:gd name="T23" fmla="*/ 1 h 462"/>
                <a:gd name="T24" fmla="*/ 18 w 929"/>
                <a:gd name="T25" fmla="*/ 1 h 462"/>
                <a:gd name="T26" fmla="*/ 24 w 929"/>
                <a:gd name="T27" fmla="*/ 1 h 462"/>
                <a:gd name="T28" fmla="*/ 23 w 929"/>
                <a:gd name="T29" fmla="*/ 1 h 462"/>
                <a:gd name="T30" fmla="*/ 25 w 929"/>
                <a:gd name="T31" fmla="*/ 1 h 462"/>
                <a:gd name="T32" fmla="*/ 24 w 929"/>
                <a:gd name="T33" fmla="*/ 1 h 462"/>
                <a:gd name="T34" fmla="*/ 22 w 929"/>
                <a:gd name="T35" fmla="*/ 1 h 462"/>
                <a:gd name="T36" fmla="*/ 21 w 929"/>
                <a:gd name="T37" fmla="*/ 1 h 462"/>
                <a:gd name="T38" fmla="*/ 20 w 929"/>
                <a:gd name="T39" fmla="*/ 1 h 462"/>
                <a:gd name="T40" fmla="*/ 23 w 929"/>
                <a:gd name="T41" fmla="*/ 1 h 462"/>
                <a:gd name="T42" fmla="*/ 27 w 929"/>
                <a:gd name="T43" fmla="*/ 1 h 462"/>
                <a:gd name="T44" fmla="*/ 29 w 929"/>
                <a:gd name="T45" fmla="*/ 1 h 462"/>
                <a:gd name="T46" fmla="*/ 35 w 929"/>
                <a:gd name="T47" fmla="*/ 1 h 462"/>
                <a:gd name="T48" fmla="*/ 40 w 929"/>
                <a:gd name="T49" fmla="*/ 1 h 462"/>
                <a:gd name="T50" fmla="*/ 46 w 929"/>
                <a:gd name="T51" fmla="*/ 1 h 462"/>
                <a:gd name="T52" fmla="*/ 50 w 929"/>
                <a:gd name="T53" fmla="*/ 1 h 462"/>
                <a:gd name="T54" fmla="*/ 53 w 929"/>
                <a:gd name="T55" fmla="*/ 1 h 462"/>
                <a:gd name="T56" fmla="*/ 55 w 929"/>
                <a:gd name="T57" fmla="*/ 1 h 462"/>
                <a:gd name="T58" fmla="*/ 55 w 929"/>
                <a:gd name="T59" fmla="*/ 1 h 462"/>
                <a:gd name="T60" fmla="*/ 55 w 929"/>
                <a:gd name="T61" fmla="*/ 1 h 462"/>
                <a:gd name="T62" fmla="*/ 58 w 929"/>
                <a:gd name="T63" fmla="*/ 1 h 462"/>
                <a:gd name="T64" fmla="*/ 61 w 929"/>
                <a:gd name="T65" fmla="*/ 1 h 462"/>
                <a:gd name="T66" fmla="*/ 64 w 929"/>
                <a:gd name="T67" fmla="*/ 1 h 462"/>
                <a:gd name="T68" fmla="*/ 62 w 929"/>
                <a:gd name="T69" fmla="*/ 1 h 462"/>
                <a:gd name="T70" fmla="*/ 58 w 929"/>
                <a:gd name="T71" fmla="*/ 1 h 462"/>
                <a:gd name="T72" fmla="*/ 55 w 929"/>
                <a:gd name="T73" fmla="*/ 1 h 462"/>
                <a:gd name="T74" fmla="*/ 46 w 929"/>
                <a:gd name="T75" fmla="*/ 1 h 462"/>
                <a:gd name="T76" fmla="*/ 40 w 929"/>
                <a:gd name="T77" fmla="*/ 1 h 462"/>
                <a:gd name="T78" fmla="*/ 40 w 929"/>
                <a:gd name="T79" fmla="*/ 1 h 462"/>
                <a:gd name="T80" fmla="*/ 35 w 929"/>
                <a:gd name="T81" fmla="*/ 1 h 462"/>
                <a:gd name="T82" fmla="*/ 34 w 929"/>
                <a:gd name="T83" fmla="*/ 1 h 462"/>
                <a:gd name="T84" fmla="*/ 29 w 929"/>
                <a:gd name="T85" fmla="*/ 1 h 462"/>
                <a:gd name="T86" fmla="*/ 25 w 929"/>
                <a:gd name="T87" fmla="*/ 1 h 462"/>
                <a:gd name="T88" fmla="*/ 29 w 929"/>
                <a:gd name="T89" fmla="*/ 1 h 462"/>
                <a:gd name="T90" fmla="*/ 24 w 929"/>
                <a:gd name="T91" fmla="*/ 1 h 462"/>
                <a:gd name="T92" fmla="*/ 23 w 929"/>
                <a:gd name="T93" fmla="*/ 1 h 462"/>
                <a:gd name="T94" fmla="*/ 22 w 929"/>
                <a:gd name="T95" fmla="*/ 1 h 462"/>
                <a:gd name="T96" fmla="*/ 16 w 929"/>
                <a:gd name="T97" fmla="*/ 1 h 462"/>
                <a:gd name="T98" fmla="*/ 11 w 929"/>
                <a:gd name="T99" fmla="*/ 1 h 462"/>
                <a:gd name="T100" fmla="*/ 8 w 929"/>
                <a:gd name="T101" fmla="*/ 1 h 462"/>
                <a:gd name="T102" fmla="*/ 8 w 929"/>
                <a:gd name="T103" fmla="*/ 1 h 462"/>
                <a:gd name="T104" fmla="*/ 8 w 929"/>
                <a:gd name="T105" fmla="*/ 1 h 462"/>
                <a:gd name="T106" fmla="*/ 4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29"/>
                <a:gd name="T163" fmla="*/ 0 h 462"/>
                <a:gd name="T164" fmla="*/ 929 w 929"/>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6" name="Freeform 30">
              <a:extLst>
                <a:ext uri="{FF2B5EF4-FFF2-40B4-BE49-F238E27FC236}">
                  <a16:creationId xmlns:a16="http://schemas.microsoft.com/office/drawing/2014/main" id="{114E6B82-3236-41F1-A47D-3FDDB05A9116}"/>
                </a:ext>
              </a:extLst>
            </p:cNvPr>
            <p:cNvSpPr>
              <a:spLocks noChangeArrowheads="1"/>
            </p:cNvSpPr>
            <p:nvPr/>
          </p:nvSpPr>
          <p:spPr bwMode="auto">
            <a:xfrm>
              <a:off x="1547" y="172"/>
              <a:ext cx="45" cy="22"/>
            </a:xfrm>
            <a:custGeom>
              <a:avLst/>
              <a:gdLst>
                <a:gd name="T0" fmla="*/ 3 w 52"/>
                <a:gd name="T1" fmla="*/ 0 h 32"/>
                <a:gd name="T2" fmla="*/ 3 w 52"/>
                <a:gd name="T3" fmla="*/ 1 h 32"/>
                <a:gd name="T4" fmla="*/ 3 w 52"/>
                <a:gd name="T5" fmla="*/ 1 h 32"/>
                <a:gd name="T6" fmla="*/ 3 w 52"/>
                <a:gd name="T7" fmla="*/ 1 h 32"/>
                <a:gd name="T8" fmla="*/ 3 w 52"/>
                <a:gd name="T9" fmla="*/ 0 h 32"/>
                <a:gd name="T10" fmla="*/ 0 60000 65536"/>
                <a:gd name="T11" fmla="*/ 0 60000 65536"/>
                <a:gd name="T12" fmla="*/ 0 60000 65536"/>
                <a:gd name="T13" fmla="*/ 0 60000 65536"/>
                <a:gd name="T14" fmla="*/ 0 60000 65536"/>
                <a:gd name="T15" fmla="*/ 0 w 52"/>
                <a:gd name="T16" fmla="*/ 0 h 32"/>
                <a:gd name="T17" fmla="*/ 52 w 52"/>
                <a:gd name="T18" fmla="*/ 32 h 32"/>
              </a:gdLst>
              <a:ahLst/>
              <a:cxnLst>
                <a:cxn ang="T10">
                  <a:pos x="T0" y="T1"/>
                </a:cxn>
                <a:cxn ang="T11">
                  <a:pos x="T2" y="T3"/>
                </a:cxn>
                <a:cxn ang="T12">
                  <a:pos x="T4" y="T5"/>
                </a:cxn>
                <a:cxn ang="T13">
                  <a:pos x="T6" y="T7"/>
                </a:cxn>
                <a:cxn ang="T14">
                  <a:pos x="T8" y="T9"/>
                </a:cxn>
              </a:cxnLst>
              <a:rect l="T15" t="T16" r="T17" b="T18"/>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7" name="Freeform 31">
              <a:extLst>
                <a:ext uri="{FF2B5EF4-FFF2-40B4-BE49-F238E27FC236}">
                  <a16:creationId xmlns:a16="http://schemas.microsoft.com/office/drawing/2014/main" id="{B839108B-CF76-4C8D-9B86-293BD13979D7}"/>
                </a:ext>
              </a:extLst>
            </p:cNvPr>
            <p:cNvSpPr>
              <a:spLocks noChangeArrowheads="1"/>
            </p:cNvSpPr>
            <p:nvPr/>
          </p:nvSpPr>
          <p:spPr bwMode="auto">
            <a:xfrm>
              <a:off x="1873" y="234"/>
              <a:ext cx="147" cy="50"/>
            </a:xfrm>
            <a:custGeom>
              <a:avLst/>
              <a:gdLst>
                <a:gd name="T0" fmla="*/ 6 w 172"/>
                <a:gd name="T1" fmla="*/ 1 h 72"/>
                <a:gd name="T2" fmla="*/ 4 w 172"/>
                <a:gd name="T3" fmla="*/ 1 h 72"/>
                <a:gd name="T4" fmla="*/ 3 w 172"/>
                <a:gd name="T5" fmla="*/ 0 h 72"/>
                <a:gd name="T6" fmla="*/ 0 w 172"/>
                <a:gd name="T7" fmla="*/ 1 h 72"/>
                <a:gd name="T8" fmla="*/ 3 w 172"/>
                <a:gd name="T9" fmla="*/ 1 h 72"/>
                <a:gd name="T10" fmla="*/ 3 w 172"/>
                <a:gd name="T11" fmla="*/ 1 h 72"/>
                <a:gd name="T12" fmla="*/ 4 w 172"/>
                <a:gd name="T13" fmla="*/ 1 h 72"/>
                <a:gd name="T14" fmla="*/ 5 w 172"/>
                <a:gd name="T15" fmla="*/ 1 h 72"/>
                <a:gd name="T16" fmla="*/ 8 w 172"/>
                <a:gd name="T17" fmla="*/ 1 h 72"/>
                <a:gd name="T18" fmla="*/ 11 w 172"/>
                <a:gd name="T19" fmla="*/ 1 h 72"/>
                <a:gd name="T20" fmla="*/ 9 w 172"/>
                <a:gd name="T21" fmla="*/ 1 h 72"/>
                <a:gd name="T22" fmla="*/ 8 w 172"/>
                <a:gd name="T23" fmla="*/ 1 h 72"/>
                <a:gd name="T24" fmla="*/ 6 w 172"/>
                <a:gd name="T25" fmla="*/ 1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2"/>
                <a:gd name="T40" fmla="*/ 0 h 72"/>
                <a:gd name="T41" fmla="*/ 172 w 172"/>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8" name="Freeform 32">
              <a:extLst>
                <a:ext uri="{FF2B5EF4-FFF2-40B4-BE49-F238E27FC236}">
                  <a16:creationId xmlns:a16="http://schemas.microsoft.com/office/drawing/2014/main" id="{29955074-AFE8-4D17-8C07-E5EDE4A9F276}"/>
                </a:ext>
              </a:extLst>
            </p:cNvPr>
            <p:cNvSpPr>
              <a:spLocks noChangeArrowheads="1"/>
            </p:cNvSpPr>
            <p:nvPr/>
          </p:nvSpPr>
          <p:spPr bwMode="auto">
            <a:xfrm>
              <a:off x="1989" y="81"/>
              <a:ext cx="45" cy="23"/>
            </a:xfrm>
            <a:custGeom>
              <a:avLst/>
              <a:gdLst>
                <a:gd name="T0" fmla="*/ 3 w 52"/>
                <a:gd name="T1" fmla="*/ 0 h 32"/>
                <a:gd name="T2" fmla="*/ 3 w 52"/>
                <a:gd name="T3" fmla="*/ 1 h 32"/>
                <a:gd name="T4" fmla="*/ 3 w 52"/>
                <a:gd name="T5" fmla="*/ 1 h 32"/>
                <a:gd name="T6" fmla="*/ 3 w 52"/>
                <a:gd name="T7" fmla="*/ 1 h 32"/>
                <a:gd name="T8" fmla="*/ 3 w 52"/>
                <a:gd name="T9" fmla="*/ 0 h 32"/>
                <a:gd name="T10" fmla="*/ 0 60000 65536"/>
                <a:gd name="T11" fmla="*/ 0 60000 65536"/>
                <a:gd name="T12" fmla="*/ 0 60000 65536"/>
                <a:gd name="T13" fmla="*/ 0 60000 65536"/>
                <a:gd name="T14" fmla="*/ 0 60000 65536"/>
                <a:gd name="T15" fmla="*/ 0 w 52"/>
                <a:gd name="T16" fmla="*/ 0 h 32"/>
                <a:gd name="T17" fmla="*/ 52 w 52"/>
                <a:gd name="T18" fmla="*/ 32 h 32"/>
              </a:gdLst>
              <a:ahLst/>
              <a:cxnLst>
                <a:cxn ang="T10">
                  <a:pos x="T0" y="T1"/>
                </a:cxn>
                <a:cxn ang="T11">
                  <a:pos x="T2" y="T3"/>
                </a:cxn>
                <a:cxn ang="T12">
                  <a:pos x="T4" y="T5"/>
                </a:cxn>
                <a:cxn ang="T13">
                  <a:pos x="T6" y="T7"/>
                </a:cxn>
                <a:cxn ang="T14">
                  <a:pos x="T8" y="T9"/>
                </a:cxn>
              </a:cxnLst>
              <a:rect l="T15" t="T16" r="T17" b="T18"/>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9" name="Freeform 33">
              <a:extLst>
                <a:ext uri="{FF2B5EF4-FFF2-40B4-BE49-F238E27FC236}">
                  <a16:creationId xmlns:a16="http://schemas.microsoft.com/office/drawing/2014/main" id="{3A56B9EC-6832-4FB7-91E8-552FDC4D37B9}"/>
                </a:ext>
              </a:extLst>
            </p:cNvPr>
            <p:cNvSpPr>
              <a:spLocks noChangeArrowheads="1"/>
            </p:cNvSpPr>
            <p:nvPr/>
          </p:nvSpPr>
          <p:spPr bwMode="auto">
            <a:xfrm>
              <a:off x="2298" y="51"/>
              <a:ext cx="178" cy="59"/>
            </a:xfrm>
            <a:custGeom>
              <a:avLst/>
              <a:gdLst>
                <a:gd name="T0" fmla="*/ 14 w 206"/>
                <a:gd name="T1" fmla="*/ 1 h 85"/>
                <a:gd name="T2" fmla="*/ 8 w 206"/>
                <a:gd name="T3" fmla="*/ 1 h 85"/>
                <a:gd name="T4" fmla="*/ 8 w 206"/>
                <a:gd name="T5" fmla="*/ 1 h 85"/>
                <a:gd name="T6" fmla="*/ 8 w 206"/>
                <a:gd name="T7" fmla="*/ 1 h 85"/>
                <a:gd name="T8" fmla="*/ 7 w 206"/>
                <a:gd name="T9" fmla="*/ 1 h 85"/>
                <a:gd name="T10" fmla="*/ 6 w 206"/>
                <a:gd name="T11" fmla="*/ 1 h 85"/>
                <a:gd name="T12" fmla="*/ 3 w 206"/>
                <a:gd name="T13" fmla="*/ 1 h 85"/>
                <a:gd name="T14" fmla="*/ 3 w 206"/>
                <a:gd name="T15" fmla="*/ 1 h 85"/>
                <a:gd name="T16" fmla="*/ 3 w 206"/>
                <a:gd name="T17" fmla="*/ 1 h 85"/>
                <a:gd name="T18" fmla="*/ 5 w 206"/>
                <a:gd name="T19" fmla="*/ 1 h 85"/>
                <a:gd name="T20" fmla="*/ 7 w 206"/>
                <a:gd name="T21" fmla="*/ 1 h 85"/>
                <a:gd name="T22" fmla="*/ 8 w 206"/>
                <a:gd name="T23" fmla="*/ 1 h 85"/>
                <a:gd name="T24" fmla="*/ 9 w 206"/>
                <a:gd name="T25" fmla="*/ 1 h 85"/>
                <a:gd name="T26" fmla="*/ 9 w 206"/>
                <a:gd name="T27" fmla="*/ 1 h 85"/>
                <a:gd name="T28" fmla="*/ 12 w 206"/>
                <a:gd name="T29" fmla="*/ 1 h 85"/>
                <a:gd name="T30" fmla="*/ 14 w 206"/>
                <a:gd name="T31" fmla="*/ 1 h 85"/>
                <a:gd name="T32" fmla="*/ 14 w 206"/>
                <a:gd name="T33" fmla="*/ 1 h 85"/>
                <a:gd name="T34" fmla="*/ 14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6"/>
                <a:gd name="T55" fmla="*/ 0 h 85"/>
                <a:gd name="T56" fmla="*/ 206 w 206"/>
                <a:gd name="T57" fmla="*/ 85 h 8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0" name="Freeform 34">
              <a:extLst>
                <a:ext uri="{FF2B5EF4-FFF2-40B4-BE49-F238E27FC236}">
                  <a16:creationId xmlns:a16="http://schemas.microsoft.com/office/drawing/2014/main" id="{28472747-D2C5-47A5-97F7-FBF05ECDC02E}"/>
                </a:ext>
              </a:extLst>
            </p:cNvPr>
            <p:cNvSpPr>
              <a:spLocks noChangeArrowheads="1"/>
            </p:cNvSpPr>
            <p:nvPr/>
          </p:nvSpPr>
          <p:spPr bwMode="auto">
            <a:xfrm>
              <a:off x="2410" y="82"/>
              <a:ext cx="55" cy="20"/>
            </a:xfrm>
            <a:custGeom>
              <a:avLst/>
              <a:gdLst>
                <a:gd name="T0" fmla="*/ 3 w 64"/>
                <a:gd name="T1" fmla="*/ 1 h 28"/>
                <a:gd name="T2" fmla="*/ 3 w 64"/>
                <a:gd name="T3" fmla="*/ 1 h 28"/>
                <a:gd name="T4" fmla="*/ 3 w 64"/>
                <a:gd name="T5" fmla="*/ 1 h 28"/>
                <a:gd name="T6" fmla="*/ 3 w 64"/>
                <a:gd name="T7" fmla="*/ 1 h 28"/>
                <a:gd name="T8" fmla="*/ 3 w 64"/>
                <a:gd name="T9" fmla="*/ 1 h 28"/>
                <a:gd name="T10" fmla="*/ 0 60000 65536"/>
                <a:gd name="T11" fmla="*/ 0 60000 65536"/>
                <a:gd name="T12" fmla="*/ 0 60000 65536"/>
                <a:gd name="T13" fmla="*/ 0 60000 65536"/>
                <a:gd name="T14" fmla="*/ 0 60000 65536"/>
                <a:gd name="T15" fmla="*/ 0 w 64"/>
                <a:gd name="T16" fmla="*/ 0 h 28"/>
                <a:gd name="T17" fmla="*/ 64 w 64"/>
                <a:gd name="T18" fmla="*/ 28 h 28"/>
              </a:gdLst>
              <a:ahLst/>
              <a:cxnLst>
                <a:cxn ang="T10">
                  <a:pos x="T0" y="T1"/>
                </a:cxn>
                <a:cxn ang="T11">
                  <a:pos x="T2" y="T3"/>
                </a:cxn>
                <a:cxn ang="T12">
                  <a:pos x="T4" y="T5"/>
                </a:cxn>
                <a:cxn ang="T13">
                  <a:pos x="T6" y="T7"/>
                </a:cxn>
                <a:cxn ang="T14">
                  <a:pos x="T8" y="T9"/>
                </a:cxn>
              </a:cxnLst>
              <a:rect l="T15" t="T16" r="T17" b="T18"/>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1" name="Freeform 35">
              <a:extLst>
                <a:ext uri="{FF2B5EF4-FFF2-40B4-BE49-F238E27FC236}">
                  <a16:creationId xmlns:a16="http://schemas.microsoft.com/office/drawing/2014/main" id="{D0984521-510F-47A1-8908-827E33350341}"/>
                </a:ext>
              </a:extLst>
            </p:cNvPr>
            <p:cNvSpPr>
              <a:spLocks noChangeArrowheads="1"/>
            </p:cNvSpPr>
            <p:nvPr/>
          </p:nvSpPr>
          <p:spPr bwMode="auto">
            <a:xfrm>
              <a:off x="2074" y="337"/>
              <a:ext cx="125" cy="123"/>
            </a:xfrm>
            <a:custGeom>
              <a:avLst/>
              <a:gdLst>
                <a:gd name="T0" fmla="*/ 3 w 146"/>
                <a:gd name="T1" fmla="*/ 1 h 176"/>
                <a:gd name="T2" fmla="*/ 0 w 146"/>
                <a:gd name="T3" fmla="*/ 1 h 176"/>
                <a:gd name="T4" fmla="*/ 3 w 146"/>
                <a:gd name="T5" fmla="*/ 1 h 176"/>
                <a:gd name="T6" fmla="*/ 3 w 146"/>
                <a:gd name="T7" fmla="*/ 1 h 176"/>
                <a:gd name="T8" fmla="*/ 3 w 146"/>
                <a:gd name="T9" fmla="*/ 1 h 176"/>
                <a:gd name="T10" fmla="*/ 3 w 146"/>
                <a:gd name="T11" fmla="*/ 1 h 176"/>
                <a:gd name="T12" fmla="*/ 3 w 146"/>
                <a:gd name="T13" fmla="*/ 1 h 176"/>
                <a:gd name="T14" fmla="*/ 3 w 146"/>
                <a:gd name="T15" fmla="*/ 1 h 176"/>
                <a:gd name="T16" fmla="*/ 3 w 146"/>
                <a:gd name="T17" fmla="*/ 1 h 176"/>
                <a:gd name="T18" fmla="*/ 3 w 146"/>
                <a:gd name="T19" fmla="*/ 1 h 176"/>
                <a:gd name="T20" fmla="*/ 3 w 146"/>
                <a:gd name="T21" fmla="*/ 1 h 176"/>
                <a:gd name="T22" fmla="*/ 3 w 146"/>
                <a:gd name="T23" fmla="*/ 1 h 176"/>
                <a:gd name="T24" fmla="*/ 3 w 146"/>
                <a:gd name="T25" fmla="*/ 1 h 176"/>
                <a:gd name="T26" fmla="*/ 3 w 146"/>
                <a:gd name="T27" fmla="*/ 1 h 176"/>
                <a:gd name="T28" fmla="*/ 6 w 146"/>
                <a:gd name="T29" fmla="*/ 1 h 176"/>
                <a:gd name="T30" fmla="*/ 7 w 146"/>
                <a:gd name="T31" fmla="*/ 1 h 176"/>
                <a:gd name="T32" fmla="*/ 8 w 146"/>
                <a:gd name="T33" fmla="*/ 1 h 176"/>
                <a:gd name="T34" fmla="*/ 8 w 146"/>
                <a:gd name="T35" fmla="*/ 1 h 176"/>
                <a:gd name="T36" fmla="*/ 9 w 146"/>
                <a:gd name="T37" fmla="*/ 1 h 176"/>
                <a:gd name="T38" fmla="*/ 7 w 146"/>
                <a:gd name="T39" fmla="*/ 1 h 176"/>
                <a:gd name="T40" fmla="*/ 5 w 146"/>
                <a:gd name="T41" fmla="*/ 1 h 176"/>
                <a:gd name="T42" fmla="*/ 5 w 146"/>
                <a:gd name="T43" fmla="*/ 1 h 176"/>
                <a:gd name="T44" fmla="*/ 3 w 146"/>
                <a:gd name="T45" fmla="*/ 1 h 176"/>
                <a:gd name="T46" fmla="*/ 5 w 146"/>
                <a:gd name="T47" fmla="*/ 1 h 176"/>
                <a:gd name="T48" fmla="*/ 3 w 146"/>
                <a:gd name="T49" fmla="*/ 1 h 176"/>
                <a:gd name="T50" fmla="*/ 4 w 146"/>
                <a:gd name="T51" fmla="*/ 1 h 176"/>
                <a:gd name="T52" fmla="*/ 3 w 146"/>
                <a:gd name="T53" fmla="*/ 1 h 176"/>
                <a:gd name="T54" fmla="*/ 3 w 146"/>
                <a:gd name="T55" fmla="*/ 1 h 176"/>
                <a:gd name="T56" fmla="*/ 3 w 146"/>
                <a:gd name="T57" fmla="*/ 1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6"/>
                <a:gd name="T88" fmla="*/ 0 h 176"/>
                <a:gd name="T89" fmla="*/ 146 w 146"/>
                <a:gd name="T90" fmla="*/ 176 h 1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2" name="Freeform 36">
              <a:extLst>
                <a:ext uri="{FF2B5EF4-FFF2-40B4-BE49-F238E27FC236}">
                  <a16:creationId xmlns:a16="http://schemas.microsoft.com/office/drawing/2014/main" id="{1341B18C-191B-4288-9F93-2B5091AC099D}"/>
                </a:ext>
              </a:extLst>
            </p:cNvPr>
            <p:cNvSpPr>
              <a:spLocks noChangeArrowheads="1"/>
            </p:cNvSpPr>
            <p:nvPr/>
          </p:nvSpPr>
          <p:spPr bwMode="auto">
            <a:xfrm>
              <a:off x="2012" y="381"/>
              <a:ext cx="79" cy="64"/>
            </a:xfrm>
            <a:custGeom>
              <a:avLst/>
              <a:gdLst>
                <a:gd name="T0" fmla="*/ 3 w 92"/>
                <a:gd name="T1" fmla="*/ 1 h 92"/>
                <a:gd name="T2" fmla="*/ 5 w 92"/>
                <a:gd name="T3" fmla="*/ 1 h 92"/>
                <a:gd name="T4" fmla="*/ 6 w 92"/>
                <a:gd name="T5" fmla="*/ 1 h 92"/>
                <a:gd name="T6" fmla="*/ 5 w 92"/>
                <a:gd name="T7" fmla="*/ 1 h 92"/>
                <a:gd name="T8" fmla="*/ 3 w 92"/>
                <a:gd name="T9" fmla="*/ 1 h 92"/>
                <a:gd name="T10" fmla="*/ 3 w 92"/>
                <a:gd name="T11" fmla="*/ 1 h 92"/>
                <a:gd name="T12" fmla="*/ 3 w 92"/>
                <a:gd name="T13" fmla="*/ 1 h 92"/>
                <a:gd name="T14" fmla="*/ 3 w 92"/>
                <a:gd name="T15" fmla="*/ 1 h 92"/>
                <a:gd name="T16" fmla="*/ 3 w 92"/>
                <a:gd name="T17" fmla="*/ 1 h 92"/>
                <a:gd name="T18" fmla="*/ 3 w 92"/>
                <a:gd name="T19" fmla="*/ 1 h 92"/>
                <a:gd name="T20" fmla="*/ 3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92"/>
                <a:gd name="T35" fmla="*/ 92 w 92"/>
                <a:gd name="T36" fmla="*/ 92 h 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3" name="Freeform 37">
              <a:extLst>
                <a:ext uri="{FF2B5EF4-FFF2-40B4-BE49-F238E27FC236}">
                  <a16:creationId xmlns:a16="http://schemas.microsoft.com/office/drawing/2014/main" id="{7980AA24-CA1B-41E2-A5A2-F4F573E0B7AB}"/>
                </a:ext>
              </a:extLst>
            </p:cNvPr>
            <p:cNvSpPr>
              <a:spLocks noChangeArrowheads="1"/>
            </p:cNvSpPr>
            <p:nvPr/>
          </p:nvSpPr>
          <p:spPr bwMode="auto">
            <a:xfrm>
              <a:off x="3951" y="1450"/>
              <a:ext cx="545" cy="463"/>
            </a:xfrm>
            <a:custGeom>
              <a:avLst/>
              <a:gdLst>
                <a:gd name="T0" fmla="*/ 14 w 633"/>
                <a:gd name="T1" fmla="*/ 1 h 660"/>
                <a:gd name="T2" fmla="*/ 12 w 633"/>
                <a:gd name="T3" fmla="*/ 1 h 660"/>
                <a:gd name="T4" fmla="*/ 9 w 633"/>
                <a:gd name="T5" fmla="*/ 1 h 660"/>
                <a:gd name="T6" fmla="*/ 7 w 633"/>
                <a:gd name="T7" fmla="*/ 1 h 660"/>
                <a:gd name="T8" fmla="*/ 6 w 633"/>
                <a:gd name="T9" fmla="*/ 1 h 660"/>
                <a:gd name="T10" fmla="*/ 4 w 633"/>
                <a:gd name="T11" fmla="*/ 1 h 660"/>
                <a:gd name="T12" fmla="*/ 3 w 633"/>
                <a:gd name="T13" fmla="*/ 1 h 660"/>
                <a:gd name="T14" fmla="*/ 0 w 633"/>
                <a:gd name="T15" fmla="*/ 1 h 660"/>
                <a:gd name="T16" fmla="*/ 5 w 633"/>
                <a:gd name="T17" fmla="*/ 1 h 660"/>
                <a:gd name="T18" fmla="*/ 8 w 633"/>
                <a:gd name="T19" fmla="*/ 1 h 660"/>
                <a:gd name="T20" fmla="*/ 9 w 633"/>
                <a:gd name="T21" fmla="*/ 1 h 660"/>
                <a:gd name="T22" fmla="*/ 11 w 633"/>
                <a:gd name="T23" fmla="*/ 1 h 660"/>
                <a:gd name="T24" fmla="*/ 15 w 633"/>
                <a:gd name="T25" fmla="*/ 1 h 660"/>
                <a:gd name="T26" fmla="*/ 17 w 633"/>
                <a:gd name="T27" fmla="*/ 1 h 660"/>
                <a:gd name="T28" fmla="*/ 20 w 633"/>
                <a:gd name="T29" fmla="*/ 1 h 660"/>
                <a:gd name="T30" fmla="*/ 22 w 633"/>
                <a:gd name="T31" fmla="*/ 1 h 660"/>
                <a:gd name="T32" fmla="*/ 22 w 633"/>
                <a:gd name="T33" fmla="*/ 1 h 660"/>
                <a:gd name="T34" fmla="*/ 23 w 633"/>
                <a:gd name="T35" fmla="*/ 1 h 660"/>
                <a:gd name="T36" fmla="*/ 25 w 633"/>
                <a:gd name="T37" fmla="*/ 1 h 660"/>
                <a:gd name="T38" fmla="*/ 27 w 633"/>
                <a:gd name="T39" fmla="*/ 1 h 660"/>
                <a:gd name="T40" fmla="*/ 29 w 633"/>
                <a:gd name="T41" fmla="*/ 1 h 660"/>
                <a:gd name="T42" fmla="*/ 29 w 633"/>
                <a:gd name="T43" fmla="*/ 1 h 660"/>
                <a:gd name="T44" fmla="*/ 30 w 633"/>
                <a:gd name="T45" fmla="*/ 1 h 660"/>
                <a:gd name="T46" fmla="*/ 33 w 633"/>
                <a:gd name="T47" fmla="*/ 1 h 660"/>
                <a:gd name="T48" fmla="*/ 34 w 633"/>
                <a:gd name="T49" fmla="*/ 1 h 660"/>
                <a:gd name="T50" fmla="*/ 36 w 633"/>
                <a:gd name="T51" fmla="*/ 1 h 660"/>
                <a:gd name="T52" fmla="*/ 40 w 633"/>
                <a:gd name="T53" fmla="*/ 1 h 660"/>
                <a:gd name="T54" fmla="*/ 41 w 633"/>
                <a:gd name="T55" fmla="*/ 1 h 660"/>
                <a:gd name="T56" fmla="*/ 42 w 633"/>
                <a:gd name="T57" fmla="*/ 1 h 660"/>
                <a:gd name="T58" fmla="*/ 42 w 633"/>
                <a:gd name="T59" fmla="*/ 1 h 660"/>
                <a:gd name="T60" fmla="*/ 36 w 633"/>
                <a:gd name="T61" fmla="*/ 1 h 660"/>
                <a:gd name="T62" fmla="*/ 35 w 633"/>
                <a:gd name="T63" fmla="*/ 1 h 660"/>
                <a:gd name="T64" fmla="*/ 31 w 633"/>
                <a:gd name="T65" fmla="*/ 1 h 660"/>
                <a:gd name="T66" fmla="*/ 31 w 633"/>
                <a:gd name="T67" fmla="*/ 1 h 660"/>
                <a:gd name="T68" fmla="*/ 30 w 633"/>
                <a:gd name="T69" fmla="*/ 1 h 660"/>
                <a:gd name="T70" fmla="*/ 28 w 633"/>
                <a:gd name="T71" fmla="*/ 1 h 660"/>
                <a:gd name="T72" fmla="*/ 26 w 633"/>
                <a:gd name="T73" fmla="*/ 1 h 660"/>
                <a:gd name="T74" fmla="*/ 26 w 633"/>
                <a:gd name="T75" fmla="*/ 1 h 660"/>
                <a:gd name="T76" fmla="*/ 25 w 633"/>
                <a:gd name="T77" fmla="*/ 1 h 660"/>
                <a:gd name="T78" fmla="*/ 22 w 633"/>
                <a:gd name="T79" fmla="*/ 1 h 660"/>
                <a:gd name="T80" fmla="*/ 19 w 633"/>
                <a:gd name="T81" fmla="*/ 1 h 660"/>
                <a:gd name="T82" fmla="*/ 19 w 633"/>
                <a:gd name="T83" fmla="*/ 1 h 660"/>
                <a:gd name="T84" fmla="*/ 18 w 633"/>
                <a:gd name="T85" fmla="*/ 1 h 660"/>
                <a:gd name="T86" fmla="*/ 19 w 633"/>
                <a:gd name="T87" fmla="*/ 1 h 660"/>
                <a:gd name="T88" fmla="*/ 16 w 633"/>
                <a:gd name="T89" fmla="*/ 1 h 660"/>
                <a:gd name="T90" fmla="*/ 14 w 633"/>
                <a:gd name="T91" fmla="*/ 1 h 660"/>
                <a:gd name="T92" fmla="*/ 14 w 633"/>
                <a:gd name="T93" fmla="*/ 1 h 660"/>
                <a:gd name="T94" fmla="*/ 14 w 633"/>
                <a:gd name="T95" fmla="*/ 1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33"/>
                <a:gd name="T145" fmla="*/ 0 h 660"/>
                <a:gd name="T146" fmla="*/ 633 w 633"/>
                <a:gd name="T147" fmla="*/ 660 h 66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4" name="Freeform 38">
              <a:extLst>
                <a:ext uri="{FF2B5EF4-FFF2-40B4-BE49-F238E27FC236}">
                  <a16:creationId xmlns:a16="http://schemas.microsoft.com/office/drawing/2014/main" id="{AC0E2579-0D34-4922-B4DD-B8A088E451A8}"/>
                </a:ext>
              </a:extLst>
            </p:cNvPr>
            <p:cNvSpPr>
              <a:spLocks noChangeArrowheads="1"/>
            </p:cNvSpPr>
            <p:nvPr/>
          </p:nvSpPr>
          <p:spPr bwMode="auto">
            <a:xfrm>
              <a:off x="4120" y="1206"/>
              <a:ext cx="367" cy="196"/>
            </a:xfrm>
            <a:custGeom>
              <a:avLst/>
              <a:gdLst>
                <a:gd name="T0" fmla="*/ 6 w 426"/>
                <a:gd name="T1" fmla="*/ 1 h 280"/>
                <a:gd name="T2" fmla="*/ 5 w 426"/>
                <a:gd name="T3" fmla="*/ 1 h 280"/>
                <a:gd name="T4" fmla="*/ 4 w 426"/>
                <a:gd name="T5" fmla="*/ 1 h 280"/>
                <a:gd name="T6" fmla="*/ 3 w 426"/>
                <a:gd name="T7" fmla="*/ 1 h 280"/>
                <a:gd name="T8" fmla="*/ 3 w 426"/>
                <a:gd name="T9" fmla="*/ 1 h 280"/>
                <a:gd name="T10" fmla="*/ 3 w 426"/>
                <a:gd name="T11" fmla="*/ 1 h 280"/>
                <a:gd name="T12" fmla="*/ 3 w 426"/>
                <a:gd name="T13" fmla="*/ 1 h 280"/>
                <a:gd name="T14" fmla="*/ 3 w 426"/>
                <a:gd name="T15" fmla="*/ 1 h 280"/>
                <a:gd name="T16" fmla="*/ 6 w 426"/>
                <a:gd name="T17" fmla="*/ 1 h 280"/>
                <a:gd name="T18" fmla="*/ 9 w 426"/>
                <a:gd name="T19" fmla="*/ 1 h 280"/>
                <a:gd name="T20" fmla="*/ 9 w 426"/>
                <a:gd name="T21" fmla="*/ 1 h 280"/>
                <a:gd name="T22" fmla="*/ 10 w 426"/>
                <a:gd name="T23" fmla="*/ 1 h 280"/>
                <a:gd name="T24" fmla="*/ 10 w 426"/>
                <a:gd name="T25" fmla="*/ 1 h 280"/>
                <a:gd name="T26" fmla="*/ 9 w 426"/>
                <a:gd name="T27" fmla="*/ 1 h 280"/>
                <a:gd name="T28" fmla="*/ 12 w 426"/>
                <a:gd name="T29" fmla="*/ 1 h 280"/>
                <a:gd name="T30" fmla="*/ 14 w 426"/>
                <a:gd name="T31" fmla="*/ 1 h 280"/>
                <a:gd name="T32" fmla="*/ 15 w 426"/>
                <a:gd name="T33" fmla="*/ 1 h 280"/>
                <a:gd name="T34" fmla="*/ 16 w 426"/>
                <a:gd name="T35" fmla="*/ 1 h 280"/>
                <a:gd name="T36" fmla="*/ 17 w 426"/>
                <a:gd name="T37" fmla="*/ 1 h 280"/>
                <a:gd name="T38" fmla="*/ 19 w 426"/>
                <a:gd name="T39" fmla="*/ 1 h 280"/>
                <a:gd name="T40" fmla="*/ 22 w 426"/>
                <a:gd name="T41" fmla="*/ 1 h 280"/>
                <a:gd name="T42" fmla="*/ 25 w 426"/>
                <a:gd name="T43" fmla="*/ 1 h 280"/>
                <a:gd name="T44" fmla="*/ 25 w 426"/>
                <a:gd name="T45" fmla="*/ 1 h 280"/>
                <a:gd name="T46" fmla="*/ 22 w 426"/>
                <a:gd name="T47" fmla="*/ 1 h 280"/>
                <a:gd name="T48" fmla="*/ 25 w 426"/>
                <a:gd name="T49" fmla="*/ 1 h 280"/>
                <a:gd name="T50" fmla="*/ 28 w 426"/>
                <a:gd name="T51" fmla="*/ 1 h 280"/>
                <a:gd name="T52" fmla="*/ 29 w 426"/>
                <a:gd name="T53" fmla="*/ 1 h 280"/>
                <a:gd name="T54" fmla="*/ 29 w 426"/>
                <a:gd name="T55" fmla="*/ 1 h 280"/>
                <a:gd name="T56" fmla="*/ 25 w 426"/>
                <a:gd name="T57" fmla="*/ 1 h 280"/>
                <a:gd name="T58" fmla="*/ 21 w 426"/>
                <a:gd name="T59" fmla="*/ 1 h 280"/>
                <a:gd name="T60" fmla="*/ 21 w 426"/>
                <a:gd name="T61" fmla="*/ 1 h 280"/>
                <a:gd name="T62" fmla="*/ 20 w 426"/>
                <a:gd name="T63" fmla="*/ 1 h 280"/>
                <a:gd name="T64" fmla="*/ 16 w 426"/>
                <a:gd name="T65" fmla="*/ 1 h 280"/>
                <a:gd name="T66" fmla="*/ 11 w 426"/>
                <a:gd name="T67" fmla="*/ 1 h 280"/>
                <a:gd name="T68" fmla="*/ 9 w 426"/>
                <a:gd name="T69" fmla="*/ 1 h 280"/>
                <a:gd name="T70" fmla="*/ 6 w 426"/>
                <a:gd name="T71" fmla="*/ 1 h 280"/>
                <a:gd name="T72" fmla="*/ 5 w 426"/>
                <a:gd name="T73" fmla="*/ 1 h 280"/>
                <a:gd name="T74" fmla="*/ 5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6"/>
                <a:gd name="T115" fmla="*/ 0 h 280"/>
                <a:gd name="T116" fmla="*/ 426 w 426"/>
                <a:gd name="T117" fmla="*/ 280 h 2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5" name="Freeform 39">
              <a:extLst>
                <a:ext uri="{FF2B5EF4-FFF2-40B4-BE49-F238E27FC236}">
                  <a16:creationId xmlns:a16="http://schemas.microsoft.com/office/drawing/2014/main" id="{5A275E20-40C9-4BB0-A485-E52E9106CE08}"/>
                </a:ext>
              </a:extLst>
            </p:cNvPr>
            <p:cNvSpPr>
              <a:spLocks noChangeArrowheads="1"/>
            </p:cNvSpPr>
            <p:nvPr/>
          </p:nvSpPr>
          <p:spPr bwMode="auto">
            <a:xfrm>
              <a:off x="4395" y="1928"/>
              <a:ext cx="52" cy="54"/>
            </a:xfrm>
            <a:custGeom>
              <a:avLst/>
              <a:gdLst>
                <a:gd name="T0" fmla="*/ 3 w 60"/>
                <a:gd name="T1" fmla="*/ 1 h 78"/>
                <a:gd name="T2" fmla="*/ 0 w 60"/>
                <a:gd name="T3" fmla="*/ 1 h 78"/>
                <a:gd name="T4" fmla="*/ 3 w 60"/>
                <a:gd name="T5" fmla="*/ 1 h 78"/>
                <a:gd name="T6" fmla="*/ 3 w 60"/>
                <a:gd name="T7" fmla="*/ 1 h 78"/>
                <a:gd name="T8" fmla="*/ 3 w 60"/>
                <a:gd name="T9" fmla="*/ 1 h 78"/>
                <a:gd name="T10" fmla="*/ 4 w 60"/>
                <a:gd name="T11" fmla="*/ 1 h 78"/>
                <a:gd name="T12" fmla="*/ 3 w 60"/>
                <a:gd name="T13" fmla="*/ 1 h 78"/>
                <a:gd name="T14" fmla="*/ 0 60000 65536"/>
                <a:gd name="T15" fmla="*/ 0 60000 65536"/>
                <a:gd name="T16" fmla="*/ 0 60000 65536"/>
                <a:gd name="T17" fmla="*/ 0 60000 65536"/>
                <a:gd name="T18" fmla="*/ 0 60000 65536"/>
                <a:gd name="T19" fmla="*/ 0 60000 65536"/>
                <a:gd name="T20" fmla="*/ 0 60000 65536"/>
                <a:gd name="T21" fmla="*/ 0 w 60"/>
                <a:gd name="T22" fmla="*/ 0 h 78"/>
                <a:gd name="T23" fmla="*/ 60 w 60"/>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6" name="Freeform 40">
              <a:extLst>
                <a:ext uri="{FF2B5EF4-FFF2-40B4-BE49-F238E27FC236}">
                  <a16:creationId xmlns:a16="http://schemas.microsoft.com/office/drawing/2014/main" id="{6F847E5C-B8C4-4A80-AABA-54D7BEA202FC}"/>
                </a:ext>
              </a:extLst>
            </p:cNvPr>
            <p:cNvSpPr>
              <a:spLocks noChangeArrowheads="1"/>
            </p:cNvSpPr>
            <p:nvPr/>
          </p:nvSpPr>
          <p:spPr bwMode="auto">
            <a:xfrm>
              <a:off x="4551" y="1844"/>
              <a:ext cx="189" cy="79"/>
            </a:xfrm>
            <a:custGeom>
              <a:avLst/>
              <a:gdLst>
                <a:gd name="T0" fmla="*/ 3 w 219"/>
                <a:gd name="T1" fmla="*/ 1 h 113"/>
                <a:gd name="T2" fmla="*/ 3 w 219"/>
                <a:gd name="T3" fmla="*/ 1 h 113"/>
                <a:gd name="T4" fmla="*/ 3 w 219"/>
                <a:gd name="T5" fmla="*/ 1 h 113"/>
                <a:gd name="T6" fmla="*/ 3 w 219"/>
                <a:gd name="T7" fmla="*/ 1 h 113"/>
                <a:gd name="T8" fmla="*/ 9 w 219"/>
                <a:gd name="T9" fmla="*/ 1 h 113"/>
                <a:gd name="T10" fmla="*/ 10 w 219"/>
                <a:gd name="T11" fmla="*/ 1 h 113"/>
                <a:gd name="T12" fmla="*/ 12 w 219"/>
                <a:gd name="T13" fmla="*/ 1 h 113"/>
                <a:gd name="T14" fmla="*/ 16 w 219"/>
                <a:gd name="T15" fmla="*/ 1 h 113"/>
                <a:gd name="T16" fmla="*/ 14 w 219"/>
                <a:gd name="T17" fmla="*/ 0 h 113"/>
                <a:gd name="T18" fmla="*/ 12 w 219"/>
                <a:gd name="T19" fmla="*/ 1 h 113"/>
                <a:gd name="T20" fmla="*/ 8 w 219"/>
                <a:gd name="T21" fmla="*/ 1 h 113"/>
                <a:gd name="T22" fmla="*/ 6 w 219"/>
                <a:gd name="T23" fmla="*/ 1 h 113"/>
                <a:gd name="T24" fmla="*/ 4 w 219"/>
                <a:gd name="T25" fmla="*/ 1 h 113"/>
                <a:gd name="T26" fmla="*/ 3 w 219"/>
                <a:gd name="T27" fmla="*/ 1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9"/>
                <a:gd name="T43" fmla="*/ 0 h 113"/>
                <a:gd name="T44" fmla="*/ 219 w 219"/>
                <a:gd name="T45" fmla="*/ 113 h 1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7" name="Freeform 41">
              <a:extLst>
                <a:ext uri="{FF2B5EF4-FFF2-40B4-BE49-F238E27FC236}">
                  <a16:creationId xmlns:a16="http://schemas.microsoft.com/office/drawing/2014/main" id="{303D885B-5624-4CED-B092-DA5D5E290A1D}"/>
                </a:ext>
              </a:extLst>
            </p:cNvPr>
            <p:cNvSpPr>
              <a:spLocks noChangeArrowheads="1"/>
            </p:cNvSpPr>
            <p:nvPr/>
          </p:nvSpPr>
          <p:spPr bwMode="auto">
            <a:xfrm>
              <a:off x="4747" y="1797"/>
              <a:ext cx="119" cy="86"/>
            </a:xfrm>
            <a:custGeom>
              <a:avLst/>
              <a:gdLst>
                <a:gd name="T0" fmla="*/ 3 w 139"/>
                <a:gd name="T1" fmla="*/ 1 h 122"/>
                <a:gd name="T2" fmla="*/ 3 w 139"/>
                <a:gd name="T3" fmla="*/ 1 h 122"/>
                <a:gd name="T4" fmla="*/ 0 w 139"/>
                <a:gd name="T5" fmla="*/ 1 h 122"/>
                <a:gd name="T6" fmla="*/ 3 w 139"/>
                <a:gd name="T7" fmla="*/ 1 h 122"/>
                <a:gd name="T8" fmla="*/ 3 w 139"/>
                <a:gd name="T9" fmla="*/ 1 h 122"/>
                <a:gd name="T10" fmla="*/ 8 w 139"/>
                <a:gd name="T11" fmla="*/ 1 h 122"/>
                <a:gd name="T12" fmla="*/ 8 w 139"/>
                <a:gd name="T13" fmla="*/ 1 h 122"/>
                <a:gd name="T14" fmla="*/ 7 w 139"/>
                <a:gd name="T15" fmla="*/ 1 h 122"/>
                <a:gd name="T16" fmla="*/ 6 w 139"/>
                <a:gd name="T17" fmla="*/ 1 h 122"/>
                <a:gd name="T18" fmla="*/ 3 w 139"/>
                <a:gd name="T19" fmla="*/ 1 h 122"/>
                <a:gd name="T20" fmla="*/ 3 w 139"/>
                <a:gd name="T21" fmla="*/ 1 h 122"/>
                <a:gd name="T22" fmla="*/ 3 w 139"/>
                <a:gd name="T23" fmla="*/ 1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9"/>
                <a:gd name="T37" fmla="*/ 0 h 122"/>
                <a:gd name="T38" fmla="*/ 139 w 139"/>
                <a:gd name="T39" fmla="*/ 122 h 1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8" name="Freeform 42">
              <a:extLst>
                <a:ext uri="{FF2B5EF4-FFF2-40B4-BE49-F238E27FC236}">
                  <a16:creationId xmlns:a16="http://schemas.microsoft.com/office/drawing/2014/main" id="{B599D0C1-15C0-4414-80B5-4B0926F8B3AC}"/>
                </a:ext>
              </a:extLst>
            </p:cNvPr>
            <p:cNvSpPr>
              <a:spLocks noChangeArrowheads="1"/>
            </p:cNvSpPr>
            <p:nvPr/>
          </p:nvSpPr>
          <p:spPr bwMode="auto">
            <a:xfrm>
              <a:off x="4810" y="1759"/>
              <a:ext cx="43" cy="24"/>
            </a:xfrm>
            <a:custGeom>
              <a:avLst/>
              <a:gdLst>
                <a:gd name="T0" fmla="*/ 4 w 49"/>
                <a:gd name="T1" fmla="*/ 0 h 35"/>
                <a:gd name="T2" fmla="*/ 4 w 49"/>
                <a:gd name="T3" fmla="*/ 1 h 35"/>
                <a:gd name="T4" fmla="*/ 4 w 49"/>
                <a:gd name="T5" fmla="*/ 1 h 35"/>
                <a:gd name="T6" fmla="*/ 4 w 49"/>
                <a:gd name="T7" fmla="*/ 1 h 35"/>
                <a:gd name="T8" fmla="*/ 4 w 49"/>
                <a:gd name="T9" fmla="*/ 0 h 35"/>
                <a:gd name="T10" fmla="*/ 0 60000 65536"/>
                <a:gd name="T11" fmla="*/ 0 60000 65536"/>
                <a:gd name="T12" fmla="*/ 0 60000 65536"/>
                <a:gd name="T13" fmla="*/ 0 60000 65536"/>
                <a:gd name="T14" fmla="*/ 0 60000 65536"/>
                <a:gd name="T15" fmla="*/ 0 w 49"/>
                <a:gd name="T16" fmla="*/ 0 h 35"/>
                <a:gd name="T17" fmla="*/ 49 w 49"/>
                <a:gd name="T18" fmla="*/ 35 h 35"/>
              </a:gdLst>
              <a:ahLst/>
              <a:cxnLst>
                <a:cxn ang="T10">
                  <a:pos x="T0" y="T1"/>
                </a:cxn>
                <a:cxn ang="T11">
                  <a:pos x="T2" y="T3"/>
                </a:cxn>
                <a:cxn ang="T12">
                  <a:pos x="T4" y="T5"/>
                </a:cxn>
                <a:cxn ang="T13">
                  <a:pos x="T6" y="T7"/>
                </a:cxn>
                <a:cxn ang="T14">
                  <a:pos x="T8" y="T9"/>
                </a:cxn>
              </a:cxnLst>
              <a:rect l="T15" t="T16" r="T17" b="T18"/>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9" name="Freeform 43">
              <a:extLst>
                <a:ext uri="{FF2B5EF4-FFF2-40B4-BE49-F238E27FC236}">
                  <a16:creationId xmlns:a16="http://schemas.microsoft.com/office/drawing/2014/main" id="{7CF2F7E6-7870-4759-815A-87A6081BD446}"/>
                </a:ext>
              </a:extLst>
            </p:cNvPr>
            <p:cNvSpPr>
              <a:spLocks noChangeArrowheads="1"/>
            </p:cNvSpPr>
            <p:nvPr/>
          </p:nvSpPr>
          <p:spPr bwMode="auto">
            <a:xfrm>
              <a:off x="2828" y="1304"/>
              <a:ext cx="142" cy="188"/>
            </a:xfrm>
            <a:custGeom>
              <a:avLst/>
              <a:gdLst>
                <a:gd name="T0" fmla="*/ 10 w 164"/>
                <a:gd name="T1" fmla="*/ 0 h 268"/>
                <a:gd name="T2" fmla="*/ 8 w 164"/>
                <a:gd name="T3" fmla="*/ 1 h 268"/>
                <a:gd name="T4" fmla="*/ 7 w 164"/>
                <a:gd name="T5" fmla="*/ 1 h 268"/>
                <a:gd name="T6" fmla="*/ 3 w 164"/>
                <a:gd name="T7" fmla="*/ 1 h 268"/>
                <a:gd name="T8" fmla="*/ 3 w 164"/>
                <a:gd name="T9" fmla="*/ 1 h 268"/>
                <a:gd name="T10" fmla="*/ 3 w 164"/>
                <a:gd name="T11" fmla="*/ 1 h 268"/>
                <a:gd name="T12" fmla="*/ 3 w 164"/>
                <a:gd name="T13" fmla="*/ 1 h 268"/>
                <a:gd name="T14" fmla="*/ 3 w 164"/>
                <a:gd name="T15" fmla="*/ 1 h 268"/>
                <a:gd name="T16" fmla="*/ 0 w 164"/>
                <a:gd name="T17" fmla="*/ 1 h 268"/>
                <a:gd name="T18" fmla="*/ 3 w 164"/>
                <a:gd name="T19" fmla="*/ 1 h 268"/>
                <a:gd name="T20" fmla="*/ 3 w 164"/>
                <a:gd name="T21" fmla="*/ 1 h 268"/>
                <a:gd name="T22" fmla="*/ 7 w 164"/>
                <a:gd name="T23" fmla="*/ 1 h 268"/>
                <a:gd name="T24" fmla="*/ 8 w 164"/>
                <a:gd name="T25" fmla="*/ 1 h 268"/>
                <a:gd name="T26" fmla="*/ 10 w 164"/>
                <a:gd name="T27" fmla="*/ 1 h 268"/>
                <a:gd name="T28" fmla="*/ 10 w 164"/>
                <a:gd name="T29" fmla="*/ 1 h 268"/>
                <a:gd name="T30" fmla="*/ 13 w 164"/>
                <a:gd name="T31" fmla="*/ 1 h 268"/>
                <a:gd name="T32" fmla="*/ 10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4"/>
                <a:gd name="T52" fmla="*/ 0 h 268"/>
                <a:gd name="T53" fmla="*/ 164 w 164"/>
                <a:gd name="T54" fmla="*/ 268 h 2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0" name="Freeform 44">
              <a:extLst>
                <a:ext uri="{FF2B5EF4-FFF2-40B4-BE49-F238E27FC236}">
                  <a16:creationId xmlns:a16="http://schemas.microsoft.com/office/drawing/2014/main" id="{794C065B-A1AC-4CB1-8961-9E9CB0E50FDB}"/>
                </a:ext>
              </a:extLst>
            </p:cNvPr>
            <p:cNvSpPr>
              <a:spLocks noChangeArrowheads="1"/>
            </p:cNvSpPr>
            <p:nvPr/>
          </p:nvSpPr>
          <p:spPr bwMode="auto">
            <a:xfrm>
              <a:off x="3440" y="1013"/>
              <a:ext cx="57" cy="57"/>
            </a:xfrm>
            <a:custGeom>
              <a:avLst/>
              <a:gdLst>
                <a:gd name="T0" fmla="*/ 3 w 66"/>
                <a:gd name="T1" fmla="*/ 0 h 81"/>
                <a:gd name="T2" fmla="*/ 3 w 66"/>
                <a:gd name="T3" fmla="*/ 1 h 81"/>
                <a:gd name="T4" fmla="*/ 3 w 66"/>
                <a:gd name="T5" fmla="*/ 1 h 81"/>
                <a:gd name="T6" fmla="*/ 3 w 66"/>
                <a:gd name="T7" fmla="*/ 1 h 81"/>
                <a:gd name="T8" fmla="*/ 4 w 66"/>
                <a:gd name="T9" fmla="*/ 1 h 81"/>
                <a:gd name="T10" fmla="*/ 3 w 66"/>
                <a:gd name="T11" fmla="*/ 0 h 81"/>
                <a:gd name="T12" fmla="*/ 0 60000 65536"/>
                <a:gd name="T13" fmla="*/ 0 60000 65536"/>
                <a:gd name="T14" fmla="*/ 0 60000 65536"/>
                <a:gd name="T15" fmla="*/ 0 60000 65536"/>
                <a:gd name="T16" fmla="*/ 0 60000 65536"/>
                <a:gd name="T17" fmla="*/ 0 60000 65536"/>
                <a:gd name="T18" fmla="*/ 0 w 66"/>
                <a:gd name="T19" fmla="*/ 0 h 81"/>
                <a:gd name="T20" fmla="*/ 66 w 66"/>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1" name="Freeform 45">
              <a:extLst>
                <a:ext uri="{FF2B5EF4-FFF2-40B4-BE49-F238E27FC236}">
                  <a16:creationId xmlns:a16="http://schemas.microsoft.com/office/drawing/2014/main" id="{7164C49E-1F08-45BE-A680-0E0869BFD1F7}"/>
                </a:ext>
              </a:extLst>
            </p:cNvPr>
            <p:cNvSpPr>
              <a:spLocks noChangeArrowheads="1"/>
            </p:cNvSpPr>
            <p:nvPr/>
          </p:nvSpPr>
          <p:spPr bwMode="auto">
            <a:xfrm>
              <a:off x="3823" y="1074"/>
              <a:ext cx="128" cy="171"/>
            </a:xfrm>
            <a:custGeom>
              <a:avLst/>
              <a:gdLst>
                <a:gd name="T0" fmla="*/ 7 w 148"/>
                <a:gd name="T1" fmla="*/ 0 h 244"/>
                <a:gd name="T2" fmla="*/ 4 w 148"/>
                <a:gd name="T3" fmla="*/ 1 h 244"/>
                <a:gd name="T4" fmla="*/ 3 w 148"/>
                <a:gd name="T5" fmla="*/ 1 h 244"/>
                <a:gd name="T6" fmla="*/ 3 w 148"/>
                <a:gd name="T7" fmla="*/ 1 h 244"/>
                <a:gd name="T8" fmla="*/ 3 w 148"/>
                <a:gd name="T9" fmla="*/ 1 h 244"/>
                <a:gd name="T10" fmla="*/ 3 w 148"/>
                <a:gd name="T11" fmla="*/ 1 h 244"/>
                <a:gd name="T12" fmla="*/ 4 w 148"/>
                <a:gd name="T13" fmla="*/ 1 h 244"/>
                <a:gd name="T14" fmla="*/ 6 w 148"/>
                <a:gd name="T15" fmla="*/ 1 h 244"/>
                <a:gd name="T16" fmla="*/ 7 w 148"/>
                <a:gd name="T17" fmla="*/ 1 h 244"/>
                <a:gd name="T18" fmla="*/ 9 w 148"/>
                <a:gd name="T19" fmla="*/ 1 h 244"/>
                <a:gd name="T20" fmla="*/ 8 w 148"/>
                <a:gd name="T21" fmla="*/ 1 h 244"/>
                <a:gd name="T22" fmla="*/ 10 w 148"/>
                <a:gd name="T23" fmla="*/ 1 h 244"/>
                <a:gd name="T24" fmla="*/ 8 w 148"/>
                <a:gd name="T25" fmla="*/ 1 h 244"/>
                <a:gd name="T26" fmla="*/ 7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8"/>
                <a:gd name="T43" fmla="*/ 0 h 244"/>
                <a:gd name="T44" fmla="*/ 148 w 148"/>
                <a:gd name="T45" fmla="*/ 244 h 2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2" name="Freeform 46">
              <a:extLst>
                <a:ext uri="{FF2B5EF4-FFF2-40B4-BE49-F238E27FC236}">
                  <a16:creationId xmlns:a16="http://schemas.microsoft.com/office/drawing/2014/main" id="{89B121E1-774B-449A-BF57-ACDA4D964C33}"/>
                </a:ext>
              </a:extLst>
            </p:cNvPr>
            <p:cNvSpPr>
              <a:spLocks noChangeArrowheads="1"/>
            </p:cNvSpPr>
            <p:nvPr/>
          </p:nvSpPr>
          <p:spPr bwMode="auto">
            <a:xfrm>
              <a:off x="3715" y="1021"/>
              <a:ext cx="83" cy="128"/>
            </a:xfrm>
            <a:custGeom>
              <a:avLst/>
              <a:gdLst>
                <a:gd name="T0" fmla="*/ 3 w 96"/>
                <a:gd name="T1" fmla="*/ 1 h 183"/>
                <a:gd name="T2" fmla="*/ 3 w 96"/>
                <a:gd name="T3" fmla="*/ 1 h 183"/>
                <a:gd name="T4" fmla="*/ 4 w 96"/>
                <a:gd name="T5" fmla="*/ 1 h 183"/>
                <a:gd name="T6" fmla="*/ 4 w 96"/>
                <a:gd name="T7" fmla="*/ 1 h 183"/>
                <a:gd name="T8" fmla="*/ 5 w 96"/>
                <a:gd name="T9" fmla="*/ 1 h 183"/>
                <a:gd name="T10" fmla="*/ 5 w 96"/>
                <a:gd name="T11" fmla="*/ 1 h 183"/>
                <a:gd name="T12" fmla="*/ 4 w 96"/>
                <a:gd name="T13" fmla="*/ 1 h 183"/>
                <a:gd name="T14" fmla="*/ 3 w 96"/>
                <a:gd name="T15" fmla="*/ 1 h 183"/>
                <a:gd name="T16" fmla="*/ 3 w 96"/>
                <a:gd name="T17" fmla="*/ 1 h 183"/>
                <a:gd name="T18" fmla="*/ 3 w 96"/>
                <a:gd name="T19" fmla="*/ 1 h 183"/>
                <a:gd name="T20" fmla="*/ 3 w 96"/>
                <a:gd name="T21" fmla="*/ 1 h 183"/>
                <a:gd name="T22" fmla="*/ 4 w 96"/>
                <a:gd name="T23" fmla="*/ 1 h 183"/>
                <a:gd name="T24" fmla="*/ 5 w 96"/>
                <a:gd name="T25" fmla="*/ 1 h 183"/>
                <a:gd name="T26" fmla="*/ 6 w 96"/>
                <a:gd name="T27" fmla="*/ 1 h 183"/>
                <a:gd name="T28" fmla="*/ 7 w 96"/>
                <a:gd name="T29" fmla="*/ 1 h 183"/>
                <a:gd name="T30" fmla="*/ 6 w 96"/>
                <a:gd name="T31" fmla="*/ 1 h 183"/>
                <a:gd name="T32" fmla="*/ 6 w 96"/>
                <a:gd name="T33" fmla="*/ 1 h 183"/>
                <a:gd name="T34" fmla="*/ 5 w 96"/>
                <a:gd name="T35" fmla="*/ 1 h 183"/>
                <a:gd name="T36" fmla="*/ 4 w 96"/>
                <a:gd name="T37" fmla="*/ 1 h 183"/>
                <a:gd name="T38" fmla="*/ 4 w 96"/>
                <a:gd name="T39" fmla="*/ 1 h 183"/>
                <a:gd name="T40" fmla="*/ 3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83"/>
                <a:gd name="T65" fmla="*/ 96 w 96"/>
                <a:gd name="T66" fmla="*/ 183 h 1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3" name="Freeform 47">
              <a:extLst>
                <a:ext uri="{FF2B5EF4-FFF2-40B4-BE49-F238E27FC236}">
                  <a16:creationId xmlns:a16="http://schemas.microsoft.com/office/drawing/2014/main" id="{69415BF7-ACE1-43B3-8D65-A8D0C317D61B}"/>
                </a:ext>
              </a:extLst>
            </p:cNvPr>
            <p:cNvSpPr>
              <a:spLocks noChangeArrowheads="1"/>
            </p:cNvSpPr>
            <p:nvPr/>
          </p:nvSpPr>
          <p:spPr bwMode="auto">
            <a:xfrm>
              <a:off x="3771" y="1124"/>
              <a:ext cx="46" cy="122"/>
            </a:xfrm>
            <a:custGeom>
              <a:avLst/>
              <a:gdLst>
                <a:gd name="T0" fmla="*/ 3 w 54"/>
                <a:gd name="T1" fmla="*/ 0 h 175"/>
                <a:gd name="T2" fmla="*/ 0 w 54"/>
                <a:gd name="T3" fmla="*/ 1 h 175"/>
                <a:gd name="T4" fmla="*/ 3 w 54"/>
                <a:gd name="T5" fmla="*/ 1 h 175"/>
                <a:gd name="T6" fmla="*/ 3 w 54"/>
                <a:gd name="T7" fmla="*/ 1 h 175"/>
                <a:gd name="T8" fmla="*/ 3 w 54"/>
                <a:gd name="T9" fmla="*/ 1 h 175"/>
                <a:gd name="T10" fmla="*/ 3 w 54"/>
                <a:gd name="T11" fmla="*/ 1 h 175"/>
                <a:gd name="T12" fmla="*/ 3 w 54"/>
                <a:gd name="T13" fmla="*/ 1 h 175"/>
                <a:gd name="T14" fmla="*/ 3 w 54"/>
                <a:gd name="T15" fmla="*/ 1 h 175"/>
                <a:gd name="T16" fmla="*/ 3 w 54"/>
                <a:gd name="T17" fmla="*/ 1 h 175"/>
                <a:gd name="T18" fmla="*/ 3 w 54"/>
                <a:gd name="T19" fmla="*/ 1 h 175"/>
                <a:gd name="T20" fmla="*/ 3 w 54"/>
                <a:gd name="T21" fmla="*/ 1 h 175"/>
                <a:gd name="T22" fmla="*/ 3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
                <a:gd name="T37" fmla="*/ 0 h 175"/>
                <a:gd name="T38" fmla="*/ 54 w 54"/>
                <a:gd name="T39" fmla="*/ 175 h 1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4" name="Freeform 48">
              <a:extLst>
                <a:ext uri="{FF2B5EF4-FFF2-40B4-BE49-F238E27FC236}">
                  <a16:creationId xmlns:a16="http://schemas.microsoft.com/office/drawing/2014/main" id="{A8654237-CAB6-40AA-A7D9-FE5B12A2FAC4}"/>
                </a:ext>
              </a:extLst>
            </p:cNvPr>
            <p:cNvSpPr>
              <a:spLocks noChangeArrowheads="1"/>
            </p:cNvSpPr>
            <p:nvPr/>
          </p:nvSpPr>
          <p:spPr bwMode="auto">
            <a:xfrm>
              <a:off x="3823" y="1252"/>
              <a:ext cx="75" cy="50"/>
            </a:xfrm>
            <a:custGeom>
              <a:avLst/>
              <a:gdLst>
                <a:gd name="T0" fmla="*/ 2 w 86"/>
                <a:gd name="T1" fmla="*/ 0 h 73"/>
                <a:gd name="T2" fmla="*/ 3 w 86"/>
                <a:gd name="T3" fmla="*/ 1 h 73"/>
                <a:gd name="T4" fmla="*/ 3 w 86"/>
                <a:gd name="T5" fmla="*/ 1 h 73"/>
                <a:gd name="T6" fmla="*/ 3 w 86"/>
                <a:gd name="T7" fmla="*/ 1 h 73"/>
                <a:gd name="T8" fmla="*/ 5 w 86"/>
                <a:gd name="T9" fmla="*/ 1 h 73"/>
                <a:gd name="T10" fmla="*/ 7 w 86"/>
                <a:gd name="T11" fmla="*/ 1 h 73"/>
                <a:gd name="T12" fmla="*/ 8 w 86"/>
                <a:gd name="T13" fmla="*/ 1 h 73"/>
                <a:gd name="T14" fmla="*/ 6 w 86"/>
                <a:gd name="T15" fmla="*/ 1 h 73"/>
                <a:gd name="T16" fmla="*/ 5 w 86"/>
                <a:gd name="T17" fmla="*/ 1 h 73"/>
                <a:gd name="T18" fmla="*/ 3 w 86"/>
                <a:gd name="T19" fmla="*/ 1 h 73"/>
                <a:gd name="T20" fmla="*/ 3 w 86"/>
                <a:gd name="T21" fmla="*/ 1 h 73"/>
                <a:gd name="T22" fmla="*/ 3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3"/>
                <a:gd name="T41" fmla="*/ 86 w 86"/>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5" name="Freeform 49">
              <a:extLst>
                <a:ext uri="{FF2B5EF4-FFF2-40B4-BE49-F238E27FC236}">
                  <a16:creationId xmlns:a16="http://schemas.microsoft.com/office/drawing/2014/main" id="{70227C6D-4036-4EA0-A94F-A019325230DA}"/>
                </a:ext>
              </a:extLst>
            </p:cNvPr>
            <p:cNvSpPr>
              <a:spLocks noChangeArrowheads="1"/>
            </p:cNvSpPr>
            <p:nvPr/>
          </p:nvSpPr>
          <p:spPr bwMode="auto">
            <a:xfrm>
              <a:off x="3943" y="1163"/>
              <a:ext cx="95" cy="109"/>
            </a:xfrm>
            <a:custGeom>
              <a:avLst/>
              <a:gdLst>
                <a:gd name="T0" fmla="*/ 6 w 111"/>
                <a:gd name="T1" fmla="*/ 0 h 156"/>
                <a:gd name="T2" fmla="*/ 4 w 111"/>
                <a:gd name="T3" fmla="*/ 1 h 156"/>
                <a:gd name="T4" fmla="*/ 3 w 111"/>
                <a:gd name="T5" fmla="*/ 1 h 156"/>
                <a:gd name="T6" fmla="*/ 3 w 111"/>
                <a:gd name="T7" fmla="*/ 1 h 156"/>
                <a:gd name="T8" fmla="*/ 3 w 111"/>
                <a:gd name="T9" fmla="*/ 1 h 156"/>
                <a:gd name="T10" fmla="*/ 3 w 111"/>
                <a:gd name="T11" fmla="*/ 1 h 156"/>
                <a:gd name="T12" fmla="*/ 3 w 111"/>
                <a:gd name="T13" fmla="*/ 1 h 156"/>
                <a:gd name="T14" fmla="*/ 3 w 111"/>
                <a:gd name="T15" fmla="*/ 1 h 156"/>
                <a:gd name="T16" fmla="*/ 3 w 111"/>
                <a:gd name="T17" fmla="*/ 1 h 156"/>
                <a:gd name="T18" fmla="*/ 3 w 111"/>
                <a:gd name="T19" fmla="*/ 1 h 156"/>
                <a:gd name="T20" fmla="*/ 3 w 111"/>
                <a:gd name="T21" fmla="*/ 1 h 156"/>
                <a:gd name="T22" fmla="*/ 3 w 111"/>
                <a:gd name="T23" fmla="*/ 1 h 156"/>
                <a:gd name="T24" fmla="*/ 3 w 111"/>
                <a:gd name="T25" fmla="*/ 1 h 156"/>
                <a:gd name="T26" fmla="*/ 3 w 111"/>
                <a:gd name="T27" fmla="*/ 1 h 156"/>
                <a:gd name="T28" fmla="*/ 4 w 111"/>
                <a:gd name="T29" fmla="*/ 1 h 156"/>
                <a:gd name="T30" fmla="*/ 3 w 111"/>
                <a:gd name="T31" fmla="*/ 1 h 156"/>
                <a:gd name="T32" fmla="*/ 4 w 111"/>
                <a:gd name="T33" fmla="*/ 1 h 156"/>
                <a:gd name="T34" fmla="*/ 4 w 111"/>
                <a:gd name="T35" fmla="*/ 1 h 156"/>
                <a:gd name="T36" fmla="*/ 3 w 111"/>
                <a:gd name="T37" fmla="*/ 1 h 156"/>
                <a:gd name="T38" fmla="*/ 3 w 111"/>
                <a:gd name="T39" fmla="*/ 1 h 156"/>
                <a:gd name="T40" fmla="*/ 3 w 111"/>
                <a:gd name="T41" fmla="*/ 1 h 156"/>
                <a:gd name="T42" fmla="*/ 3 w 111"/>
                <a:gd name="T43" fmla="*/ 1 h 156"/>
                <a:gd name="T44" fmla="*/ 5 w 111"/>
                <a:gd name="T45" fmla="*/ 1 h 156"/>
                <a:gd name="T46" fmla="*/ 6 w 111"/>
                <a:gd name="T47" fmla="*/ 1 h 156"/>
                <a:gd name="T48" fmla="*/ 7 w 111"/>
                <a:gd name="T49" fmla="*/ 1 h 156"/>
                <a:gd name="T50" fmla="*/ 6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1"/>
                <a:gd name="T79" fmla="*/ 0 h 156"/>
                <a:gd name="T80" fmla="*/ 111 w 111"/>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6" name="Freeform 50">
              <a:extLst>
                <a:ext uri="{FF2B5EF4-FFF2-40B4-BE49-F238E27FC236}">
                  <a16:creationId xmlns:a16="http://schemas.microsoft.com/office/drawing/2014/main" id="{10B01155-2649-4FC6-BF09-5E64C01F72EC}"/>
                </a:ext>
              </a:extLst>
            </p:cNvPr>
            <p:cNvSpPr>
              <a:spLocks noChangeArrowheads="1"/>
            </p:cNvSpPr>
            <p:nvPr/>
          </p:nvSpPr>
          <p:spPr bwMode="auto">
            <a:xfrm>
              <a:off x="3911" y="772"/>
              <a:ext cx="25" cy="67"/>
            </a:xfrm>
            <a:custGeom>
              <a:avLst/>
              <a:gdLst>
                <a:gd name="T0" fmla="*/ 3 w 30"/>
                <a:gd name="T1" fmla="*/ 0 h 94"/>
                <a:gd name="T2" fmla="*/ 0 w 30"/>
                <a:gd name="T3" fmla="*/ 1 h 94"/>
                <a:gd name="T4" fmla="*/ 3 w 30"/>
                <a:gd name="T5" fmla="*/ 1 h 94"/>
                <a:gd name="T6" fmla="*/ 1 w 30"/>
                <a:gd name="T7" fmla="*/ 1 h 94"/>
                <a:gd name="T8" fmla="*/ 3 w 30"/>
                <a:gd name="T9" fmla="*/ 1 h 94"/>
                <a:gd name="T10" fmla="*/ 3 w 30"/>
                <a:gd name="T11" fmla="*/ 1 h 94"/>
                <a:gd name="T12" fmla="*/ 3 w 30"/>
                <a:gd name="T13" fmla="*/ 1 h 94"/>
                <a:gd name="T14" fmla="*/ 3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 name="T24" fmla="*/ 0 w 30"/>
                <a:gd name="T25" fmla="*/ 0 h 94"/>
                <a:gd name="T26" fmla="*/ 30 w 30"/>
                <a:gd name="T27" fmla="*/ 94 h 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7" name="Freeform 51">
              <a:extLst>
                <a:ext uri="{FF2B5EF4-FFF2-40B4-BE49-F238E27FC236}">
                  <a16:creationId xmlns:a16="http://schemas.microsoft.com/office/drawing/2014/main" id="{F48A8C43-9153-4C54-8971-8C7A9529F269}"/>
                </a:ext>
              </a:extLst>
            </p:cNvPr>
            <p:cNvSpPr>
              <a:spLocks noChangeArrowheads="1"/>
            </p:cNvSpPr>
            <p:nvPr/>
          </p:nvSpPr>
          <p:spPr bwMode="auto">
            <a:xfrm>
              <a:off x="3927" y="883"/>
              <a:ext cx="70" cy="111"/>
            </a:xfrm>
            <a:custGeom>
              <a:avLst/>
              <a:gdLst>
                <a:gd name="T0" fmla="*/ 3 w 81"/>
                <a:gd name="T1" fmla="*/ 1 h 158"/>
                <a:gd name="T2" fmla="*/ 0 w 81"/>
                <a:gd name="T3" fmla="*/ 1 h 158"/>
                <a:gd name="T4" fmla="*/ 3 w 81"/>
                <a:gd name="T5" fmla="*/ 1 h 158"/>
                <a:gd name="T6" fmla="*/ 3 w 81"/>
                <a:gd name="T7" fmla="*/ 1 h 158"/>
                <a:gd name="T8" fmla="*/ 3 w 81"/>
                <a:gd name="T9" fmla="*/ 1 h 158"/>
                <a:gd name="T10" fmla="*/ 3 w 81"/>
                <a:gd name="T11" fmla="*/ 1 h 158"/>
                <a:gd name="T12" fmla="*/ 3 w 81"/>
                <a:gd name="T13" fmla="*/ 1 h 158"/>
                <a:gd name="T14" fmla="*/ 3 w 81"/>
                <a:gd name="T15" fmla="*/ 1 h 158"/>
                <a:gd name="T16" fmla="*/ 3 w 81"/>
                <a:gd name="T17" fmla="*/ 1 h 158"/>
                <a:gd name="T18" fmla="*/ 4 w 81"/>
                <a:gd name="T19" fmla="*/ 1 h 158"/>
                <a:gd name="T20" fmla="*/ 4 w 81"/>
                <a:gd name="T21" fmla="*/ 1 h 158"/>
                <a:gd name="T22" fmla="*/ 3 w 81"/>
                <a:gd name="T23" fmla="*/ 1 h 158"/>
                <a:gd name="T24" fmla="*/ 3 w 81"/>
                <a:gd name="T25" fmla="*/ 1 h 158"/>
                <a:gd name="T26" fmla="*/ 3 w 81"/>
                <a:gd name="T27" fmla="*/ 1 h 158"/>
                <a:gd name="T28" fmla="*/ 3 w 81"/>
                <a:gd name="T29" fmla="*/ 1 h 158"/>
                <a:gd name="T30" fmla="*/ 3 w 81"/>
                <a:gd name="T31" fmla="*/ 1 h 158"/>
                <a:gd name="T32" fmla="*/ 3 w 81"/>
                <a:gd name="T33" fmla="*/ 1 h 158"/>
                <a:gd name="T34" fmla="*/ 3 w 81"/>
                <a:gd name="T35" fmla="*/ 1 h 158"/>
                <a:gd name="T36" fmla="*/ 3 w 81"/>
                <a:gd name="T37" fmla="*/ 1 h 158"/>
                <a:gd name="T38" fmla="*/ 3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1"/>
                <a:gd name="T61" fmla="*/ 0 h 158"/>
                <a:gd name="T62" fmla="*/ 81 w 81"/>
                <a:gd name="T63" fmla="*/ 158 h 15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8" name="Freeform 52">
              <a:extLst>
                <a:ext uri="{FF2B5EF4-FFF2-40B4-BE49-F238E27FC236}">
                  <a16:creationId xmlns:a16="http://schemas.microsoft.com/office/drawing/2014/main" id="{62230944-B26D-46DB-B31E-8C625408CE46}"/>
                </a:ext>
              </a:extLst>
            </p:cNvPr>
            <p:cNvSpPr>
              <a:spLocks noChangeArrowheads="1"/>
            </p:cNvSpPr>
            <p:nvPr/>
          </p:nvSpPr>
          <p:spPr bwMode="auto">
            <a:xfrm>
              <a:off x="3976" y="1029"/>
              <a:ext cx="74" cy="74"/>
            </a:xfrm>
            <a:custGeom>
              <a:avLst/>
              <a:gdLst>
                <a:gd name="T0" fmla="*/ 4 w 85"/>
                <a:gd name="T1" fmla="*/ 0 h 105"/>
                <a:gd name="T2" fmla="*/ 3 w 85"/>
                <a:gd name="T3" fmla="*/ 1 h 105"/>
                <a:gd name="T4" fmla="*/ 3 w 85"/>
                <a:gd name="T5" fmla="*/ 1 h 105"/>
                <a:gd name="T6" fmla="*/ 3 w 85"/>
                <a:gd name="T7" fmla="*/ 1 h 105"/>
                <a:gd name="T8" fmla="*/ 3 w 85"/>
                <a:gd name="T9" fmla="*/ 1 h 105"/>
                <a:gd name="T10" fmla="*/ 3 w 85"/>
                <a:gd name="T11" fmla="*/ 1 h 105"/>
                <a:gd name="T12" fmla="*/ 3 w 85"/>
                <a:gd name="T13" fmla="*/ 1 h 105"/>
                <a:gd name="T14" fmla="*/ 3 w 85"/>
                <a:gd name="T15" fmla="*/ 1 h 105"/>
                <a:gd name="T16" fmla="*/ 3 w 85"/>
                <a:gd name="T17" fmla="*/ 1 h 105"/>
                <a:gd name="T18" fmla="*/ 5 w 85"/>
                <a:gd name="T19" fmla="*/ 1 h 105"/>
                <a:gd name="T20" fmla="*/ 6 w 85"/>
                <a:gd name="T21" fmla="*/ 1 h 105"/>
                <a:gd name="T22" fmla="*/ 7 w 85"/>
                <a:gd name="T23" fmla="*/ 1 h 105"/>
                <a:gd name="T24" fmla="*/ 6 w 85"/>
                <a:gd name="T25" fmla="*/ 1 h 105"/>
                <a:gd name="T26" fmla="*/ 4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5"/>
                <a:gd name="T43" fmla="*/ 0 h 105"/>
                <a:gd name="T44" fmla="*/ 85 w 85"/>
                <a:gd name="T45" fmla="*/ 105 h 10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9" name="Freeform 53">
              <a:extLst>
                <a:ext uri="{FF2B5EF4-FFF2-40B4-BE49-F238E27FC236}">
                  <a16:creationId xmlns:a16="http://schemas.microsoft.com/office/drawing/2014/main" id="{1FF504DE-912B-4459-AE89-FB64F80DFA24}"/>
                </a:ext>
              </a:extLst>
            </p:cNvPr>
            <p:cNvSpPr>
              <a:spLocks noChangeArrowheads="1"/>
            </p:cNvSpPr>
            <p:nvPr/>
          </p:nvSpPr>
          <p:spPr bwMode="auto">
            <a:xfrm>
              <a:off x="4064" y="1161"/>
              <a:ext cx="33" cy="46"/>
            </a:xfrm>
            <a:custGeom>
              <a:avLst/>
              <a:gdLst>
                <a:gd name="T0" fmla="*/ 3 w 38"/>
                <a:gd name="T1" fmla="*/ 1 h 66"/>
                <a:gd name="T2" fmla="*/ 3 w 38"/>
                <a:gd name="T3" fmla="*/ 1 h 66"/>
                <a:gd name="T4" fmla="*/ 3 w 38"/>
                <a:gd name="T5" fmla="*/ 1 h 66"/>
                <a:gd name="T6" fmla="*/ 3 w 38"/>
                <a:gd name="T7" fmla="*/ 1 h 66"/>
                <a:gd name="T8" fmla="*/ 3 w 38"/>
                <a:gd name="T9" fmla="*/ 1 h 66"/>
                <a:gd name="T10" fmla="*/ 3 w 38"/>
                <a:gd name="T11" fmla="*/ 1 h 66"/>
                <a:gd name="T12" fmla="*/ 3 w 38"/>
                <a:gd name="T13" fmla="*/ 1 h 66"/>
                <a:gd name="T14" fmla="*/ 2 w 38"/>
                <a:gd name="T15" fmla="*/ 1 h 66"/>
                <a:gd name="T16" fmla="*/ 3 w 38"/>
                <a:gd name="T17" fmla="*/ 1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66"/>
                <a:gd name="T29" fmla="*/ 38 w 38"/>
                <a:gd name="T30" fmla="*/ 66 h 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0" name="Freeform 54">
              <a:extLst>
                <a:ext uri="{FF2B5EF4-FFF2-40B4-BE49-F238E27FC236}">
                  <a16:creationId xmlns:a16="http://schemas.microsoft.com/office/drawing/2014/main" id="{AA099F2D-0DFF-46E9-8C91-A9853BBA136A}"/>
                </a:ext>
              </a:extLst>
            </p:cNvPr>
            <p:cNvSpPr>
              <a:spLocks noChangeArrowheads="1"/>
            </p:cNvSpPr>
            <p:nvPr/>
          </p:nvSpPr>
          <p:spPr bwMode="auto">
            <a:xfrm>
              <a:off x="4045" y="1238"/>
              <a:ext cx="21" cy="16"/>
            </a:xfrm>
            <a:custGeom>
              <a:avLst/>
              <a:gdLst>
                <a:gd name="T0" fmla="*/ 0 w 24"/>
                <a:gd name="T1" fmla="*/ 0 h 23"/>
                <a:gd name="T2" fmla="*/ 4 w 24"/>
                <a:gd name="T3" fmla="*/ 1 h 23"/>
                <a:gd name="T4" fmla="*/ 4 w 24"/>
                <a:gd name="T5" fmla="*/ 1 h 23"/>
                <a:gd name="T6" fmla="*/ 0 w 24"/>
                <a:gd name="T7" fmla="*/ 0 h 23"/>
                <a:gd name="T8" fmla="*/ 0 60000 65536"/>
                <a:gd name="T9" fmla="*/ 0 60000 65536"/>
                <a:gd name="T10" fmla="*/ 0 60000 65536"/>
                <a:gd name="T11" fmla="*/ 0 60000 65536"/>
                <a:gd name="T12" fmla="*/ 0 w 24"/>
                <a:gd name="T13" fmla="*/ 0 h 23"/>
                <a:gd name="T14" fmla="*/ 24 w 24"/>
                <a:gd name="T15" fmla="*/ 23 h 23"/>
              </a:gdLst>
              <a:ahLst/>
              <a:cxnLst>
                <a:cxn ang="T8">
                  <a:pos x="T0" y="T1"/>
                </a:cxn>
                <a:cxn ang="T9">
                  <a:pos x="T2" y="T3"/>
                </a:cxn>
                <a:cxn ang="T10">
                  <a:pos x="T4" y="T5"/>
                </a:cxn>
                <a:cxn ang="T11">
                  <a:pos x="T6" y="T7"/>
                </a:cxn>
              </a:cxnLst>
              <a:rect l="T12" t="T13" r="T14" b="T15"/>
              <a:pathLst>
                <a:path w="24" h="23">
                  <a:moveTo>
                    <a:pt x="0" y="0"/>
                  </a:moveTo>
                  <a:cubicBezTo>
                    <a:pt x="1" y="8"/>
                    <a:pt x="3" y="16"/>
                    <a:pt x="6" y="23"/>
                  </a:cubicBezTo>
                  <a:cubicBezTo>
                    <a:pt x="19" y="20"/>
                    <a:pt x="19" y="22"/>
                    <a:pt x="24" y="11"/>
                  </a:cubicBezTo>
                  <a:cubicBezTo>
                    <a:pt x="20" y="0"/>
                    <a:pt x="4" y="8"/>
                    <a:pt x="0"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1" name="Freeform 55">
              <a:extLst>
                <a:ext uri="{FF2B5EF4-FFF2-40B4-BE49-F238E27FC236}">
                  <a16:creationId xmlns:a16="http://schemas.microsoft.com/office/drawing/2014/main" id="{3E55D699-E60C-4F63-9CE9-70509C981553}"/>
                </a:ext>
              </a:extLst>
            </p:cNvPr>
            <p:cNvSpPr>
              <a:spLocks noChangeArrowheads="1"/>
            </p:cNvSpPr>
            <p:nvPr/>
          </p:nvSpPr>
          <p:spPr bwMode="auto">
            <a:xfrm>
              <a:off x="4076" y="1228"/>
              <a:ext cx="52" cy="35"/>
            </a:xfrm>
            <a:custGeom>
              <a:avLst/>
              <a:gdLst>
                <a:gd name="T0" fmla="*/ 3 w 60"/>
                <a:gd name="T1" fmla="*/ 0 h 49"/>
                <a:gd name="T2" fmla="*/ 0 w 60"/>
                <a:gd name="T3" fmla="*/ 1 h 49"/>
                <a:gd name="T4" fmla="*/ 3 w 60"/>
                <a:gd name="T5" fmla="*/ 1 h 49"/>
                <a:gd name="T6" fmla="*/ 3 w 60"/>
                <a:gd name="T7" fmla="*/ 1 h 49"/>
                <a:gd name="T8" fmla="*/ 4 w 60"/>
                <a:gd name="T9" fmla="*/ 1 h 49"/>
                <a:gd name="T10" fmla="*/ 3 w 60"/>
                <a:gd name="T11" fmla="*/ 1 h 49"/>
                <a:gd name="T12" fmla="*/ 3 w 60"/>
                <a:gd name="T13" fmla="*/ 1 h 49"/>
                <a:gd name="T14" fmla="*/ 3 w 60"/>
                <a:gd name="T15" fmla="*/ 1 h 49"/>
                <a:gd name="T16" fmla="*/ 3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0"/>
                <a:gd name="T28" fmla="*/ 0 h 49"/>
                <a:gd name="T29" fmla="*/ 60 w 6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2" name="Freeform 56">
              <a:extLst>
                <a:ext uri="{FF2B5EF4-FFF2-40B4-BE49-F238E27FC236}">
                  <a16:creationId xmlns:a16="http://schemas.microsoft.com/office/drawing/2014/main" id="{CA1172FE-C5C8-40AC-B4B1-32C1447B4398}"/>
                </a:ext>
              </a:extLst>
            </p:cNvPr>
            <p:cNvSpPr>
              <a:spLocks noChangeArrowheads="1"/>
            </p:cNvSpPr>
            <p:nvPr/>
          </p:nvSpPr>
          <p:spPr bwMode="auto">
            <a:xfrm>
              <a:off x="4156" y="1294"/>
              <a:ext cx="27" cy="31"/>
            </a:xfrm>
            <a:custGeom>
              <a:avLst/>
              <a:gdLst>
                <a:gd name="T0" fmla="*/ 3 w 32"/>
                <a:gd name="T1" fmla="*/ 0 h 44"/>
                <a:gd name="T2" fmla="*/ 3 w 32"/>
                <a:gd name="T3" fmla="*/ 1 h 44"/>
                <a:gd name="T4" fmla="*/ 3 w 32"/>
                <a:gd name="T5" fmla="*/ 1 h 44"/>
                <a:gd name="T6" fmla="*/ 3 w 32"/>
                <a:gd name="T7" fmla="*/ 1 h 44"/>
                <a:gd name="T8" fmla="*/ 3 w 32"/>
                <a:gd name="T9" fmla="*/ 0 h 44"/>
                <a:gd name="T10" fmla="*/ 0 60000 65536"/>
                <a:gd name="T11" fmla="*/ 0 60000 65536"/>
                <a:gd name="T12" fmla="*/ 0 60000 65536"/>
                <a:gd name="T13" fmla="*/ 0 60000 65536"/>
                <a:gd name="T14" fmla="*/ 0 60000 65536"/>
                <a:gd name="T15" fmla="*/ 0 w 32"/>
                <a:gd name="T16" fmla="*/ 0 h 44"/>
                <a:gd name="T17" fmla="*/ 32 w 32"/>
                <a:gd name="T18" fmla="*/ 44 h 44"/>
              </a:gdLst>
              <a:ahLst/>
              <a:cxnLst>
                <a:cxn ang="T10">
                  <a:pos x="T0" y="T1"/>
                </a:cxn>
                <a:cxn ang="T11">
                  <a:pos x="T2" y="T3"/>
                </a:cxn>
                <a:cxn ang="T12">
                  <a:pos x="T4" y="T5"/>
                </a:cxn>
                <a:cxn ang="T13">
                  <a:pos x="T6" y="T7"/>
                </a:cxn>
                <a:cxn ang="T14">
                  <a:pos x="T8" y="T9"/>
                </a:cxn>
              </a:cxnLst>
              <a:rect l="T15" t="T16" r="T17" b="T18"/>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3" name="Freeform 57">
              <a:extLst>
                <a:ext uri="{FF2B5EF4-FFF2-40B4-BE49-F238E27FC236}">
                  <a16:creationId xmlns:a16="http://schemas.microsoft.com/office/drawing/2014/main" id="{226208E4-D14A-4F48-9F85-CC703C7851D1}"/>
                </a:ext>
              </a:extLst>
            </p:cNvPr>
            <p:cNvSpPr>
              <a:spLocks noChangeArrowheads="1"/>
            </p:cNvSpPr>
            <p:nvPr/>
          </p:nvSpPr>
          <p:spPr bwMode="auto">
            <a:xfrm>
              <a:off x="4463" y="1255"/>
              <a:ext cx="53" cy="44"/>
            </a:xfrm>
            <a:custGeom>
              <a:avLst/>
              <a:gdLst>
                <a:gd name="T0" fmla="*/ 3 w 61"/>
                <a:gd name="T1" fmla="*/ 0 h 63"/>
                <a:gd name="T2" fmla="*/ 0 w 61"/>
                <a:gd name="T3" fmla="*/ 1 h 63"/>
                <a:gd name="T4" fmla="*/ 3 w 61"/>
                <a:gd name="T5" fmla="*/ 1 h 63"/>
                <a:gd name="T6" fmla="*/ 3 w 61"/>
                <a:gd name="T7" fmla="*/ 1 h 63"/>
                <a:gd name="T8" fmla="*/ 3 w 61"/>
                <a:gd name="T9" fmla="*/ 1 h 63"/>
                <a:gd name="T10" fmla="*/ 5 w 61"/>
                <a:gd name="T11" fmla="*/ 1 h 63"/>
                <a:gd name="T12" fmla="*/ 3 w 61"/>
                <a:gd name="T13" fmla="*/ 1 h 63"/>
                <a:gd name="T14" fmla="*/ 3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 name="T24" fmla="*/ 0 w 61"/>
                <a:gd name="T25" fmla="*/ 0 h 63"/>
                <a:gd name="T26" fmla="*/ 61 w 61"/>
                <a:gd name="T27" fmla="*/ 63 h 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4" name="Freeform 58">
              <a:extLst>
                <a:ext uri="{FF2B5EF4-FFF2-40B4-BE49-F238E27FC236}">
                  <a16:creationId xmlns:a16="http://schemas.microsoft.com/office/drawing/2014/main" id="{BB49079D-C6B9-4A54-9146-F8359E0CCEC7}"/>
                </a:ext>
              </a:extLst>
            </p:cNvPr>
            <p:cNvSpPr>
              <a:spLocks noChangeArrowheads="1"/>
            </p:cNvSpPr>
            <p:nvPr/>
          </p:nvSpPr>
          <p:spPr bwMode="auto">
            <a:xfrm>
              <a:off x="4006" y="1310"/>
              <a:ext cx="53" cy="47"/>
            </a:xfrm>
            <a:custGeom>
              <a:avLst/>
              <a:gdLst>
                <a:gd name="T0" fmla="*/ 3 w 61"/>
                <a:gd name="T1" fmla="*/ 1 h 67"/>
                <a:gd name="T2" fmla="*/ 3 w 61"/>
                <a:gd name="T3" fmla="*/ 1 h 67"/>
                <a:gd name="T4" fmla="*/ 3 w 61"/>
                <a:gd name="T5" fmla="*/ 1 h 67"/>
                <a:gd name="T6" fmla="*/ 3 w 61"/>
                <a:gd name="T7" fmla="*/ 1 h 67"/>
                <a:gd name="T8" fmla="*/ 3 w 61"/>
                <a:gd name="T9" fmla="*/ 1 h 67"/>
                <a:gd name="T10" fmla="*/ 5 w 61"/>
                <a:gd name="T11" fmla="*/ 1 h 67"/>
                <a:gd name="T12" fmla="*/ 4 w 61"/>
                <a:gd name="T13" fmla="*/ 1 h 67"/>
                <a:gd name="T14" fmla="*/ 4 w 61"/>
                <a:gd name="T15" fmla="*/ 1 h 67"/>
                <a:gd name="T16" fmla="*/ 4 w 61"/>
                <a:gd name="T17" fmla="*/ 1 h 67"/>
                <a:gd name="T18" fmla="*/ 3 w 61"/>
                <a:gd name="T19" fmla="*/ 1 h 67"/>
                <a:gd name="T20" fmla="*/ 4 w 61"/>
                <a:gd name="T21" fmla="*/ 1 h 67"/>
                <a:gd name="T22" fmla="*/ 3 w 61"/>
                <a:gd name="T23" fmla="*/ 1 h 67"/>
                <a:gd name="T24" fmla="*/ 3 w 61"/>
                <a:gd name="T25" fmla="*/ 1 h 67"/>
                <a:gd name="T26" fmla="*/ 3 w 61"/>
                <a:gd name="T27" fmla="*/ 1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
                <a:gd name="T43" fmla="*/ 0 h 67"/>
                <a:gd name="T44" fmla="*/ 61 w 61"/>
                <a:gd name="T45" fmla="*/ 67 h 6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5" name="Freeform 59">
              <a:extLst>
                <a:ext uri="{FF2B5EF4-FFF2-40B4-BE49-F238E27FC236}">
                  <a16:creationId xmlns:a16="http://schemas.microsoft.com/office/drawing/2014/main" id="{2B32982B-9269-4D06-955C-CF4CFB7ED672}"/>
                </a:ext>
              </a:extLst>
            </p:cNvPr>
            <p:cNvSpPr>
              <a:spLocks noChangeArrowheads="1"/>
            </p:cNvSpPr>
            <p:nvPr/>
          </p:nvSpPr>
          <p:spPr bwMode="auto">
            <a:xfrm>
              <a:off x="3950" y="1328"/>
              <a:ext cx="37" cy="25"/>
            </a:xfrm>
            <a:custGeom>
              <a:avLst/>
              <a:gdLst>
                <a:gd name="T0" fmla="*/ 3 w 43"/>
                <a:gd name="T1" fmla="*/ 1 h 36"/>
                <a:gd name="T2" fmla="*/ 3 w 43"/>
                <a:gd name="T3" fmla="*/ 1 h 36"/>
                <a:gd name="T4" fmla="*/ 3 w 43"/>
                <a:gd name="T5" fmla="*/ 1 h 36"/>
                <a:gd name="T6" fmla="*/ 3 w 43"/>
                <a:gd name="T7" fmla="*/ 1 h 36"/>
                <a:gd name="T8" fmla="*/ 3 w 43"/>
                <a:gd name="T9" fmla="*/ 1 h 36"/>
                <a:gd name="T10" fmla="*/ 0 60000 65536"/>
                <a:gd name="T11" fmla="*/ 0 60000 65536"/>
                <a:gd name="T12" fmla="*/ 0 60000 65536"/>
                <a:gd name="T13" fmla="*/ 0 60000 65536"/>
                <a:gd name="T14" fmla="*/ 0 60000 65536"/>
                <a:gd name="T15" fmla="*/ 0 w 43"/>
                <a:gd name="T16" fmla="*/ 0 h 36"/>
                <a:gd name="T17" fmla="*/ 43 w 43"/>
                <a:gd name="T18" fmla="*/ 36 h 36"/>
              </a:gdLst>
              <a:ahLst/>
              <a:cxnLst>
                <a:cxn ang="T10">
                  <a:pos x="T0" y="T1"/>
                </a:cxn>
                <a:cxn ang="T11">
                  <a:pos x="T2" y="T3"/>
                </a:cxn>
                <a:cxn ang="T12">
                  <a:pos x="T4" y="T5"/>
                </a:cxn>
                <a:cxn ang="T13">
                  <a:pos x="T6" y="T7"/>
                </a:cxn>
                <a:cxn ang="T14">
                  <a:pos x="T8" y="T9"/>
                </a:cxn>
              </a:cxnLst>
              <a:rect l="T15" t="T16" r="T17" b="T18"/>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6" name="Freeform 60">
              <a:extLst>
                <a:ext uri="{FF2B5EF4-FFF2-40B4-BE49-F238E27FC236}">
                  <a16:creationId xmlns:a16="http://schemas.microsoft.com/office/drawing/2014/main" id="{86411E08-3F49-4808-BCA4-4564BCBD9B23}"/>
                </a:ext>
              </a:extLst>
            </p:cNvPr>
            <p:cNvSpPr>
              <a:spLocks noChangeArrowheads="1"/>
            </p:cNvSpPr>
            <p:nvPr/>
          </p:nvSpPr>
          <p:spPr bwMode="auto">
            <a:xfrm>
              <a:off x="3926" y="1300"/>
              <a:ext cx="27" cy="29"/>
            </a:xfrm>
            <a:custGeom>
              <a:avLst/>
              <a:gdLst>
                <a:gd name="T0" fmla="*/ 3 w 32"/>
                <a:gd name="T1" fmla="*/ 0 h 41"/>
                <a:gd name="T2" fmla="*/ 0 w 32"/>
                <a:gd name="T3" fmla="*/ 1 h 41"/>
                <a:gd name="T4" fmla="*/ 3 w 32"/>
                <a:gd name="T5" fmla="*/ 1 h 41"/>
                <a:gd name="T6" fmla="*/ 3 w 32"/>
                <a:gd name="T7" fmla="*/ 1 h 41"/>
                <a:gd name="T8" fmla="*/ 3 w 32"/>
                <a:gd name="T9" fmla="*/ 1 h 41"/>
                <a:gd name="T10" fmla="*/ 3 w 32"/>
                <a:gd name="T11" fmla="*/ 1 h 41"/>
                <a:gd name="T12" fmla="*/ 3 w 32"/>
                <a:gd name="T13" fmla="*/ 1 h 41"/>
                <a:gd name="T14" fmla="*/ 3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41"/>
                <a:gd name="T26" fmla="*/ 32 w 32"/>
                <a:gd name="T27" fmla="*/ 41 h 4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7" name="Freeform 61">
              <a:extLst>
                <a:ext uri="{FF2B5EF4-FFF2-40B4-BE49-F238E27FC236}">
                  <a16:creationId xmlns:a16="http://schemas.microsoft.com/office/drawing/2014/main" id="{7A8F4285-69F1-48D3-B5FC-FE76FCBD7BC4}"/>
                </a:ext>
              </a:extLst>
            </p:cNvPr>
            <p:cNvSpPr>
              <a:spLocks noChangeArrowheads="1"/>
            </p:cNvSpPr>
            <p:nvPr/>
          </p:nvSpPr>
          <p:spPr bwMode="auto">
            <a:xfrm>
              <a:off x="3965" y="1311"/>
              <a:ext cx="39" cy="22"/>
            </a:xfrm>
            <a:custGeom>
              <a:avLst/>
              <a:gdLst>
                <a:gd name="T0" fmla="*/ 3 w 45"/>
                <a:gd name="T1" fmla="*/ 0 h 32"/>
                <a:gd name="T2" fmla="*/ 0 w 45"/>
                <a:gd name="T3" fmla="*/ 1 h 32"/>
                <a:gd name="T4" fmla="*/ 3 w 45"/>
                <a:gd name="T5" fmla="*/ 1 h 32"/>
                <a:gd name="T6" fmla="*/ 3 w 45"/>
                <a:gd name="T7" fmla="*/ 1 h 32"/>
                <a:gd name="T8" fmla="*/ 3 w 45"/>
                <a:gd name="T9" fmla="*/ 1 h 32"/>
                <a:gd name="T10" fmla="*/ 3 w 45"/>
                <a:gd name="T11" fmla="*/ 0 h 32"/>
                <a:gd name="T12" fmla="*/ 0 60000 65536"/>
                <a:gd name="T13" fmla="*/ 0 60000 65536"/>
                <a:gd name="T14" fmla="*/ 0 60000 65536"/>
                <a:gd name="T15" fmla="*/ 0 60000 65536"/>
                <a:gd name="T16" fmla="*/ 0 60000 65536"/>
                <a:gd name="T17" fmla="*/ 0 60000 65536"/>
                <a:gd name="T18" fmla="*/ 0 w 45"/>
                <a:gd name="T19" fmla="*/ 0 h 32"/>
                <a:gd name="T20" fmla="*/ 45 w 45"/>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8" name="Freeform 62">
              <a:extLst>
                <a:ext uri="{FF2B5EF4-FFF2-40B4-BE49-F238E27FC236}">
                  <a16:creationId xmlns:a16="http://schemas.microsoft.com/office/drawing/2014/main" id="{8AC06594-BF13-4D8F-BECA-C61820450CC7}"/>
                </a:ext>
              </a:extLst>
            </p:cNvPr>
            <p:cNvSpPr>
              <a:spLocks noChangeArrowheads="1"/>
            </p:cNvSpPr>
            <p:nvPr/>
          </p:nvSpPr>
          <p:spPr bwMode="auto">
            <a:xfrm>
              <a:off x="3908" y="1000"/>
              <a:ext cx="31" cy="52"/>
            </a:xfrm>
            <a:custGeom>
              <a:avLst/>
              <a:gdLst>
                <a:gd name="T0" fmla="*/ 4 w 35"/>
                <a:gd name="T1" fmla="*/ 0 h 74"/>
                <a:gd name="T2" fmla="*/ 4 w 35"/>
                <a:gd name="T3" fmla="*/ 1 h 74"/>
                <a:gd name="T4" fmla="*/ 4 w 35"/>
                <a:gd name="T5" fmla="*/ 1 h 74"/>
                <a:gd name="T6" fmla="*/ 0 w 35"/>
                <a:gd name="T7" fmla="*/ 1 h 74"/>
                <a:gd name="T8" fmla="*/ 4 w 35"/>
                <a:gd name="T9" fmla="*/ 1 h 74"/>
                <a:gd name="T10" fmla="*/ 4 w 35"/>
                <a:gd name="T11" fmla="*/ 1 h 74"/>
                <a:gd name="T12" fmla="*/ 4 w 35"/>
                <a:gd name="T13" fmla="*/ 1 h 74"/>
                <a:gd name="T14" fmla="*/ 4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 name="T24" fmla="*/ 0 w 35"/>
                <a:gd name="T25" fmla="*/ 0 h 74"/>
                <a:gd name="T26" fmla="*/ 35 w 35"/>
                <a:gd name="T27" fmla="*/ 74 h 7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9" name="Freeform 63">
              <a:extLst>
                <a:ext uri="{FF2B5EF4-FFF2-40B4-BE49-F238E27FC236}">
                  <a16:creationId xmlns:a16="http://schemas.microsoft.com/office/drawing/2014/main" id="{9F9EC753-DF49-4DD0-A66D-BA4E6E83AF92}"/>
                </a:ext>
              </a:extLst>
            </p:cNvPr>
            <p:cNvSpPr>
              <a:spLocks noChangeArrowheads="1"/>
            </p:cNvSpPr>
            <p:nvPr/>
          </p:nvSpPr>
          <p:spPr bwMode="auto">
            <a:xfrm>
              <a:off x="3967" y="992"/>
              <a:ext cx="22" cy="51"/>
            </a:xfrm>
            <a:custGeom>
              <a:avLst/>
              <a:gdLst>
                <a:gd name="T0" fmla="*/ 4 w 25"/>
                <a:gd name="T1" fmla="*/ 1 h 73"/>
                <a:gd name="T2" fmla="*/ 4 w 25"/>
                <a:gd name="T3" fmla="*/ 1 h 73"/>
                <a:gd name="T4" fmla="*/ 0 w 25"/>
                <a:gd name="T5" fmla="*/ 1 h 73"/>
                <a:gd name="T6" fmla="*/ 4 w 25"/>
                <a:gd name="T7" fmla="*/ 1 h 73"/>
                <a:gd name="T8" fmla="*/ 4 w 25"/>
                <a:gd name="T9" fmla="*/ 1 h 73"/>
                <a:gd name="T10" fmla="*/ 4 w 25"/>
                <a:gd name="T11" fmla="*/ 1 h 73"/>
                <a:gd name="T12" fmla="*/ 4 w 25"/>
                <a:gd name="T13" fmla="*/ 1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0" name="Freeform 64">
              <a:extLst>
                <a:ext uri="{FF2B5EF4-FFF2-40B4-BE49-F238E27FC236}">
                  <a16:creationId xmlns:a16="http://schemas.microsoft.com/office/drawing/2014/main" id="{F2C4A2D6-732B-489F-9219-C24189DFB2D8}"/>
                </a:ext>
              </a:extLst>
            </p:cNvPr>
            <p:cNvSpPr>
              <a:spLocks noChangeArrowheads="1"/>
            </p:cNvSpPr>
            <p:nvPr/>
          </p:nvSpPr>
          <p:spPr bwMode="auto">
            <a:xfrm>
              <a:off x="3992" y="976"/>
              <a:ext cx="12" cy="23"/>
            </a:xfrm>
            <a:custGeom>
              <a:avLst/>
              <a:gdLst>
                <a:gd name="T0" fmla="*/ 3 w 14"/>
                <a:gd name="T1" fmla="*/ 0 h 33"/>
                <a:gd name="T2" fmla="*/ 1 w 14"/>
                <a:gd name="T3" fmla="*/ 1 h 33"/>
                <a:gd name="T4" fmla="*/ 3 w 14"/>
                <a:gd name="T5" fmla="*/ 1 h 33"/>
                <a:gd name="T6" fmla="*/ 3 w 14"/>
                <a:gd name="T7" fmla="*/ 0 h 33"/>
                <a:gd name="T8" fmla="*/ 0 60000 65536"/>
                <a:gd name="T9" fmla="*/ 0 60000 65536"/>
                <a:gd name="T10" fmla="*/ 0 60000 65536"/>
                <a:gd name="T11" fmla="*/ 0 60000 65536"/>
                <a:gd name="T12" fmla="*/ 0 w 14"/>
                <a:gd name="T13" fmla="*/ 0 h 33"/>
                <a:gd name="T14" fmla="*/ 14 w 14"/>
                <a:gd name="T15" fmla="*/ 33 h 33"/>
              </a:gdLst>
              <a:ahLst/>
              <a:cxnLst>
                <a:cxn ang="T8">
                  <a:pos x="T0" y="T1"/>
                </a:cxn>
                <a:cxn ang="T9">
                  <a:pos x="T2" y="T3"/>
                </a:cxn>
                <a:cxn ang="T10">
                  <a:pos x="T4" y="T5"/>
                </a:cxn>
                <a:cxn ang="T11">
                  <a:pos x="T6" y="T7"/>
                </a:cxn>
              </a:cxnLst>
              <a:rect l="T12" t="T13" r="T14" b="T15"/>
              <a:pathLst>
                <a:path w="14" h="33">
                  <a:moveTo>
                    <a:pt x="11" y="0"/>
                  </a:moveTo>
                  <a:cubicBezTo>
                    <a:pt x="7" y="3"/>
                    <a:pt x="5" y="7"/>
                    <a:pt x="1" y="10"/>
                  </a:cubicBezTo>
                  <a:cubicBezTo>
                    <a:pt x="2" y="18"/>
                    <a:pt x="0" y="33"/>
                    <a:pt x="11" y="25"/>
                  </a:cubicBezTo>
                  <a:cubicBezTo>
                    <a:pt x="14" y="15"/>
                    <a:pt x="5" y="4"/>
                    <a:pt x="11"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1" name="Freeform 65">
              <a:extLst>
                <a:ext uri="{FF2B5EF4-FFF2-40B4-BE49-F238E27FC236}">
                  <a16:creationId xmlns:a16="http://schemas.microsoft.com/office/drawing/2014/main" id="{E491B2E8-623A-432F-9F31-D870E189EFD6}"/>
                </a:ext>
              </a:extLst>
            </p:cNvPr>
            <p:cNvSpPr>
              <a:spLocks noChangeArrowheads="1"/>
            </p:cNvSpPr>
            <p:nvPr/>
          </p:nvSpPr>
          <p:spPr bwMode="auto">
            <a:xfrm>
              <a:off x="4004" y="987"/>
              <a:ext cx="24" cy="45"/>
            </a:xfrm>
            <a:custGeom>
              <a:avLst/>
              <a:gdLst>
                <a:gd name="T0" fmla="*/ 3 w 28"/>
                <a:gd name="T1" fmla="*/ 0 h 64"/>
                <a:gd name="T2" fmla="*/ 3 w 28"/>
                <a:gd name="T3" fmla="*/ 1 h 64"/>
                <a:gd name="T4" fmla="*/ 3 w 28"/>
                <a:gd name="T5" fmla="*/ 1 h 64"/>
                <a:gd name="T6" fmla="*/ 3 w 28"/>
                <a:gd name="T7" fmla="*/ 1 h 64"/>
                <a:gd name="T8" fmla="*/ 0 w 28"/>
                <a:gd name="T9" fmla="*/ 1 h 64"/>
                <a:gd name="T10" fmla="*/ 3 w 28"/>
                <a:gd name="T11" fmla="*/ 1 h 64"/>
                <a:gd name="T12" fmla="*/ 3 w 28"/>
                <a:gd name="T13" fmla="*/ 1 h 64"/>
                <a:gd name="T14" fmla="*/ 3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64"/>
                <a:gd name="T26" fmla="*/ 28 w 28"/>
                <a:gd name="T27" fmla="*/ 64 h 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2" name="Freeform 66">
              <a:extLst>
                <a:ext uri="{FF2B5EF4-FFF2-40B4-BE49-F238E27FC236}">
                  <a16:creationId xmlns:a16="http://schemas.microsoft.com/office/drawing/2014/main" id="{58BC65FA-7220-43DF-80E0-604367A4FA37}"/>
                </a:ext>
              </a:extLst>
            </p:cNvPr>
            <p:cNvSpPr>
              <a:spLocks noChangeArrowheads="1"/>
            </p:cNvSpPr>
            <p:nvPr/>
          </p:nvSpPr>
          <p:spPr bwMode="auto">
            <a:xfrm>
              <a:off x="3694" y="1052"/>
              <a:ext cx="14" cy="25"/>
            </a:xfrm>
            <a:custGeom>
              <a:avLst/>
              <a:gdLst>
                <a:gd name="T0" fmla="*/ 4 w 16"/>
                <a:gd name="T1" fmla="*/ 1 h 36"/>
                <a:gd name="T2" fmla="*/ 0 w 16"/>
                <a:gd name="T3" fmla="*/ 1 h 36"/>
                <a:gd name="T4" fmla="*/ 4 w 16"/>
                <a:gd name="T5" fmla="*/ 1 h 36"/>
                <a:gd name="T6" fmla="*/ 4 w 16"/>
                <a:gd name="T7" fmla="*/ 1 h 36"/>
                <a:gd name="T8" fmla="*/ 0 60000 65536"/>
                <a:gd name="T9" fmla="*/ 0 60000 65536"/>
                <a:gd name="T10" fmla="*/ 0 60000 65536"/>
                <a:gd name="T11" fmla="*/ 0 60000 65536"/>
                <a:gd name="T12" fmla="*/ 0 w 16"/>
                <a:gd name="T13" fmla="*/ 0 h 36"/>
                <a:gd name="T14" fmla="*/ 16 w 16"/>
                <a:gd name="T15" fmla="*/ 36 h 36"/>
              </a:gdLst>
              <a:ahLst/>
              <a:cxnLst>
                <a:cxn ang="T8">
                  <a:pos x="T0" y="T1"/>
                </a:cxn>
                <a:cxn ang="T9">
                  <a:pos x="T2" y="T3"/>
                </a:cxn>
                <a:cxn ang="T10">
                  <a:pos x="T4" y="T5"/>
                </a:cxn>
                <a:cxn ang="T11">
                  <a:pos x="T6" y="T7"/>
                </a:cxn>
              </a:cxnLst>
              <a:rect l="T12" t="T13" r="T14" b="T15"/>
              <a:pathLst>
                <a:path w="16" h="36">
                  <a:moveTo>
                    <a:pt x="14" y="3"/>
                  </a:moveTo>
                  <a:cubicBezTo>
                    <a:pt x="7" y="0"/>
                    <a:pt x="4" y="1"/>
                    <a:pt x="0" y="7"/>
                  </a:cubicBezTo>
                  <a:cubicBezTo>
                    <a:pt x="3" y="14"/>
                    <a:pt x="2" y="17"/>
                    <a:pt x="8" y="22"/>
                  </a:cubicBezTo>
                  <a:cubicBezTo>
                    <a:pt x="16" y="36"/>
                    <a:pt x="11" y="7"/>
                    <a:pt x="14" y="3"/>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3" name="Freeform 67">
              <a:extLst>
                <a:ext uri="{FF2B5EF4-FFF2-40B4-BE49-F238E27FC236}">
                  <a16:creationId xmlns:a16="http://schemas.microsoft.com/office/drawing/2014/main" id="{F58BF40E-893C-48CF-A968-506A22EB6432}"/>
                </a:ext>
              </a:extLst>
            </p:cNvPr>
            <p:cNvSpPr>
              <a:spLocks noChangeArrowheads="1"/>
            </p:cNvSpPr>
            <p:nvPr/>
          </p:nvSpPr>
          <p:spPr bwMode="auto">
            <a:xfrm>
              <a:off x="3683" y="1030"/>
              <a:ext cx="11" cy="14"/>
            </a:xfrm>
            <a:custGeom>
              <a:avLst/>
              <a:gdLst>
                <a:gd name="T0" fmla="*/ 3 w 13"/>
                <a:gd name="T1" fmla="*/ 1 h 20"/>
                <a:gd name="T2" fmla="*/ 1 w 13"/>
                <a:gd name="T3" fmla="*/ 1 h 20"/>
                <a:gd name="T4" fmla="*/ 3 w 13"/>
                <a:gd name="T5" fmla="*/ 1 h 20"/>
                <a:gd name="T6" fmla="*/ 3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4" name="Freeform 68">
              <a:extLst>
                <a:ext uri="{FF2B5EF4-FFF2-40B4-BE49-F238E27FC236}">
                  <a16:creationId xmlns:a16="http://schemas.microsoft.com/office/drawing/2014/main" id="{82DB6A19-8DBC-4687-8986-A87A655FAED6}"/>
                </a:ext>
              </a:extLst>
            </p:cNvPr>
            <p:cNvSpPr>
              <a:spLocks noChangeArrowheads="1"/>
            </p:cNvSpPr>
            <p:nvPr/>
          </p:nvSpPr>
          <p:spPr bwMode="auto">
            <a:xfrm>
              <a:off x="3678" y="1013"/>
              <a:ext cx="14" cy="14"/>
            </a:xfrm>
            <a:custGeom>
              <a:avLst/>
              <a:gdLst>
                <a:gd name="T0" fmla="*/ 4 w 16"/>
                <a:gd name="T1" fmla="*/ 1 h 19"/>
                <a:gd name="T2" fmla="*/ 0 w 16"/>
                <a:gd name="T3" fmla="*/ 1 h 19"/>
                <a:gd name="T4" fmla="*/ 4 w 16"/>
                <a:gd name="T5" fmla="*/ 1 h 19"/>
                <a:gd name="T6" fmla="*/ 4 w 16"/>
                <a:gd name="T7" fmla="*/ 1 h 19"/>
                <a:gd name="T8" fmla="*/ 0 60000 65536"/>
                <a:gd name="T9" fmla="*/ 0 60000 65536"/>
                <a:gd name="T10" fmla="*/ 0 60000 65536"/>
                <a:gd name="T11" fmla="*/ 0 60000 65536"/>
                <a:gd name="T12" fmla="*/ 0 w 16"/>
                <a:gd name="T13" fmla="*/ 0 h 19"/>
                <a:gd name="T14" fmla="*/ 16 w 16"/>
                <a:gd name="T15" fmla="*/ 19 h 19"/>
              </a:gdLst>
              <a:ahLst/>
              <a:cxnLst>
                <a:cxn ang="T8">
                  <a:pos x="T0" y="T1"/>
                </a:cxn>
                <a:cxn ang="T9">
                  <a:pos x="T2" y="T3"/>
                </a:cxn>
                <a:cxn ang="T10">
                  <a:pos x="T4" y="T5"/>
                </a:cxn>
                <a:cxn ang="T11">
                  <a:pos x="T6" y="T7"/>
                </a:cxn>
              </a:cxnLst>
              <a:rect l="T12" t="T13" r="T14" b="T15"/>
              <a:pathLst>
                <a:path w="16" h="19">
                  <a:moveTo>
                    <a:pt x="10" y="5"/>
                  </a:moveTo>
                  <a:cubicBezTo>
                    <a:pt x="4" y="0"/>
                    <a:pt x="1" y="3"/>
                    <a:pt x="0" y="10"/>
                  </a:cubicBezTo>
                  <a:cubicBezTo>
                    <a:pt x="4" y="15"/>
                    <a:pt x="7" y="16"/>
                    <a:pt x="12" y="19"/>
                  </a:cubicBezTo>
                  <a:cubicBezTo>
                    <a:pt x="16" y="12"/>
                    <a:pt x="14"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5" name="Freeform 69">
              <a:extLst>
                <a:ext uri="{FF2B5EF4-FFF2-40B4-BE49-F238E27FC236}">
                  <a16:creationId xmlns:a16="http://schemas.microsoft.com/office/drawing/2014/main" id="{D9596316-36D0-46C9-A634-545064FA6DFF}"/>
                </a:ext>
              </a:extLst>
            </p:cNvPr>
            <p:cNvSpPr>
              <a:spLocks noChangeArrowheads="1"/>
            </p:cNvSpPr>
            <p:nvPr/>
          </p:nvSpPr>
          <p:spPr bwMode="auto">
            <a:xfrm>
              <a:off x="3664" y="976"/>
              <a:ext cx="13" cy="18"/>
            </a:xfrm>
            <a:custGeom>
              <a:avLst/>
              <a:gdLst>
                <a:gd name="T0" fmla="*/ 6 w 14"/>
                <a:gd name="T1" fmla="*/ 0 h 25"/>
                <a:gd name="T2" fmla="*/ 0 w 14"/>
                <a:gd name="T3" fmla="*/ 1 h 25"/>
                <a:gd name="T4" fmla="*/ 7 w 14"/>
                <a:gd name="T5" fmla="*/ 1 h 25"/>
                <a:gd name="T6" fmla="*/ 6 w 14"/>
                <a:gd name="T7" fmla="*/ 0 h 25"/>
                <a:gd name="T8" fmla="*/ 0 60000 65536"/>
                <a:gd name="T9" fmla="*/ 0 60000 65536"/>
                <a:gd name="T10" fmla="*/ 0 60000 65536"/>
                <a:gd name="T11" fmla="*/ 0 60000 65536"/>
                <a:gd name="T12" fmla="*/ 0 w 14"/>
                <a:gd name="T13" fmla="*/ 0 h 25"/>
                <a:gd name="T14" fmla="*/ 14 w 14"/>
                <a:gd name="T15" fmla="*/ 25 h 25"/>
              </a:gdLst>
              <a:ahLst/>
              <a:cxnLst>
                <a:cxn ang="T8">
                  <a:pos x="T0" y="T1"/>
                </a:cxn>
                <a:cxn ang="T9">
                  <a:pos x="T2" y="T3"/>
                </a:cxn>
                <a:cxn ang="T10">
                  <a:pos x="T4" y="T5"/>
                </a:cxn>
                <a:cxn ang="T11">
                  <a:pos x="T6" y="T7"/>
                </a:cxn>
              </a:cxnLst>
              <a:rect l="T12" t="T13" r="T14" b="T15"/>
              <a:pathLst>
                <a:path w="14" h="25">
                  <a:moveTo>
                    <a:pt x="6" y="0"/>
                  </a:moveTo>
                  <a:cubicBezTo>
                    <a:pt x="4" y="5"/>
                    <a:pt x="3" y="9"/>
                    <a:pt x="0" y="13"/>
                  </a:cubicBezTo>
                  <a:cubicBezTo>
                    <a:pt x="1" y="24"/>
                    <a:pt x="1" y="25"/>
                    <a:pt x="12" y="24"/>
                  </a:cubicBezTo>
                  <a:cubicBezTo>
                    <a:pt x="14" y="12"/>
                    <a:pt x="8" y="10"/>
                    <a:pt x="6"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6" name="Freeform 70">
              <a:extLst>
                <a:ext uri="{FF2B5EF4-FFF2-40B4-BE49-F238E27FC236}">
                  <a16:creationId xmlns:a16="http://schemas.microsoft.com/office/drawing/2014/main" id="{28612271-A67B-4091-8A23-BA9D04DC5DE7}"/>
                </a:ext>
              </a:extLst>
            </p:cNvPr>
            <p:cNvSpPr>
              <a:spLocks noChangeArrowheads="1"/>
            </p:cNvSpPr>
            <p:nvPr/>
          </p:nvSpPr>
          <p:spPr bwMode="auto">
            <a:xfrm>
              <a:off x="3667" y="999"/>
              <a:ext cx="18" cy="13"/>
            </a:xfrm>
            <a:custGeom>
              <a:avLst/>
              <a:gdLst>
                <a:gd name="T0" fmla="*/ 2 w 22"/>
                <a:gd name="T1" fmla="*/ 0 h 18"/>
                <a:gd name="T2" fmla="*/ 2 w 22"/>
                <a:gd name="T3" fmla="*/ 1 h 18"/>
                <a:gd name="T4" fmla="*/ 2 w 22"/>
                <a:gd name="T5" fmla="*/ 1 h 18"/>
                <a:gd name="T6" fmla="*/ 2 w 22"/>
                <a:gd name="T7" fmla="*/ 0 h 18"/>
                <a:gd name="T8" fmla="*/ 0 60000 65536"/>
                <a:gd name="T9" fmla="*/ 0 60000 65536"/>
                <a:gd name="T10" fmla="*/ 0 60000 65536"/>
                <a:gd name="T11" fmla="*/ 0 60000 65536"/>
                <a:gd name="T12" fmla="*/ 0 w 22"/>
                <a:gd name="T13" fmla="*/ 0 h 18"/>
                <a:gd name="T14" fmla="*/ 22 w 22"/>
                <a:gd name="T15" fmla="*/ 18 h 18"/>
              </a:gdLst>
              <a:ahLst/>
              <a:cxnLst>
                <a:cxn ang="T8">
                  <a:pos x="T0" y="T1"/>
                </a:cxn>
                <a:cxn ang="T9">
                  <a:pos x="T2" y="T3"/>
                </a:cxn>
                <a:cxn ang="T10">
                  <a:pos x="T4" y="T5"/>
                </a:cxn>
                <a:cxn ang="T11">
                  <a:pos x="T6" y="T7"/>
                </a:cxn>
              </a:cxnLst>
              <a:rect l="T12" t="T13" r="T14" b="T15"/>
              <a:pathLst>
                <a:path w="22" h="18">
                  <a:moveTo>
                    <a:pt x="13" y="0"/>
                  </a:moveTo>
                  <a:cubicBezTo>
                    <a:pt x="0" y="8"/>
                    <a:pt x="9" y="12"/>
                    <a:pt x="19" y="18"/>
                  </a:cubicBezTo>
                  <a:cubicBezTo>
                    <a:pt x="20" y="11"/>
                    <a:pt x="22" y="8"/>
                    <a:pt x="14" y="6"/>
                  </a:cubicBezTo>
                  <a:cubicBezTo>
                    <a:pt x="9" y="3"/>
                    <a:pt x="9" y="5"/>
                    <a:pt x="13"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7" name="Freeform 71">
              <a:extLst>
                <a:ext uri="{FF2B5EF4-FFF2-40B4-BE49-F238E27FC236}">
                  <a16:creationId xmlns:a16="http://schemas.microsoft.com/office/drawing/2014/main" id="{A8332533-FF2A-42F0-94C6-004BF76D96E5}"/>
                </a:ext>
              </a:extLst>
            </p:cNvPr>
            <p:cNvSpPr>
              <a:spLocks noChangeArrowheads="1"/>
            </p:cNvSpPr>
            <p:nvPr/>
          </p:nvSpPr>
          <p:spPr bwMode="auto">
            <a:xfrm>
              <a:off x="4628" y="1582"/>
              <a:ext cx="52" cy="56"/>
            </a:xfrm>
            <a:custGeom>
              <a:avLst/>
              <a:gdLst>
                <a:gd name="T0" fmla="*/ 3 w 60"/>
                <a:gd name="T1" fmla="*/ 1 h 81"/>
                <a:gd name="T2" fmla="*/ 3 w 60"/>
                <a:gd name="T3" fmla="*/ 1 h 81"/>
                <a:gd name="T4" fmla="*/ 3 w 60"/>
                <a:gd name="T5" fmla="*/ 1 h 81"/>
                <a:gd name="T6" fmla="*/ 3 w 60"/>
                <a:gd name="T7" fmla="*/ 1 h 81"/>
                <a:gd name="T8" fmla="*/ 3 w 60"/>
                <a:gd name="T9" fmla="*/ 1 h 81"/>
                <a:gd name="T10" fmla="*/ 3 w 60"/>
                <a:gd name="T11" fmla="*/ 1 h 81"/>
                <a:gd name="T12" fmla="*/ 3 w 60"/>
                <a:gd name="T13" fmla="*/ 1 h 81"/>
                <a:gd name="T14" fmla="*/ 3 w 60"/>
                <a:gd name="T15" fmla="*/ 1 h 81"/>
                <a:gd name="T16" fmla="*/ 3 w 60"/>
                <a:gd name="T17" fmla="*/ 1 h 81"/>
                <a:gd name="T18" fmla="*/ 3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81"/>
                <a:gd name="T32" fmla="*/ 60 w 60"/>
                <a:gd name="T33" fmla="*/ 81 h 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8" name="Freeform 72">
              <a:extLst>
                <a:ext uri="{FF2B5EF4-FFF2-40B4-BE49-F238E27FC236}">
                  <a16:creationId xmlns:a16="http://schemas.microsoft.com/office/drawing/2014/main" id="{4EC8754C-9F97-4EE3-81D2-84571A34FA63}"/>
                </a:ext>
              </a:extLst>
            </p:cNvPr>
            <p:cNvSpPr>
              <a:spLocks noChangeArrowheads="1"/>
            </p:cNvSpPr>
            <p:nvPr/>
          </p:nvSpPr>
          <p:spPr bwMode="auto">
            <a:xfrm>
              <a:off x="4894" y="1536"/>
              <a:ext cx="61" cy="43"/>
            </a:xfrm>
            <a:custGeom>
              <a:avLst/>
              <a:gdLst>
                <a:gd name="T0" fmla="*/ 3 w 71"/>
                <a:gd name="T1" fmla="*/ 1 h 61"/>
                <a:gd name="T2" fmla="*/ 3 w 71"/>
                <a:gd name="T3" fmla="*/ 1 h 61"/>
                <a:gd name="T4" fmla="*/ 1 w 71"/>
                <a:gd name="T5" fmla="*/ 1 h 61"/>
                <a:gd name="T6" fmla="*/ 3 w 71"/>
                <a:gd name="T7" fmla="*/ 1 h 61"/>
                <a:gd name="T8" fmla="*/ 3 w 71"/>
                <a:gd name="T9" fmla="*/ 1 h 61"/>
                <a:gd name="T10" fmla="*/ 3 w 71"/>
                <a:gd name="T11" fmla="*/ 1 h 61"/>
                <a:gd name="T12" fmla="*/ 3 w 71"/>
                <a:gd name="T13" fmla="*/ 0 h 61"/>
                <a:gd name="T14" fmla="*/ 4 w 71"/>
                <a:gd name="T15" fmla="*/ 1 h 61"/>
                <a:gd name="T16" fmla="*/ 3 w 71"/>
                <a:gd name="T17" fmla="*/ 1 h 61"/>
                <a:gd name="T18" fmla="*/ 3 w 71"/>
                <a:gd name="T19" fmla="*/ 1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
                <a:gd name="T31" fmla="*/ 0 h 61"/>
                <a:gd name="T32" fmla="*/ 71 w 71"/>
                <a:gd name="T33" fmla="*/ 61 h 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9" name="Freeform 73">
              <a:extLst>
                <a:ext uri="{FF2B5EF4-FFF2-40B4-BE49-F238E27FC236}">
                  <a16:creationId xmlns:a16="http://schemas.microsoft.com/office/drawing/2014/main" id="{48A4F9B2-0130-4C46-98C1-7FD358722540}"/>
                </a:ext>
              </a:extLst>
            </p:cNvPr>
            <p:cNvSpPr>
              <a:spLocks noChangeArrowheads="1"/>
            </p:cNvSpPr>
            <p:nvPr/>
          </p:nvSpPr>
          <p:spPr bwMode="auto">
            <a:xfrm>
              <a:off x="4710" y="1513"/>
              <a:ext cx="20" cy="21"/>
            </a:xfrm>
            <a:custGeom>
              <a:avLst/>
              <a:gdLst>
                <a:gd name="T0" fmla="*/ 3 w 23"/>
                <a:gd name="T1" fmla="*/ 0 h 30"/>
                <a:gd name="T2" fmla="*/ 0 w 23"/>
                <a:gd name="T3" fmla="*/ 1 h 30"/>
                <a:gd name="T4" fmla="*/ 3 w 23"/>
                <a:gd name="T5" fmla="*/ 1 h 30"/>
                <a:gd name="T6" fmla="*/ 3 w 23"/>
                <a:gd name="T7" fmla="*/ 0 h 30"/>
                <a:gd name="T8" fmla="*/ 0 60000 65536"/>
                <a:gd name="T9" fmla="*/ 0 60000 65536"/>
                <a:gd name="T10" fmla="*/ 0 60000 65536"/>
                <a:gd name="T11" fmla="*/ 0 60000 65536"/>
                <a:gd name="T12" fmla="*/ 0 w 23"/>
                <a:gd name="T13" fmla="*/ 0 h 30"/>
                <a:gd name="T14" fmla="*/ 23 w 23"/>
                <a:gd name="T15" fmla="*/ 30 h 30"/>
              </a:gdLst>
              <a:ahLst/>
              <a:cxnLst>
                <a:cxn ang="T8">
                  <a:pos x="T0" y="T1"/>
                </a:cxn>
                <a:cxn ang="T9">
                  <a:pos x="T2" y="T3"/>
                </a:cxn>
                <a:cxn ang="T10">
                  <a:pos x="T4" y="T5"/>
                </a:cxn>
                <a:cxn ang="T11">
                  <a:pos x="T6" y="T7"/>
                </a:cxn>
              </a:cxnLst>
              <a:rect l="T12" t="T13" r="T14" b="T15"/>
              <a:pathLst>
                <a:path w="23" h="30">
                  <a:moveTo>
                    <a:pt x="9" y="0"/>
                  </a:moveTo>
                  <a:cubicBezTo>
                    <a:pt x="8" y="7"/>
                    <a:pt x="3" y="8"/>
                    <a:pt x="0" y="14"/>
                  </a:cubicBezTo>
                  <a:cubicBezTo>
                    <a:pt x="3" y="21"/>
                    <a:pt x="8" y="24"/>
                    <a:pt x="12" y="30"/>
                  </a:cubicBezTo>
                  <a:cubicBezTo>
                    <a:pt x="23" y="15"/>
                    <a:pt x="4" y="9"/>
                    <a:pt x="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0" name="Freeform 74">
              <a:extLst>
                <a:ext uri="{FF2B5EF4-FFF2-40B4-BE49-F238E27FC236}">
                  <a16:creationId xmlns:a16="http://schemas.microsoft.com/office/drawing/2014/main" id="{BA5D21B2-3ABE-4B3D-951E-4073B2D62228}"/>
                </a:ext>
              </a:extLst>
            </p:cNvPr>
            <p:cNvSpPr>
              <a:spLocks noChangeArrowheads="1"/>
            </p:cNvSpPr>
            <p:nvPr/>
          </p:nvSpPr>
          <p:spPr bwMode="auto">
            <a:xfrm>
              <a:off x="4701" y="1492"/>
              <a:ext cx="23" cy="16"/>
            </a:xfrm>
            <a:custGeom>
              <a:avLst/>
              <a:gdLst>
                <a:gd name="T0" fmla="*/ 4 w 26"/>
                <a:gd name="T1" fmla="*/ 0 h 23"/>
                <a:gd name="T2" fmla="*/ 0 w 26"/>
                <a:gd name="T3" fmla="*/ 1 h 23"/>
                <a:gd name="T4" fmla="*/ 4 w 26"/>
                <a:gd name="T5" fmla="*/ 1 h 23"/>
                <a:gd name="T6" fmla="*/ 4 w 26"/>
                <a:gd name="T7" fmla="*/ 0 h 23"/>
                <a:gd name="T8" fmla="*/ 0 60000 65536"/>
                <a:gd name="T9" fmla="*/ 0 60000 65536"/>
                <a:gd name="T10" fmla="*/ 0 60000 65536"/>
                <a:gd name="T11" fmla="*/ 0 60000 65536"/>
                <a:gd name="T12" fmla="*/ 0 w 26"/>
                <a:gd name="T13" fmla="*/ 0 h 23"/>
                <a:gd name="T14" fmla="*/ 26 w 26"/>
                <a:gd name="T15" fmla="*/ 23 h 23"/>
              </a:gdLst>
              <a:ahLst/>
              <a:cxnLst>
                <a:cxn ang="T8">
                  <a:pos x="T0" y="T1"/>
                </a:cxn>
                <a:cxn ang="T9">
                  <a:pos x="T2" y="T3"/>
                </a:cxn>
                <a:cxn ang="T10">
                  <a:pos x="T4" y="T5"/>
                </a:cxn>
                <a:cxn ang="T11">
                  <a:pos x="T6" y="T7"/>
                </a:cxn>
              </a:cxnLst>
              <a:rect l="T12" t="T13" r="T14" b="T15"/>
              <a:pathLst>
                <a:path w="26" h="23">
                  <a:moveTo>
                    <a:pt x="19" y="0"/>
                  </a:moveTo>
                  <a:cubicBezTo>
                    <a:pt x="17" y="12"/>
                    <a:pt x="10" y="11"/>
                    <a:pt x="0" y="14"/>
                  </a:cubicBezTo>
                  <a:cubicBezTo>
                    <a:pt x="5" y="23"/>
                    <a:pt x="11" y="22"/>
                    <a:pt x="21" y="20"/>
                  </a:cubicBezTo>
                  <a:cubicBezTo>
                    <a:pt x="26" y="12"/>
                    <a:pt x="23" y="7"/>
                    <a:pt x="1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1" name="Freeform 75">
              <a:extLst>
                <a:ext uri="{FF2B5EF4-FFF2-40B4-BE49-F238E27FC236}">
                  <a16:creationId xmlns:a16="http://schemas.microsoft.com/office/drawing/2014/main" id="{6142DCF5-5A26-40B1-B7E9-095FA75764D1}"/>
                </a:ext>
              </a:extLst>
            </p:cNvPr>
            <p:cNvSpPr>
              <a:spLocks noChangeArrowheads="1"/>
            </p:cNvSpPr>
            <p:nvPr/>
          </p:nvSpPr>
          <p:spPr bwMode="auto">
            <a:xfrm>
              <a:off x="4525" y="1311"/>
              <a:ext cx="27" cy="31"/>
            </a:xfrm>
            <a:custGeom>
              <a:avLst/>
              <a:gdLst>
                <a:gd name="T0" fmla="*/ 3 w 32"/>
                <a:gd name="T1" fmla="*/ 0 h 44"/>
                <a:gd name="T2" fmla="*/ 3 w 32"/>
                <a:gd name="T3" fmla="*/ 1 h 44"/>
                <a:gd name="T4" fmla="*/ 3 w 32"/>
                <a:gd name="T5" fmla="*/ 1 h 44"/>
                <a:gd name="T6" fmla="*/ 3 w 32"/>
                <a:gd name="T7" fmla="*/ 1 h 44"/>
                <a:gd name="T8" fmla="*/ 3 w 32"/>
                <a:gd name="T9" fmla="*/ 0 h 44"/>
                <a:gd name="T10" fmla="*/ 0 60000 65536"/>
                <a:gd name="T11" fmla="*/ 0 60000 65536"/>
                <a:gd name="T12" fmla="*/ 0 60000 65536"/>
                <a:gd name="T13" fmla="*/ 0 60000 65536"/>
                <a:gd name="T14" fmla="*/ 0 60000 65536"/>
                <a:gd name="T15" fmla="*/ 0 w 32"/>
                <a:gd name="T16" fmla="*/ 0 h 44"/>
                <a:gd name="T17" fmla="*/ 32 w 32"/>
                <a:gd name="T18" fmla="*/ 44 h 44"/>
              </a:gdLst>
              <a:ahLst/>
              <a:cxnLst>
                <a:cxn ang="T10">
                  <a:pos x="T0" y="T1"/>
                </a:cxn>
                <a:cxn ang="T11">
                  <a:pos x="T2" y="T3"/>
                </a:cxn>
                <a:cxn ang="T12">
                  <a:pos x="T4" y="T5"/>
                </a:cxn>
                <a:cxn ang="T13">
                  <a:pos x="T6" y="T7"/>
                </a:cxn>
                <a:cxn ang="T14">
                  <a:pos x="T8" y="T9"/>
                </a:cxn>
              </a:cxnLst>
              <a:rect l="T15" t="T16" r="T17" b="T18"/>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2" name="Freeform 76">
              <a:extLst>
                <a:ext uri="{FF2B5EF4-FFF2-40B4-BE49-F238E27FC236}">
                  <a16:creationId xmlns:a16="http://schemas.microsoft.com/office/drawing/2014/main" id="{3090EA1A-1EB2-40AF-A2A5-2103417CC10A}"/>
                </a:ext>
              </a:extLst>
            </p:cNvPr>
            <p:cNvSpPr>
              <a:spLocks noChangeArrowheads="1"/>
            </p:cNvSpPr>
            <p:nvPr/>
          </p:nvSpPr>
          <p:spPr bwMode="auto">
            <a:xfrm>
              <a:off x="4564" y="1351"/>
              <a:ext cx="30" cy="31"/>
            </a:xfrm>
            <a:custGeom>
              <a:avLst/>
              <a:gdLst>
                <a:gd name="T0" fmla="*/ 4 w 34"/>
                <a:gd name="T1" fmla="*/ 0 h 44"/>
                <a:gd name="T2" fmla="*/ 4 w 34"/>
                <a:gd name="T3" fmla="*/ 1 h 44"/>
                <a:gd name="T4" fmla="*/ 4 w 34"/>
                <a:gd name="T5" fmla="*/ 1 h 44"/>
                <a:gd name="T6" fmla="*/ 4 w 34"/>
                <a:gd name="T7" fmla="*/ 1 h 44"/>
                <a:gd name="T8" fmla="*/ 4 w 34"/>
                <a:gd name="T9" fmla="*/ 0 h 44"/>
                <a:gd name="T10" fmla="*/ 0 60000 65536"/>
                <a:gd name="T11" fmla="*/ 0 60000 65536"/>
                <a:gd name="T12" fmla="*/ 0 60000 65536"/>
                <a:gd name="T13" fmla="*/ 0 60000 65536"/>
                <a:gd name="T14" fmla="*/ 0 60000 65536"/>
                <a:gd name="T15" fmla="*/ 0 w 34"/>
                <a:gd name="T16" fmla="*/ 0 h 44"/>
                <a:gd name="T17" fmla="*/ 34 w 34"/>
                <a:gd name="T18" fmla="*/ 44 h 44"/>
              </a:gdLst>
              <a:ahLst/>
              <a:cxnLst>
                <a:cxn ang="T10">
                  <a:pos x="T0" y="T1"/>
                </a:cxn>
                <a:cxn ang="T11">
                  <a:pos x="T2" y="T3"/>
                </a:cxn>
                <a:cxn ang="T12">
                  <a:pos x="T4" y="T5"/>
                </a:cxn>
                <a:cxn ang="T13">
                  <a:pos x="T6" y="T7"/>
                </a:cxn>
                <a:cxn ang="T14">
                  <a:pos x="T8" y="T9"/>
                </a:cxn>
              </a:cxnLst>
              <a:rect l="T15" t="T16" r="T17" b="T18"/>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3" name="Freeform 77">
              <a:extLst>
                <a:ext uri="{FF2B5EF4-FFF2-40B4-BE49-F238E27FC236}">
                  <a16:creationId xmlns:a16="http://schemas.microsoft.com/office/drawing/2014/main" id="{42B78BD9-D89F-49F5-AE2C-941C44710083}"/>
                </a:ext>
              </a:extLst>
            </p:cNvPr>
            <p:cNvSpPr>
              <a:spLocks noChangeArrowheads="1"/>
            </p:cNvSpPr>
            <p:nvPr/>
          </p:nvSpPr>
          <p:spPr bwMode="auto">
            <a:xfrm>
              <a:off x="4595" y="1410"/>
              <a:ext cx="32" cy="26"/>
            </a:xfrm>
            <a:custGeom>
              <a:avLst/>
              <a:gdLst>
                <a:gd name="T0" fmla="*/ 3 w 38"/>
                <a:gd name="T1" fmla="*/ 1 h 37"/>
                <a:gd name="T2" fmla="*/ 3 w 38"/>
                <a:gd name="T3" fmla="*/ 1 h 37"/>
                <a:gd name="T4" fmla="*/ 3 w 38"/>
                <a:gd name="T5" fmla="*/ 1 h 37"/>
                <a:gd name="T6" fmla="*/ 3 w 38"/>
                <a:gd name="T7" fmla="*/ 1 h 37"/>
                <a:gd name="T8" fmla="*/ 3 w 38"/>
                <a:gd name="T9" fmla="*/ 1 h 37"/>
                <a:gd name="T10" fmla="*/ 0 60000 65536"/>
                <a:gd name="T11" fmla="*/ 0 60000 65536"/>
                <a:gd name="T12" fmla="*/ 0 60000 65536"/>
                <a:gd name="T13" fmla="*/ 0 60000 65536"/>
                <a:gd name="T14" fmla="*/ 0 60000 65536"/>
                <a:gd name="T15" fmla="*/ 0 w 38"/>
                <a:gd name="T16" fmla="*/ 0 h 37"/>
                <a:gd name="T17" fmla="*/ 38 w 38"/>
                <a:gd name="T18" fmla="*/ 37 h 37"/>
              </a:gdLst>
              <a:ahLst/>
              <a:cxnLst>
                <a:cxn ang="T10">
                  <a:pos x="T0" y="T1"/>
                </a:cxn>
                <a:cxn ang="T11">
                  <a:pos x="T2" y="T3"/>
                </a:cxn>
                <a:cxn ang="T12">
                  <a:pos x="T4" y="T5"/>
                </a:cxn>
                <a:cxn ang="T13">
                  <a:pos x="T6" y="T7"/>
                </a:cxn>
                <a:cxn ang="T14">
                  <a:pos x="T8" y="T9"/>
                </a:cxn>
              </a:cxnLst>
              <a:rect l="T15" t="T16" r="T17" b="T18"/>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4" name="Freeform 78">
              <a:extLst>
                <a:ext uri="{FF2B5EF4-FFF2-40B4-BE49-F238E27FC236}">
                  <a16:creationId xmlns:a16="http://schemas.microsoft.com/office/drawing/2014/main" id="{77D929B0-39D4-4F3D-9BC2-86EEFB454EFB}"/>
                </a:ext>
              </a:extLst>
            </p:cNvPr>
            <p:cNvSpPr>
              <a:spLocks noChangeArrowheads="1"/>
            </p:cNvSpPr>
            <p:nvPr/>
          </p:nvSpPr>
          <p:spPr bwMode="auto">
            <a:xfrm>
              <a:off x="4634" y="1400"/>
              <a:ext cx="32" cy="25"/>
            </a:xfrm>
            <a:custGeom>
              <a:avLst/>
              <a:gdLst>
                <a:gd name="T0" fmla="*/ 3 w 38"/>
                <a:gd name="T1" fmla="*/ 1 h 34"/>
                <a:gd name="T2" fmla="*/ 3 w 38"/>
                <a:gd name="T3" fmla="*/ 1 h 34"/>
                <a:gd name="T4" fmla="*/ 3 w 38"/>
                <a:gd name="T5" fmla="*/ 1 h 34"/>
                <a:gd name="T6" fmla="*/ 3 w 38"/>
                <a:gd name="T7" fmla="*/ 1 h 34"/>
                <a:gd name="T8" fmla="*/ 3 w 38"/>
                <a:gd name="T9" fmla="*/ 1 h 34"/>
                <a:gd name="T10" fmla="*/ 0 60000 65536"/>
                <a:gd name="T11" fmla="*/ 0 60000 65536"/>
                <a:gd name="T12" fmla="*/ 0 60000 65536"/>
                <a:gd name="T13" fmla="*/ 0 60000 65536"/>
                <a:gd name="T14" fmla="*/ 0 60000 65536"/>
                <a:gd name="T15" fmla="*/ 0 w 38"/>
                <a:gd name="T16" fmla="*/ 0 h 34"/>
                <a:gd name="T17" fmla="*/ 38 w 38"/>
                <a:gd name="T18" fmla="*/ 34 h 34"/>
              </a:gdLst>
              <a:ahLst/>
              <a:cxnLst>
                <a:cxn ang="T10">
                  <a:pos x="T0" y="T1"/>
                </a:cxn>
                <a:cxn ang="T11">
                  <a:pos x="T2" y="T3"/>
                </a:cxn>
                <a:cxn ang="T12">
                  <a:pos x="T4" y="T5"/>
                </a:cxn>
                <a:cxn ang="T13">
                  <a:pos x="T6" y="T7"/>
                </a:cxn>
                <a:cxn ang="T14">
                  <a:pos x="T8" y="T9"/>
                </a:cxn>
              </a:cxnLst>
              <a:rect l="T15" t="T16" r="T17" b="T18"/>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5" name="Freeform 79">
              <a:extLst>
                <a:ext uri="{FF2B5EF4-FFF2-40B4-BE49-F238E27FC236}">
                  <a16:creationId xmlns:a16="http://schemas.microsoft.com/office/drawing/2014/main" id="{D66CAC5C-7D3D-4F52-9821-7A4A1833FD2B}"/>
                </a:ext>
              </a:extLst>
            </p:cNvPr>
            <p:cNvSpPr>
              <a:spLocks noChangeArrowheads="1"/>
            </p:cNvSpPr>
            <p:nvPr/>
          </p:nvSpPr>
          <p:spPr bwMode="auto">
            <a:xfrm>
              <a:off x="4623" y="1367"/>
              <a:ext cx="30" cy="19"/>
            </a:xfrm>
            <a:custGeom>
              <a:avLst/>
              <a:gdLst>
                <a:gd name="T0" fmla="*/ 3 w 35"/>
                <a:gd name="T1" fmla="*/ 1 h 27"/>
                <a:gd name="T2" fmla="*/ 3 w 35"/>
                <a:gd name="T3" fmla="*/ 1 h 27"/>
                <a:gd name="T4" fmla="*/ 3 w 35"/>
                <a:gd name="T5" fmla="*/ 1 h 27"/>
                <a:gd name="T6" fmla="*/ 3 w 35"/>
                <a:gd name="T7" fmla="*/ 1 h 27"/>
                <a:gd name="T8" fmla="*/ 3 w 35"/>
                <a:gd name="T9" fmla="*/ 1 h 27"/>
                <a:gd name="T10" fmla="*/ 0 60000 65536"/>
                <a:gd name="T11" fmla="*/ 0 60000 65536"/>
                <a:gd name="T12" fmla="*/ 0 60000 65536"/>
                <a:gd name="T13" fmla="*/ 0 60000 65536"/>
                <a:gd name="T14" fmla="*/ 0 60000 65536"/>
                <a:gd name="T15" fmla="*/ 0 w 35"/>
                <a:gd name="T16" fmla="*/ 0 h 27"/>
                <a:gd name="T17" fmla="*/ 35 w 35"/>
                <a:gd name="T18" fmla="*/ 27 h 27"/>
              </a:gdLst>
              <a:ahLst/>
              <a:cxnLst>
                <a:cxn ang="T10">
                  <a:pos x="T0" y="T1"/>
                </a:cxn>
                <a:cxn ang="T11">
                  <a:pos x="T2" y="T3"/>
                </a:cxn>
                <a:cxn ang="T12">
                  <a:pos x="T4" y="T5"/>
                </a:cxn>
                <a:cxn ang="T13">
                  <a:pos x="T6" y="T7"/>
                </a:cxn>
                <a:cxn ang="T14">
                  <a:pos x="T8" y="T9"/>
                </a:cxn>
              </a:cxnLst>
              <a:rect l="T15" t="T16" r="T17" b="T18"/>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6" name="Freeform 80">
              <a:extLst>
                <a:ext uri="{FF2B5EF4-FFF2-40B4-BE49-F238E27FC236}">
                  <a16:creationId xmlns:a16="http://schemas.microsoft.com/office/drawing/2014/main" id="{3514E656-E2EB-4C1A-AAC6-0F49C3001C6D}"/>
                </a:ext>
              </a:extLst>
            </p:cNvPr>
            <p:cNvSpPr>
              <a:spLocks noChangeArrowheads="1"/>
            </p:cNvSpPr>
            <p:nvPr/>
          </p:nvSpPr>
          <p:spPr bwMode="auto">
            <a:xfrm>
              <a:off x="4593" y="1343"/>
              <a:ext cx="30" cy="33"/>
            </a:xfrm>
            <a:custGeom>
              <a:avLst/>
              <a:gdLst>
                <a:gd name="T0" fmla="*/ 3 w 35"/>
                <a:gd name="T1" fmla="*/ 1 h 47"/>
                <a:gd name="T2" fmla="*/ 3 w 35"/>
                <a:gd name="T3" fmla="*/ 1 h 47"/>
                <a:gd name="T4" fmla="*/ 3 w 35"/>
                <a:gd name="T5" fmla="*/ 1 h 47"/>
                <a:gd name="T6" fmla="*/ 3 w 35"/>
                <a:gd name="T7" fmla="*/ 1 h 47"/>
                <a:gd name="T8" fmla="*/ 3 w 35"/>
                <a:gd name="T9" fmla="*/ 1 h 47"/>
                <a:gd name="T10" fmla="*/ 3 w 35"/>
                <a:gd name="T11" fmla="*/ 1 h 47"/>
                <a:gd name="T12" fmla="*/ 0 60000 65536"/>
                <a:gd name="T13" fmla="*/ 0 60000 65536"/>
                <a:gd name="T14" fmla="*/ 0 60000 65536"/>
                <a:gd name="T15" fmla="*/ 0 60000 65536"/>
                <a:gd name="T16" fmla="*/ 0 60000 65536"/>
                <a:gd name="T17" fmla="*/ 0 60000 65536"/>
                <a:gd name="T18" fmla="*/ 0 w 35"/>
                <a:gd name="T19" fmla="*/ 0 h 47"/>
                <a:gd name="T20" fmla="*/ 35 w 35"/>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7" name="Freeform 81">
              <a:extLst>
                <a:ext uri="{FF2B5EF4-FFF2-40B4-BE49-F238E27FC236}">
                  <a16:creationId xmlns:a16="http://schemas.microsoft.com/office/drawing/2014/main" id="{3C2AF538-BCDD-4D2D-B18F-D52FFD05F67B}"/>
                </a:ext>
              </a:extLst>
            </p:cNvPr>
            <p:cNvSpPr>
              <a:spLocks noChangeArrowheads="1"/>
            </p:cNvSpPr>
            <p:nvPr/>
          </p:nvSpPr>
          <p:spPr bwMode="auto">
            <a:xfrm>
              <a:off x="4556" y="1329"/>
              <a:ext cx="27" cy="24"/>
            </a:xfrm>
            <a:custGeom>
              <a:avLst/>
              <a:gdLst>
                <a:gd name="T0" fmla="*/ 3 w 32"/>
                <a:gd name="T1" fmla="*/ 1 h 35"/>
                <a:gd name="T2" fmla="*/ 3 w 32"/>
                <a:gd name="T3" fmla="*/ 1 h 35"/>
                <a:gd name="T4" fmla="*/ 3 w 32"/>
                <a:gd name="T5" fmla="*/ 1 h 35"/>
                <a:gd name="T6" fmla="*/ 3 w 32"/>
                <a:gd name="T7" fmla="*/ 1 h 35"/>
                <a:gd name="T8" fmla="*/ 3 w 32"/>
                <a:gd name="T9" fmla="*/ 1 h 35"/>
                <a:gd name="T10" fmla="*/ 0 60000 65536"/>
                <a:gd name="T11" fmla="*/ 0 60000 65536"/>
                <a:gd name="T12" fmla="*/ 0 60000 65536"/>
                <a:gd name="T13" fmla="*/ 0 60000 65536"/>
                <a:gd name="T14" fmla="*/ 0 60000 65536"/>
                <a:gd name="T15" fmla="*/ 0 w 32"/>
                <a:gd name="T16" fmla="*/ 0 h 35"/>
                <a:gd name="T17" fmla="*/ 32 w 32"/>
                <a:gd name="T18" fmla="*/ 35 h 35"/>
              </a:gdLst>
              <a:ahLst/>
              <a:cxnLst>
                <a:cxn ang="T10">
                  <a:pos x="T0" y="T1"/>
                </a:cxn>
                <a:cxn ang="T11">
                  <a:pos x="T2" y="T3"/>
                </a:cxn>
                <a:cxn ang="T12">
                  <a:pos x="T4" y="T5"/>
                </a:cxn>
                <a:cxn ang="T13">
                  <a:pos x="T6" y="T7"/>
                </a:cxn>
                <a:cxn ang="T14">
                  <a:pos x="T8" y="T9"/>
                </a:cxn>
              </a:cxnLst>
              <a:rect l="T15" t="T16" r="T17" b="T18"/>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8" name="Freeform 82">
              <a:extLst>
                <a:ext uri="{FF2B5EF4-FFF2-40B4-BE49-F238E27FC236}">
                  <a16:creationId xmlns:a16="http://schemas.microsoft.com/office/drawing/2014/main" id="{29634556-3870-465E-9D20-4DB402D2185D}"/>
                </a:ext>
              </a:extLst>
            </p:cNvPr>
            <p:cNvSpPr>
              <a:spLocks noChangeArrowheads="1"/>
            </p:cNvSpPr>
            <p:nvPr/>
          </p:nvSpPr>
          <p:spPr bwMode="auto">
            <a:xfrm>
              <a:off x="4602" y="1378"/>
              <a:ext cx="27" cy="24"/>
            </a:xfrm>
            <a:custGeom>
              <a:avLst/>
              <a:gdLst>
                <a:gd name="T0" fmla="*/ 3 w 32"/>
                <a:gd name="T1" fmla="*/ 1 h 35"/>
                <a:gd name="T2" fmla="*/ 3 w 32"/>
                <a:gd name="T3" fmla="*/ 1 h 35"/>
                <a:gd name="T4" fmla="*/ 3 w 32"/>
                <a:gd name="T5" fmla="*/ 1 h 35"/>
                <a:gd name="T6" fmla="*/ 3 w 32"/>
                <a:gd name="T7" fmla="*/ 1 h 35"/>
                <a:gd name="T8" fmla="*/ 3 w 32"/>
                <a:gd name="T9" fmla="*/ 1 h 35"/>
                <a:gd name="T10" fmla="*/ 0 60000 65536"/>
                <a:gd name="T11" fmla="*/ 0 60000 65536"/>
                <a:gd name="T12" fmla="*/ 0 60000 65536"/>
                <a:gd name="T13" fmla="*/ 0 60000 65536"/>
                <a:gd name="T14" fmla="*/ 0 60000 65536"/>
                <a:gd name="T15" fmla="*/ 0 w 32"/>
                <a:gd name="T16" fmla="*/ 0 h 35"/>
                <a:gd name="T17" fmla="*/ 32 w 32"/>
                <a:gd name="T18" fmla="*/ 35 h 35"/>
              </a:gdLst>
              <a:ahLst/>
              <a:cxnLst>
                <a:cxn ang="T10">
                  <a:pos x="T0" y="T1"/>
                </a:cxn>
                <a:cxn ang="T11">
                  <a:pos x="T2" y="T3"/>
                </a:cxn>
                <a:cxn ang="T12">
                  <a:pos x="T4" y="T5"/>
                </a:cxn>
                <a:cxn ang="T13">
                  <a:pos x="T6" y="T7"/>
                </a:cxn>
                <a:cxn ang="T14">
                  <a:pos x="T8" y="T9"/>
                </a:cxn>
              </a:cxnLst>
              <a:rect l="T15" t="T16" r="T17" b="T18"/>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9" name="Freeform 83">
              <a:extLst>
                <a:ext uri="{FF2B5EF4-FFF2-40B4-BE49-F238E27FC236}">
                  <a16:creationId xmlns:a16="http://schemas.microsoft.com/office/drawing/2014/main" id="{B1B73781-D00C-441F-9B2E-D5D2B3B851C1}"/>
                </a:ext>
              </a:extLst>
            </p:cNvPr>
            <p:cNvSpPr>
              <a:spLocks noChangeArrowheads="1"/>
            </p:cNvSpPr>
            <p:nvPr/>
          </p:nvSpPr>
          <p:spPr bwMode="auto">
            <a:xfrm>
              <a:off x="2750" y="93"/>
              <a:ext cx="162" cy="101"/>
            </a:xfrm>
            <a:custGeom>
              <a:avLst/>
              <a:gdLst>
                <a:gd name="T0" fmla="*/ 11 w 189"/>
                <a:gd name="T1" fmla="*/ 1 h 144"/>
                <a:gd name="T2" fmla="*/ 11 w 189"/>
                <a:gd name="T3" fmla="*/ 1 h 144"/>
                <a:gd name="T4" fmla="*/ 11 w 189"/>
                <a:gd name="T5" fmla="*/ 1 h 144"/>
                <a:gd name="T6" fmla="*/ 11 w 189"/>
                <a:gd name="T7" fmla="*/ 1 h 144"/>
                <a:gd name="T8" fmla="*/ 8 w 189"/>
                <a:gd name="T9" fmla="*/ 1 h 144"/>
                <a:gd name="T10" fmla="*/ 7 w 189"/>
                <a:gd name="T11" fmla="*/ 1 h 144"/>
                <a:gd name="T12" fmla="*/ 6 w 189"/>
                <a:gd name="T13" fmla="*/ 1 h 144"/>
                <a:gd name="T14" fmla="*/ 4 w 189"/>
                <a:gd name="T15" fmla="*/ 1 h 144"/>
                <a:gd name="T16" fmla="*/ 4 w 189"/>
                <a:gd name="T17" fmla="*/ 1 h 144"/>
                <a:gd name="T18" fmla="*/ 5 w 189"/>
                <a:gd name="T19" fmla="*/ 1 h 144"/>
                <a:gd name="T20" fmla="*/ 7 w 189"/>
                <a:gd name="T21" fmla="*/ 1 h 144"/>
                <a:gd name="T22" fmla="*/ 6 w 189"/>
                <a:gd name="T23" fmla="*/ 1 h 144"/>
                <a:gd name="T24" fmla="*/ 5 w 189"/>
                <a:gd name="T25" fmla="*/ 1 h 144"/>
                <a:gd name="T26" fmla="*/ 4 w 189"/>
                <a:gd name="T27" fmla="*/ 1 h 144"/>
                <a:gd name="T28" fmla="*/ 3 w 189"/>
                <a:gd name="T29" fmla="*/ 1 h 144"/>
                <a:gd name="T30" fmla="*/ 3 w 189"/>
                <a:gd name="T31" fmla="*/ 1 h 144"/>
                <a:gd name="T32" fmla="*/ 3 w 189"/>
                <a:gd name="T33" fmla="*/ 1 h 144"/>
                <a:gd name="T34" fmla="*/ 3 w 189"/>
                <a:gd name="T35" fmla="*/ 1 h 144"/>
                <a:gd name="T36" fmla="*/ 3 w 189"/>
                <a:gd name="T37" fmla="*/ 1 h 144"/>
                <a:gd name="T38" fmla="*/ 4 w 189"/>
                <a:gd name="T39" fmla="*/ 1 h 144"/>
                <a:gd name="T40" fmla="*/ 6 w 189"/>
                <a:gd name="T41" fmla="*/ 1 h 144"/>
                <a:gd name="T42" fmla="*/ 7 w 189"/>
                <a:gd name="T43" fmla="*/ 1 h 144"/>
                <a:gd name="T44" fmla="*/ 11 w 189"/>
                <a:gd name="T45" fmla="*/ 1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9"/>
                <a:gd name="T70" fmla="*/ 0 h 144"/>
                <a:gd name="T71" fmla="*/ 189 w 189"/>
                <a:gd name="T72" fmla="*/ 144 h 1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0" name="Freeform 84">
              <a:extLst>
                <a:ext uri="{FF2B5EF4-FFF2-40B4-BE49-F238E27FC236}">
                  <a16:creationId xmlns:a16="http://schemas.microsoft.com/office/drawing/2014/main" id="{59CF3B1E-13C5-47BE-A26F-2A8E56D343F0}"/>
                </a:ext>
              </a:extLst>
            </p:cNvPr>
            <p:cNvSpPr>
              <a:spLocks noChangeArrowheads="1"/>
            </p:cNvSpPr>
            <p:nvPr/>
          </p:nvSpPr>
          <p:spPr bwMode="auto">
            <a:xfrm>
              <a:off x="2847" y="191"/>
              <a:ext cx="46" cy="11"/>
            </a:xfrm>
            <a:custGeom>
              <a:avLst/>
              <a:gdLst>
                <a:gd name="T0" fmla="*/ 3 w 53"/>
                <a:gd name="T1" fmla="*/ 0 h 17"/>
                <a:gd name="T2" fmla="*/ 3 w 53"/>
                <a:gd name="T3" fmla="*/ 1 h 17"/>
                <a:gd name="T4" fmla="*/ 3 w 53"/>
                <a:gd name="T5" fmla="*/ 1 h 17"/>
                <a:gd name="T6" fmla="*/ 3 w 53"/>
                <a:gd name="T7" fmla="*/ 1 h 17"/>
                <a:gd name="T8" fmla="*/ 3 w 53"/>
                <a:gd name="T9" fmla="*/ 0 h 17"/>
                <a:gd name="T10" fmla="*/ 0 60000 65536"/>
                <a:gd name="T11" fmla="*/ 0 60000 65536"/>
                <a:gd name="T12" fmla="*/ 0 60000 65536"/>
                <a:gd name="T13" fmla="*/ 0 60000 65536"/>
                <a:gd name="T14" fmla="*/ 0 60000 65536"/>
                <a:gd name="T15" fmla="*/ 0 w 53"/>
                <a:gd name="T16" fmla="*/ 0 h 17"/>
                <a:gd name="T17" fmla="*/ 53 w 53"/>
                <a:gd name="T18" fmla="*/ 17 h 17"/>
              </a:gdLst>
              <a:ahLst/>
              <a:cxnLst>
                <a:cxn ang="T10">
                  <a:pos x="T0" y="T1"/>
                </a:cxn>
                <a:cxn ang="T11">
                  <a:pos x="T2" y="T3"/>
                </a:cxn>
                <a:cxn ang="T12">
                  <a:pos x="T4" y="T5"/>
                </a:cxn>
                <a:cxn ang="T13">
                  <a:pos x="T6" y="T7"/>
                </a:cxn>
                <a:cxn ang="T14">
                  <a:pos x="T8" y="T9"/>
                </a:cxn>
              </a:cxnLst>
              <a:rect l="T15" t="T16" r="T17" b="T18"/>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1" name="Freeform 85">
              <a:extLst>
                <a:ext uri="{FF2B5EF4-FFF2-40B4-BE49-F238E27FC236}">
                  <a16:creationId xmlns:a16="http://schemas.microsoft.com/office/drawing/2014/main" id="{A7D749F5-06D4-442F-B320-2B9BB75956B0}"/>
                </a:ext>
              </a:extLst>
            </p:cNvPr>
            <p:cNvSpPr>
              <a:spLocks noChangeArrowheads="1"/>
            </p:cNvSpPr>
            <p:nvPr/>
          </p:nvSpPr>
          <p:spPr bwMode="auto">
            <a:xfrm>
              <a:off x="3082" y="45"/>
              <a:ext cx="49" cy="26"/>
            </a:xfrm>
            <a:custGeom>
              <a:avLst/>
              <a:gdLst>
                <a:gd name="T0" fmla="*/ 3 w 57"/>
                <a:gd name="T1" fmla="*/ 1 h 37"/>
                <a:gd name="T2" fmla="*/ 3 w 57"/>
                <a:gd name="T3" fmla="*/ 1 h 37"/>
                <a:gd name="T4" fmla="*/ 3 w 57"/>
                <a:gd name="T5" fmla="*/ 1 h 37"/>
                <a:gd name="T6" fmla="*/ 3 w 57"/>
                <a:gd name="T7" fmla="*/ 1 h 37"/>
                <a:gd name="T8" fmla="*/ 3 w 57"/>
                <a:gd name="T9" fmla="*/ 0 h 37"/>
                <a:gd name="T10" fmla="*/ 3 w 57"/>
                <a:gd name="T11" fmla="*/ 1 h 37"/>
                <a:gd name="T12" fmla="*/ 0 60000 65536"/>
                <a:gd name="T13" fmla="*/ 0 60000 65536"/>
                <a:gd name="T14" fmla="*/ 0 60000 65536"/>
                <a:gd name="T15" fmla="*/ 0 60000 65536"/>
                <a:gd name="T16" fmla="*/ 0 60000 65536"/>
                <a:gd name="T17" fmla="*/ 0 60000 65536"/>
                <a:gd name="T18" fmla="*/ 0 w 57"/>
                <a:gd name="T19" fmla="*/ 0 h 37"/>
                <a:gd name="T20" fmla="*/ 57 w 57"/>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2" name="Freeform 86">
              <a:extLst>
                <a:ext uri="{FF2B5EF4-FFF2-40B4-BE49-F238E27FC236}">
                  <a16:creationId xmlns:a16="http://schemas.microsoft.com/office/drawing/2014/main" id="{ED114F9C-89DD-4403-8202-7CA856BAF6AC}"/>
                </a:ext>
              </a:extLst>
            </p:cNvPr>
            <p:cNvSpPr>
              <a:spLocks noChangeArrowheads="1"/>
            </p:cNvSpPr>
            <p:nvPr/>
          </p:nvSpPr>
          <p:spPr bwMode="auto">
            <a:xfrm>
              <a:off x="3117" y="57"/>
              <a:ext cx="58" cy="19"/>
            </a:xfrm>
            <a:custGeom>
              <a:avLst/>
              <a:gdLst>
                <a:gd name="T0" fmla="*/ 3 w 68"/>
                <a:gd name="T1" fmla="*/ 0 h 26"/>
                <a:gd name="T2" fmla="*/ 3 w 68"/>
                <a:gd name="T3" fmla="*/ 1 h 26"/>
                <a:gd name="T4" fmla="*/ 3 w 68"/>
                <a:gd name="T5" fmla="*/ 1 h 26"/>
                <a:gd name="T6" fmla="*/ 3 w 68"/>
                <a:gd name="T7" fmla="*/ 1 h 26"/>
                <a:gd name="T8" fmla="*/ 3 w 68"/>
                <a:gd name="T9" fmla="*/ 0 h 26"/>
                <a:gd name="T10" fmla="*/ 0 60000 65536"/>
                <a:gd name="T11" fmla="*/ 0 60000 65536"/>
                <a:gd name="T12" fmla="*/ 0 60000 65536"/>
                <a:gd name="T13" fmla="*/ 0 60000 65536"/>
                <a:gd name="T14" fmla="*/ 0 60000 65536"/>
                <a:gd name="T15" fmla="*/ 0 w 68"/>
                <a:gd name="T16" fmla="*/ 0 h 26"/>
                <a:gd name="T17" fmla="*/ 68 w 68"/>
                <a:gd name="T18" fmla="*/ 26 h 26"/>
              </a:gdLst>
              <a:ahLst/>
              <a:cxnLst>
                <a:cxn ang="T10">
                  <a:pos x="T0" y="T1"/>
                </a:cxn>
                <a:cxn ang="T11">
                  <a:pos x="T2" y="T3"/>
                </a:cxn>
                <a:cxn ang="T12">
                  <a:pos x="T4" y="T5"/>
                </a:cxn>
                <a:cxn ang="T13">
                  <a:pos x="T6" y="T7"/>
                </a:cxn>
                <a:cxn ang="T14">
                  <a:pos x="T8" y="T9"/>
                </a:cxn>
              </a:cxnLst>
              <a:rect l="T15" t="T16" r="T17" b="T18"/>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3" name="Freeform 87">
              <a:extLst>
                <a:ext uri="{FF2B5EF4-FFF2-40B4-BE49-F238E27FC236}">
                  <a16:creationId xmlns:a16="http://schemas.microsoft.com/office/drawing/2014/main" id="{84924EAF-6D33-4013-91D6-3E3D2587A69F}"/>
                </a:ext>
              </a:extLst>
            </p:cNvPr>
            <p:cNvSpPr>
              <a:spLocks noChangeArrowheads="1"/>
            </p:cNvSpPr>
            <p:nvPr/>
          </p:nvSpPr>
          <p:spPr bwMode="auto">
            <a:xfrm>
              <a:off x="3179" y="60"/>
              <a:ext cx="58" cy="30"/>
            </a:xfrm>
            <a:custGeom>
              <a:avLst/>
              <a:gdLst>
                <a:gd name="T0" fmla="*/ 5 w 66"/>
                <a:gd name="T1" fmla="*/ 1 h 43"/>
                <a:gd name="T2" fmla="*/ 4 w 66"/>
                <a:gd name="T3" fmla="*/ 1 h 43"/>
                <a:gd name="T4" fmla="*/ 4 w 66"/>
                <a:gd name="T5" fmla="*/ 1 h 43"/>
                <a:gd name="T6" fmla="*/ 4 w 66"/>
                <a:gd name="T7" fmla="*/ 1 h 43"/>
                <a:gd name="T8" fmla="*/ 4 w 66"/>
                <a:gd name="T9" fmla="*/ 1 h 43"/>
                <a:gd name="T10" fmla="*/ 6 w 66"/>
                <a:gd name="T11" fmla="*/ 1 h 43"/>
                <a:gd name="T12" fmla="*/ 5 w 66"/>
                <a:gd name="T13" fmla="*/ 1 h 43"/>
                <a:gd name="T14" fmla="*/ 0 60000 65536"/>
                <a:gd name="T15" fmla="*/ 0 60000 65536"/>
                <a:gd name="T16" fmla="*/ 0 60000 65536"/>
                <a:gd name="T17" fmla="*/ 0 60000 65536"/>
                <a:gd name="T18" fmla="*/ 0 60000 65536"/>
                <a:gd name="T19" fmla="*/ 0 60000 65536"/>
                <a:gd name="T20" fmla="*/ 0 60000 65536"/>
                <a:gd name="T21" fmla="*/ 0 w 66"/>
                <a:gd name="T22" fmla="*/ 0 h 43"/>
                <a:gd name="T23" fmla="*/ 66 w 66"/>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4" name="Freeform 88">
              <a:extLst>
                <a:ext uri="{FF2B5EF4-FFF2-40B4-BE49-F238E27FC236}">
                  <a16:creationId xmlns:a16="http://schemas.microsoft.com/office/drawing/2014/main" id="{FC20B702-1766-462C-9DBB-C265AC1C2201}"/>
                </a:ext>
              </a:extLst>
            </p:cNvPr>
            <p:cNvSpPr>
              <a:spLocks noChangeArrowheads="1"/>
            </p:cNvSpPr>
            <p:nvPr/>
          </p:nvSpPr>
          <p:spPr bwMode="auto">
            <a:xfrm>
              <a:off x="3581" y="85"/>
              <a:ext cx="101" cy="29"/>
            </a:xfrm>
            <a:custGeom>
              <a:avLst/>
              <a:gdLst>
                <a:gd name="T0" fmla="*/ 3 w 117"/>
                <a:gd name="T1" fmla="*/ 0 h 41"/>
                <a:gd name="T2" fmla="*/ 3 w 117"/>
                <a:gd name="T3" fmla="*/ 1 h 41"/>
                <a:gd name="T4" fmla="*/ 3 w 117"/>
                <a:gd name="T5" fmla="*/ 1 h 41"/>
                <a:gd name="T6" fmla="*/ 5 w 117"/>
                <a:gd name="T7" fmla="*/ 1 h 41"/>
                <a:gd name="T8" fmla="*/ 8 w 117"/>
                <a:gd name="T9" fmla="*/ 1 h 41"/>
                <a:gd name="T10" fmla="*/ 6 w 117"/>
                <a:gd name="T11" fmla="*/ 1 h 41"/>
                <a:gd name="T12" fmla="*/ 3 w 117"/>
                <a:gd name="T13" fmla="*/ 0 h 41"/>
                <a:gd name="T14" fmla="*/ 0 60000 65536"/>
                <a:gd name="T15" fmla="*/ 0 60000 65536"/>
                <a:gd name="T16" fmla="*/ 0 60000 65536"/>
                <a:gd name="T17" fmla="*/ 0 60000 65536"/>
                <a:gd name="T18" fmla="*/ 0 60000 65536"/>
                <a:gd name="T19" fmla="*/ 0 60000 65536"/>
                <a:gd name="T20" fmla="*/ 0 60000 65536"/>
                <a:gd name="T21" fmla="*/ 0 w 117"/>
                <a:gd name="T22" fmla="*/ 0 h 41"/>
                <a:gd name="T23" fmla="*/ 117 w 117"/>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5" name="Freeform 89">
              <a:extLst>
                <a:ext uri="{FF2B5EF4-FFF2-40B4-BE49-F238E27FC236}">
                  <a16:creationId xmlns:a16="http://schemas.microsoft.com/office/drawing/2014/main" id="{1A1AE169-5DEC-475F-83DE-D0E1DAE59058}"/>
                </a:ext>
              </a:extLst>
            </p:cNvPr>
            <p:cNvSpPr>
              <a:spLocks noChangeArrowheads="1"/>
            </p:cNvSpPr>
            <p:nvPr/>
          </p:nvSpPr>
          <p:spPr bwMode="auto">
            <a:xfrm>
              <a:off x="3684" y="84"/>
              <a:ext cx="53" cy="23"/>
            </a:xfrm>
            <a:custGeom>
              <a:avLst/>
              <a:gdLst>
                <a:gd name="T0" fmla="*/ 3 w 62"/>
                <a:gd name="T1" fmla="*/ 1 h 32"/>
                <a:gd name="T2" fmla="*/ 3 w 62"/>
                <a:gd name="T3" fmla="*/ 1 h 32"/>
                <a:gd name="T4" fmla="*/ 3 w 62"/>
                <a:gd name="T5" fmla="*/ 1 h 32"/>
                <a:gd name="T6" fmla="*/ 3 w 62"/>
                <a:gd name="T7" fmla="*/ 1 h 32"/>
                <a:gd name="T8" fmla="*/ 3 w 62"/>
                <a:gd name="T9" fmla="*/ 1 h 32"/>
                <a:gd name="T10" fmla="*/ 0 60000 65536"/>
                <a:gd name="T11" fmla="*/ 0 60000 65536"/>
                <a:gd name="T12" fmla="*/ 0 60000 65536"/>
                <a:gd name="T13" fmla="*/ 0 60000 65536"/>
                <a:gd name="T14" fmla="*/ 0 60000 65536"/>
                <a:gd name="T15" fmla="*/ 0 w 62"/>
                <a:gd name="T16" fmla="*/ 0 h 32"/>
                <a:gd name="T17" fmla="*/ 62 w 62"/>
                <a:gd name="T18" fmla="*/ 32 h 32"/>
              </a:gdLst>
              <a:ahLst/>
              <a:cxnLst>
                <a:cxn ang="T10">
                  <a:pos x="T0" y="T1"/>
                </a:cxn>
                <a:cxn ang="T11">
                  <a:pos x="T2" y="T3"/>
                </a:cxn>
                <a:cxn ang="T12">
                  <a:pos x="T4" y="T5"/>
                </a:cxn>
                <a:cxn ang="T13">
                  <a:pos x="T6" y="T7"/>
                </a:cxn>
                <a:cxn ang="T14">
                  <a:pos x="T8" y="T9"/>
                </a:cxn>
              </a:cxnLst>
              <a:rect l="T15" t="T16" r="T17" b="T18"/>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6" name="Freeform 90">
              <a:extLst>
                <a:ext uri="{FF2B5EF4-FFF2-40B4-BE49-F238E27FC236}">
                  <a16:creationId xmlns:a16="http://schemas.microsoft.com/office/drawing/2014/main" id="{0BD574BF-83AF-467F-8FB1-F31551E8A887}"/>
                </a:ext>
              </a:extLst>
            </p:cNvPr>
            <p:cNvSpPr>
              <a:spLocks noChangeArrowheads="1"/>
            </p:cNvSpPr>
            <p:nvPr/>
          </p:nvSpPr>
          <p:spPr bwMode="auto">
            <a:xfrm>
              <a:off x="3660" y="111"/>
              <a:ext cx="42" cy="16"/>
            </a:xfrm>
            <a:custGeom>
              <a:avLst/>
              <a:gdLst>
                <a:gd name="T0" fmla="*/ 3 w 49"/>
                <a:gd name="T1" fmla="*/ 1 h 23"/>
                <a:gd name="T2" fmla="*/ 3 w 49"/>
                <a:gd name="T3" fmla="*/ 1 h 23"/>
                <a:gd name="T4" fmla="*/ 3 w 49"/>
                <a:gd name="T5" fmla="*/ 1 h 23"/>
                <a:gd name="T6" fmla="*/ 3 w 49"/>
                <a:gd name="T7" fmla="*/ 1 h 23"/>
                <a:gd name="T8" fmla="*/ 0 60000 65536"/>
                <a:gd name="T9" fmla="*/ 0 60000 65536"/>
                <a:gd name="T10" fmla="*/ 0 60000 65536"/>
                <a:gd name="T11" fmla="*/ 0 60000 65536"/>
                <a:gd name="T12" fmla="*/ 0 w 49"/>
                <a:gd name="T13" fmla="*/ 0 h 23"/>
                <a:gd name="T14" fmla="*/ 49 w 49"/>
                <a:gd name="T15" fmla="*/ 23 h 23"/>
              </a:gdLst>
              <a:ahLst/>
              <a:cxnLst>
                <a:cxn ang="T8">
                  <a:pos x="T0" y="T1"/>
                </a:cxn>
                <a:cxn ang="T9">
                  <a:pos x="T2" y="T3"/>
                </a:cxn>
                <a:cxn ang="T10">
                  <a:pos x="T4" y="T5"/>
                </a:cxn>
                <a:cxn ang="T11">
                  <a:pos x="T6" y="T7"/>
                </a:cxn>
              </a:cxnLst>
              <a:rect l="T12" t="T13" r="T14" b="T15"/>
              <a:pathLst>
                <a:path w="49" h="23">
                  <a:moveTo>
                    <a:pt x="20" y="1"/>
                  </a:moveTo>
                  <a:cubicBezTo>
                    <a:pt x="15" y="2"/>
                    <a:pt x="8" y="0"/>
                    <a:pt x="6" y="5"/>
                  </a:cubicBezTo>
                  <a:cubicBezTo>
                    <a:pt x="0" y="19"/>
                    <a:pt x="32" y="21"/>
                    <a:pt x="38" y="23"/>
                  </a:cubicBezTo>
                  <a:cubicBezTo>
                    <a:pt x="49" y="6"/>
                    <a:pt x="35" y="3"/>
                    <a:pt x="20" y="1"/>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7" name="Freeform 91">
              <a:extLst>
                <a:ext uri="{FF2B5EF4-FFF2-40B4-BE49-F238E27FC236}">
                  <a16:creationId xmlns:a16="http://schemas.microsoft.com/office/drawing/2014/main" id="{14E5C53D-9DD1-4323-9074-CEBDBC0D5B6E}"/>
                </a:ext>
              </a:extLst>
            </p:cNvPr>
            <p:cNvSpPr>
              <a:spLocks noChangeArrowheads="1"/>
            </p:cNvSpPr>
            <p:nvPr/>
          </p:nvSpPr>
          <p:spPr bwMode="auto">
            <a:xfrm>
              <a:off x="3950" y="321"/>
              <a:ext cx="87" cy="106"/>
            </a:xfrm>
            <a:custGeom>
              <a:avLst/>
              <a:gdLst>
                <a:gd name="T0" fmla="*/ 3 w 102"/>
                <a:gd name="T1" fmla="*/ 0 h 152"/>
                <a:gd name="T2" fmla="*/ 0 w 102"/>
                <a:gd name="T3" fmla="*/ 1 h 152"/>
                <a:gd name="T4" fmla="*/ 3 w 102"/>
                <a:gd name="T5" fmla="*/ 1 h 152"/>
                <a:gd name="T6" fmla="*/ 3 w 102"/>
                <a:gd name="T7" fmla="*/ 1 h 152"/>
                <a:gd name="T8" fmla="*/ 3 w 102"/>
                <a:gd name="T9" fmla="*/ 1 h 152"/>
                <a:gd name="T10" fmla="*/ 5 w 102"/>
                <a:gd name="T11" fmla="*/ 1 h 152"/>
                <a:gd name="T12" fmla="*/ 5 w 102"/>
                <a:gd name="T13" fmla="*/ 1 h 152"/>
                <a:gd name="T14" fmla="*/ 4 w 102"/>
                <a:gd name="T15" fmla="*/ 1 h 152"/>
                <a:gd name="T16" fmla="*/ 3 w 102"/>
                <a:gd name="T17" fmla="*/ 1 h 152"/>
                <a:gd name="T18" fmla="*/ 3 w 102"/>
                <a:gd name="T19" fmla="*/ 1 h 152"/>
                <a:gd name="T20" fmla="*/ 3 w 102"/>
                <a:gd name="T21" fmla="*/ 1 h 152"/>
                <a:gd name="T22" fmla="*/ 3 w 102"/>
                <a:gd name="T23" fmla="*/ 1 h 152"/>
                <a:gd name="T24" fmla="*/ 3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2"/>
                <a:gd name="T40" fmla="*/ 0 h 152"/>
                <a:gd name="T41" fmla="*/ 102 w 102"/>
                <a:gd name="T42" fmla="*/ 152 h 1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8" name="Freeform 92">
              <a:extLst>
                <a:ext uri="{FF2B5EF4-FFF2-40B4-BE49-F238E27FC236}">
                  <a16:creationId xmlns:a16="http://schemas.microsoft.com/office/drawing/2014/main" id="{DB257A40-243F-42E3-95D8-A2535800B885}"/>
                </a:ext>
              </a:extLst>
            </p:cNvPr>
            <p:cNvSpPr>
              <a:spLocks noChangeArrowheads="1"/>
            </p:cNvSpPr>
            <p:nvPr/>
          </p:nvSpPr>
          <p:spPr bwMode="auto">
            <a:xfrm>
              <a:off x="4020" y="431"/>
              <a:ext cx="63" cy="73"/>
            </a:xfrm>
            <a:custGeom>
              <a:avLst/>
              <a:gdLst>
                <a:gd name="T0" fmla="*/ 3 w 74"/>
                <a:gd name="T1" fmla="*/ 1 h 103"/>
                <a:gd name="T2" fmla="*/ 4 w 74"/>
                <a:gd name="T3" fmla="*/ 1 h 103"/>
                <a:gd name="T4" fmla="*/ 3 w 74"/>
                <a:gd name="T5" fmla="*/ 1 h 103"/>
                <a:gd name="T6" fmla="*/ 3 w 74"/>
                <a:gd name="T7" fmla="*/ 1 h 103"/>
                <a:gd name="T8" fmla="*/ 3 w 74"/>
                <a:gd name="T9" fmla="*/ 1 h 103"/>
                <a:gd name="T10" fmla="*/ 3 w 74"/>
                <a:gd name="T11" fmla="*/ 1 h 103"/>
                <a:gd name="T12" fmla="*/ 0 w 74"/>
                <a:gd name="T13" fmla="*/ 1 h 103"/>
                <a:gd name="T14" fmla="*/ 3 w 74"/>
                <a:gd name="T15" fmla="*/ 1 h 103"/>
                <a:gd name="T16" fmla="*/ 3 w 74"/>
                <a:gd name="T17" fmla="*/ 1 h 103"/>
                <a:gd name="T18" fmla="*/ 2 w 74"/>
                <a:gd name="T19" fmla="*/ 1 h 103"/>
                <a:gd name="T20" fmla="*/ 3 w 74"/>
                <a:gd name="T21" fmla="*/ 1 h 103"/>
                <a:gd name="T22" fmla="*/ 3 w 74"/>
                <a:gd name="T23" fmla="*/ 1 h 103"/>
                <a:gd name="T24" fmla="*/ 3 w 74"/>
                <a:gd name="T25" fmla="*/ 1 h 103"/>
                <a:gd name="T26" fmla="*/ 3 w 74"/>
                <a:gd name="T27" fmla="*/ 1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4"/>
                <a:gd name="T43" fmla="*/ 0 h 103"/>
                <a:gd name="T44" fmla="*/ 74 w 74"/>
                <a:gd name="T45" fmla="*/ 103 h 1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9" name="Freeform 93">
              <a:extLst>
                <a:ext uri="{FF2B5EF4-FFF2-40B4-BE49-F238E27FC236}">
                  <a16:creationId xmlns:a16="http://schemas.microsoft.com/office/drawing/2014/main" id="{05635257-32CB-41C8-B304-9693093A79F8}"/>
                </a:ext>
              </a:extLst>
            </p:cNvPr>
            <p:cNvSpPr>
              <a:spLocks noChangeArrowheads="1"/>
            </p:cNvSpPr>
            <p:nvPr/>
          </p:nvSpPr>
          <p:spPr bwMode="auto">
            <a:xfrm>
              <a:off x="3978" y="506"/>
              <a:ext cx="126" cy="176"/>
            </a:xfrm>
            <a:custGeom>
              <a:avLst/>
              <a:gdLst>
                <a:gd name="T0" fmla="*/ 6 w 146"/>
                <a:gd name="T1" fmla="*/ 1 h 252"/>
                <a:gd name="T2" fmla="*/ 4 w 146"/>
                <a:gd name="T3" fmla="*/ 1 h 252"/>
                <a:gd name="T4" fmla="*/ 4 w 146"/>
                <a:gd name="T5" fmla="*/ 1 h 252"/>
                <a:gd name="T6" fmla="*/ 3 w 146"/>
                <a:gd name="T7" fmla="*/ 1 h 252"/>
                <a:gd name="T8" fmla="*/ 3 w 146"/>
                <a:gd name="T9" fmla="*/ 1 h 252"/>
                <a:gd name="T10" fmla="*/ 3 w 146"/>
                <a:gd name="T11" fmla="*/ 1 h 252"/>
                <a:gd name="T12" fmla="*/ 3 w 146"/>
                <a:gd name="T13" fmla="*/ 1 h 252"/>
                <a:gd name="T14" fmla="*/ 3 w 146"/>
                <a:gd name="T15" fmla="*/ 1 h 252"/>
                <a:gd name="T16" fmla="*/ 3 w 146"/>
                <a:gd name="T17" fmla="*/ 1 h 252"/>
                <a:gd name="T18" fmla="*/ 3 w 146"/>
                <a:gd name="T19" fmla="*/ 1 h 252"/>
                <a:gd name="T20" fmla="*/ 3 w 146"/>
                <a:gd name="T21" fmla="*/ 1 h 252"/>
                <a:gd name="T22" fmla="*/ 3 w 146"/>
                <a:gd name="T23" fmla="*/ 1 h 252"/>
                <a:gd name="T24" fmla="*/ 4 w 146"/>
                <a:gd name="T25" fmla="*/ 1 h 252"/>
                <a:gd name="T26" fmla="*/ 3 w 146"/>
                <a:gd name="T27" fmla="*/ 1 h 252"/>
                <a:gd name="T28" fmla="*/ 3 w 146"/>
                <a:gd name="T29" fmla="*/ 1 h 252"/>
                <a:gd name="T30" fmla="*/ 5 w 146"/>
                <a:gd name="T31" fmla="*/ 1 h 252"/>
                <a:gd name="T32" fmla="*/ 6 w 146"/>
                <a:gd name="T33" fmla="*/ 1 h 252"/>
                <a:gd name="T34" fmla="*/ 8 w 146"/>
                <a:gd name="T35" fmla="*/ 1 h 252"/>
                <a:gd name="T36" fmla="*/ 8 w 146"/>
                <a:gd name="T37" fmla="*/ 1 h 252"/>
                <a:gd name="T38" fmla="*/ 9 w 146"/>
                <a:gd name="T39" fmla="*/ 1 h 252"/>
                <a:gd name="T40" fmla="*/ 10 w 146"/>
                <a:gd name="T41" fmla="*/ 1 h 252"/>
                <a:gd name="T42" fmla="*/ 10 w 146"/>
                <a:gd name="T43" fmla="*/ 1 h 252"/>
                <a:gd name="T44" fmla="*/ 9 w 146"/>
                <a:gd name="T45" fmla="*/ 1 h 252"/>
                <a:gd name="T46" fmla="*/ 9 w 146"/>
                <a:gd name="T47" fmla="*/ 1 h 252"/>
                <a:gd name="T48" fmla="*/ 7 w 146"/>
                <a:gd name="T49" fmla="*/ 0 h 252"/>
                <a:gd name="T50" fmla="*/ 6 w 146"/>
                <a:gd name="T51" fmla="*/ 1 h 252"/>
                <a:gd name="T52" fmla="*/ 7 w 146"/>
                <a:gd name="T53" fmla="*/ 1 h 252"/>
                <a:gd name="T54" fmla="*/ 7 w 146"/>
                <a:gd name="T55" fmla="*/ 1 h 252"/>
                <a:gd name="T56" fmla="*/ 6 w 146"/>
                <a:gd name="T57" fmla="*/ 1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6"/>
                <a:gd name="T88" fmla="*/ 0 h 252"/>
                <a:gd name="T89" fmla="*/ 146 w 146"/>
                <a:gd name="T90" fmla="*/ 252 h 2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0" name="Freeform 94">
              <a:extLst>
                <a:ext uri="{FF2B5EF4-FFF2-40B4-BE49-F238E27FC236}">
                  <a16:creationId xmlns:a16="http://schemas.microsoft.com/office/drawing/2014/main" id="{E028231A-ECDA-4986-9E4F-102C12C451AD}"/>
                </a:ext>
              </a:extLst>
            </p:cNvPr>
            <p:cNvSpPr>
              <a:spLocks noChangeArrowheads="1"/>
            </p:cNvSpPr>
            <p:nvPr/>
          </p:nvSpPr>
          <p:spPr bwMode="auto">
            <a:xfrm>
              <a:off x="2758" y="35"/>
              <a:ext cx="60" cy="28"/>
            </a:xfrm>
            <a:custGeom>
              <a:avLst/>
              <a:gdLst>
                <a:gd name="T0" fmla="*/ 3 w 70"/>
                <a:gd name="T1" fmla="*/ 0 h 40"/>
                <a:gd name="T2" fmla="*/ 4 w 70"/>
                <a:gd name="T3" fmla="*/ 1 h 40"/>
                <a:gd name="T4" fmla="*/ 3 w 70"/>
                <a:gd name="T5" fmla="*/ 1 h 40"/>
                <a:gd name="T6" fmla="*/ 3 w 70"/>
                <a:gd name="T7" fmla="*/ 1 h 40"/>
                <a:gd name="T8" fmla="*/ 3 w 70"/>
                <a:gd name="T9" fmla="*/ 1 h 40"/>
                <a:gd name="T10" fmla="*/ 1 w 70"/>
                <a:gd name="T11" fmla="*/ 1 h 40"/>
                <a:gd name="T12" fmla="*/ 3 w 70"/>
                <a:gd name="T13" fmla="*/ 1 h 40"/>
                <a:gd name="T14" fmla="*/ 3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
                <a:gd name="T25" fmla="*/ 0 h 40"/>
                <a:gd name="T26" fmla="*/ 70 w 70"/>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1" name="Freeform 95">
              <a:extLst>
                <a:ext uri="{FF2B5EF4-FFF2-40B4-BE49-F238E27FC236}">
                  <a16:creationId xmlns:a16="http://schemas.microsoft.com/office/drawing/2014/main" id="{BA3DEF42-F205-49EB-9EFB-6927BD146A24}"/>
                </a:ext>
              </a:extLst>
            </p:cNvPr>
            <p:cNvSpPr>
              <a:spLocks noChangeArrowheads="1"/>
            </p:cNvSpPr>
            <p:nvPr/>
          </p:nvSpPr>
          <p:spPr bwMode="auto">
            <a:xfrm>
              <a:off x="2635" y="43"/>
              <a:ext cx="22" cy="21"/>
            </a:xfrm>
            <a:custGeom>
              <a:avLst/>
              <a:gdLst>
                <a:gd name="T0" fmla="*/ 3 w 26"/>
                <a:gd name="T1" fmla="*/ 0 h 29"/>
                <a:gd name="T2" fmla="*/ 0 w 26"/>
                <a:gd name="T3" fmla="*/ 1 h 29"/>
                <a:gd name="T4" fmla="*/ 3 w 26"/>
                <a:gd name="T5" fmla="*/ 1 h 29"/>
                <a:gd name="T6" fmla="*/ 3 w 26"/>
                <a:gd name="T7" fmla="*/ 0 h 29"/>
                <a:gd name="T8" fmla="*/ 0 60000 65536"/>
                <a:gd name="T9" fmla="*/ 0 60000 65536"/>
                <a:gd name="T10" fmla="*/ 0 60000 65536"/>
                <a:gd name="T11" fmla="*/ 0 60000 65536"/>
                <a:gd name="T12" fmla="*/ 0 w 26"/>
                <a:gd name="T13" fmla="*/ 0 h 29"/>
                <a:gd name="T14" fmla="*/ 26 w 26"/>
                <a:gd name="T15" fmla="*/ 29 h 29"/>
              </a:gdLst>
              <a:ahLst/>
              <a:cxnLst>
                <a:cxn ang="T8">
                  <a:pos x="T0" y="T1"/>
                </a:cxn>
                <a:cxn ang="T9">
                  <a:pos x="T2" y="T3"/>
                </a:cxn>
                <a:cxn ang="T10">
                  <a:pos x="T4" y="T5"/>
                </a:cxn>
                <a:cxn ang="T11">
                  <a:pos x="T6" y="T7"/>
                </a:cxn>
              </a:cxnLst>
              <a:rect l="T12" t="T13" r="T14" b="T15"/>
              <a:pathLst>
                <a:path w="26" h="29">
                  <a:moveTo>
                    <a:pt x="18" y="0"/>
                  </a:moveTo>
                  <a:cubicBezTo>
                    <a:pt x="9" y="6"/>
                    <a:pt x="4" y="7"/>
                    <a:pt x="0" y="18"/>
                  </a:cubicBezTo>
                  <a:cubicBezTo>
                    <a:pt x="7" y="25"/>
                    <a:pt x="9" y="29"/>
                    <a:pt x="18" y="26"/>
                  </a:cubicBezTo>
                  <a:cubicBezTo>
                    <a:pt x="22" y="14"/>
                    <a:pt x="26" y="12"/>
                    <a:pt x="18"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2" name="Freeform 96">
              <a:extLst>
                <a:ext uri="{FF2B5EF4-FFF2-40B4-BE49-F238E27FC236}">
                  <a16:creationId xmlns:a16="http://schemas.microsoft.com/office/drawing/2014/main" id="{5FA08E17-5D42-41A5-8A93-68941145B14B}"/>
                </a:ext>
              </a:extLst>
            </p:cNvPr>
            <p:cNvSpPr>
              <a:spLocks noChangeArrowheads="1"/>
            </p:cNvSpPr>
            <p:nvPr/>
          </p:nvSpPr>
          <p:spPr bwMode="auto">
            <a:xfrm>
              <a:off x="2663" y="42"/>
              <a:ext cx="42" cy="25"/>
            </a:xfrm>
            <a:custGeom>
              <a:avLst/>
              <a:gdLst>
                <a:gd name="T0" fmla="*/ 3 w 49"/>
                <a:gd name="T1" fmla="*/ 1 h 36"/>
                <a:gd name="T2" fmla="*/ 0 w 49"/>
                <a:gd name="T3" fmla="*/ 1 h 36"/>
                <a:gd name="T4" fmla="*/ 3 w 49"/>
                <a:gd name="T5" fmla="*/ 1 h 36"/>
                <a:gd name="T6" fmla="*/ 3 w 49"/>
                <a:gd name="T7" fmla="*/ 1 h 36"/>
                <a:gd name="T8" fmla="*/ 3 w 49"/>
                <a:gd name="T9" fmla="*/ 1 h 36"/>
                <a:gd name="T10" fmla="*/ 3 w 49"/>
                <a:gd name="T11" fmla="*/ 1 h 36"/>
                <a:gd name="T12" fmla="*/ 0 60000 65536"/>
                <a:gd name="T13" fmla="*/ 0 60000 65536"/>
                <a:gd name="T14" fmla="*/ 0 60000 65536"/>
                <a:gd name="T15" fmla="*/ 0 60000 65536"/>
                <a:gd name="T16" fmla="*/ 0 60000 65536"/>
                <a:gd name="T17" fmla="*/ 0 60000 65536"/>
                <a:gd name="T18" fmla="*/ 0 w 49"/>
                <a:gd name="T19" fmla="*/ 0 h 36"/>
                <a:gd name="T20" fmla="*/ 49 w 49"/>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3" name="Freeform 97">
              <a:extLst>
                <a:ext uri="{FF2B5EF4-FFF2-40B4-BE49-F238E27FC236}">
                  <a16:creationId xmlns:a16="http://schemas.microsoft.com/office/drawing/2014/main" id="{B7916451-3064-4408-BD4E-D54B31DF2385}"/>
                </a:ext>
              </a:extLst>
            </p:cNvPr>
            <p:cNvSpPr>
              <a:spLocks noChangeArrowheads="1"/>
            </p:cNvSpPr>
            <p:nvPr/>
          </p:nvSpPr>
          <p:spPr bwMode="auto">
            <a:xfrm>
              <a:off x="2733" y="34"/>
              <a:ext cx="23" cy="15"/>
            </a:xfrm>
            <a:custGeom>
              <a:avLst/>
              <a:gdLst>
                <a:gd name="T0" fmla="*/ 3 w 27"/>
                <a:gd name="T1" fmla="*/ 0 h 22"/>
                <a:gd name="T2" fmla="*/ 3 w 27"/>
                <a:gd name="T3" fmla="*/ 1 h 22"/>
                <a:gd name="T4" fmla="*/ 3 w 27"/>
                <a:gd name="T5" fmla="*/ 1 h 22"/>
                <a:gd name="T6" fmla="*/ 3 w 27"/>
                <a:gd name="T7" fmla="*/ 0 h 22"/>
                <a:gd name="T8" fmla="*/ 0 60000 65536"/>
                <a:gd name="T9" fmla="*/ 0 60000 65536"/>
                <a:gd name="T10" fmla="*/ 0 60000 65536"/>
                <a:gd name="T11" fmla="*/ 0 60000 65536"/>
                <a:gd name="T12" fmla="*/ 0 w 27"/>
                <a:gd name="T13" fmla="*/ 0 h 22"/>
                <a:gd name="T14" fmla="*/ 27 w 27"/>
                <a:gd name="T15" fmla="*/ 22 h 22"/>
              </a:gdLst>
              <a:ahLst/>
              <a:cxnLst>
                <a:cxn ang="T8">
                  <a:pos x="T0" y="T1"/>
                </a:cxn>
                <a:cxn ang="T9">
                  <a:pos x="T2" y="T3"/>
                </a:cxn>
                <a:cxn ang="T10">
                  <a:pos x="T4" y="T5"/>
                </a:cxn>
                <a:cxn ang="T11">
                  <a:pos x="T6" y="T7"/>
                </a:cxn>
              </a:cxnLst>
              <a:rect l="T12" t="T13" r="T14" b="T15"/>
              <a:pathLst>
                <a:path w="27" h="22">
                  <a:moveTo>
                    <a:pt x="11" y="0"/>
                  </a:moveTo>
                  <a:cubicBezTo>
                    <a:pt x="8" y="4"/>
                    <a:pt x="0" y="8"/>
                    <a:pt x="3" y="12"/>
                  </a:cubicBezTo>
                  <a:cubicBezTo>
                    <a:pt x="6" y="17"/>
                    <a:pt x="19" y="22"/>
                    <a:pt x="19" y="22"/>
                  </a:cubicBezTo>
                  <a:cubicBezTo>
                    <a:pt x="27" y="10"/>
                    <a:pt x="15" y="11"/>
                    <a:pt x="11"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4" name="Freeform 98">
              <a:extLst>
                <a:ext uri="{FF2B5EF4-FFF2-40B4-BE49-F238E27FC236}">
                  <a16:creationId xmlns:a16="http://schemas.microsoft.com/office/drawing/2014/main" id="{FE0972A7-8C79-488E-8156-940E4A3F01E1}"/>
                </a:ext>
              </a:extLst>
            </p:cNvPr>
            <p:cNvSpPr>
              <a:spLocks noChangeArrowheads="1"/>
            </p:cNvSpPr>
            <p:nvPr/>
          </p:nvSpPr>
          <p:spPr bwMode="auto">
            <a:xfrm>
              <a:off x="2712" y="50"/>
              <a:ext cx="17" cy="13"/>
            </a:xfrm>
            <a:custGeom>
              <a:avLst/>
              <a:gdLst>
                <a:gd name="T0" fmla="*/ 3 w 20"/>
                <a:gd name="T1" fmla="*/ 0 h 18"/>
                <a:gd name="T2" fmla="*/ 3 w 20"/>
                <a:gd name="T3" fmla="*/ 1 h 18"/>
                <a:gd name="T4" fmla="*/ 3 w 20"/>
                <a:gd name="T5" fmla="*/ 0 h 18"/>
                <a:gd name="T6" fmla="*/ 0 60000 65536"/>
                <a:gd name="T7" fmla="*/ 0 60000 65536"/>
                <a:gd name="T8" fmla="*/ 0 60000 65536"/>
                <a:gd name="T9" fmla="*/ 0 w 20"/>
                <a:gd name="T10" fmla="*/ 0 h 18"/>
                <a:gd name="T11" fmla="*/ 20 w 20"/>
                <a:gd name="T12" fmla="*/ 18 h 18"/>
              </a:gdLst>
              <a:ahLst/>
              <a:cxnLst>
                <a:cxn ang="T6">
                  <a:pos x="T0" y="T1"/>
                </a:cxn>
                <a:cxn ang="T7">
                  <a:pos x="T2" y="T3"/>
                </a:cxn>
                <a:cxn ang="T8">
                  <a:pos x="T4" y="T5"/>
                </a:cxn>
              </a:cxnLst>
              <a:rect l="T9" t="T10" r="T11" b="T12"/>
              <a:pathLst>
                <a:path w="20" h="18">
                  <a:moveTo>
                    <a:pt x="11" y="0"/>
                  </a:moveTo>
                  <a:cubicBezTo>
                    <a:pt x="1" y="14"/>
                    <a:pt x="0" y="9"/>
                    <a:pt x="9" y="18"/>
                  </a:cubicBezTo>
                  <a:cubicBezTo>
                    <a:pt x="20" y="14"/>
                    <a:pt x="16" y="18"/>
                    <a:pt x="11"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5" name="Freeform 99">
              <a:extLst>
                <a:ext uri="{FF2B5EF4-FFF2-40B4-BE49-F238E27FC236}">
                  <a16:creationId xmlns:a16="http://schemas.microsoft.com/office/drawing/2014/main" id="{F6C0CC1D-8770-407F-B153-7CE59B9C217A}"/>
                </a:ext>
              </a:extLst>
            </p:cNvPr>
            <p:cNvSpPr>
              <a:spLocks noChangeArrowheads="1"/>
            </p:cNvSpPr>
            <p:nvPr/>
          </p:nvSpPr>
          <p:spPr bwMode="auto">
            <a:xfrm>
              <a:off x="4023" y="65"/>
              <a:ext cx="21" cy="31"/>
            </a:xfrm>
            <a:custGeom>
              <a:avLst/>
              <a:gdLst>
                <a:gd name="T0" fmla="*/ 4 w 24"/>
                <a:gd name="T1" fmla="*/ 0 h 44"/>
                <a:gd name="T2" fmla="*/ 4 w 24"/>
                <a:gd name="T3" fmla="*/ 1 h 44"/>
                <a:gd name="T4" fmla="*/ 0 w 24"/>
                <a:gd name="T5" fmla="*/ 1 h 44"/>
                <a:gd name="T6" fmla="*/ 4 w 24"/>
                <a:gd name="T7" fmla="*/ 1 h 44"/>
                <a:gd name="T8" fmla="*/ 4 w 24"/>
                <a:gd name="T9" fmla="*/ 0 h 44"/>
                <a:gd name="T10" fmla="*/ 0 60000 65536"/>
                <a:gd name="T11" fmla="*/ 0 60000 65536"/>
                <a:gd name="T12" fmla="*/ 0 60000 65536"/>
                <a:gd name="T13" fmla="*/ 0 60000 65536"/>
                <a:gd name="T14" fmla="*/ 0 60000 65536"/>
                <a:gd name="T15" fmla="*/ 0 w 24"/>
                <a:gd name="T16" fmla="*/ 0 h 44"/>
                <a:gd name="T17" fmla="*/ 24 w 24"/>
                <a:gd name="T18" fmla="*/ 44 h 44"/>
              </a:gdLst>
              <a:ahLst/>
              <a:cxnLst>
                <a:cxn ang="T10">
                  <a:pos x="T0" y="T1"/>
                </a:cxn>
                <a:cxn ang="T11">
                  <a:pos x="T2" y="T3"/>
                </a:cxn>
                <a:cxn ang="T12">
                  <a:pos x="T4" y="T5"/>
                </a:cxn>
                <a:cxn ang="T13">
                  <a:pos x="T6" y="T7"/>
                </a:cxn>
                <a:cxn ang="T14">
                  <a:pos x="T8" y="T9"/>
                </a:cxn>
              </a:cxnLst>
              <a:rect l="T15" t="T16" r="T17" b="T18"/>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6" name="Freeform 100">
              <a:extLst>
                <a:ext uri="{FF2B5EF4-FFF2-40B4-BE49-F238E27FC236}">
                  <a16:creationId xmlns:a16="http://schemas.microsoft.com/office/drawing/2014/main" id="{D0B99F2C-CDBF-4B9A-98D4-A093303F6F60}"/>
                </a:ext>
              </a:extLst>
            </p:cNvPr>
            <p:cNvSpPr>
              <a:spLocks noChangeArrowheads="1"/>
            </p:cNvSpPr>
            <p:nvPr/>
          </p:nvSpPr>
          <p:spPr bwMode="auto">
            <a:xfrm>
              <a:off x="3007" y="1423"/>
              <a:ext cx="35" cy="17"/>
            </a:xfrm>
            <a:custGeom>
              <a:avLst/>
              <a:gdLst>
                <a:gd name="T0" fmla="*/ 3 w 41"/>
                <a:gd name="T1" fmla="*/ 0 h 24"/>
                <a:gd name="T2" fmla="*/ 3 w 41"/>
                <a:gd name="T3" fmla="*/ 1 h 24"/>
                <a:gd name="T4" fmla="*/ 3 w 41"/>
                <a:gd name="T5" fmla="*/ 0 h 24"/>
                <a:gd name="T6" fmla="*/ 0 60000 65536"/>
                <a:gd name="T7" fmla="*/ 0 60000 65536"/>
                <a:gd name="T8" fmla="*/ 0 60000 65536"/>
                <a:gd name="T9" fmla="*/ 0 w 41"/>
                <a:gd name="T10" fmla="*/ 0 h 24"/>
                <a:gd name="T11" fmla="*/ 41 w 41"/>
                <a:gd name="T12" fmla="*/ 24 h 24"/>
              </a:gdLst>
              <a:ahLst/>
              <a:cxnLst>
                <a:cxn ang="T6">
                  <a:pos x="T0" y="T1"/>
                </a:cxn>
                <a:cxn ang="T7">
                  <a:pos x="T2" y="T3"/>
                </a:cxn>
                <a:cxn ang="T8">
                  <a:pos x="T4" y="T5"/>
                </a:cxn>
              </a:cxnLst>
              <a:rect l="T9" t="T10" r="T11" b="T12"/>
              <a:pathLst>
                <a:path w="41" h="24">
                  <a:moveTo>
                    <a:pt x="30" y="0"/>
                  </a:moveTo>
                  <a:cubicBezTo>
                    <a:pt x="4" y="4"/>
                    <a:pt x="0" y="17"/>
                    <a:pt x="26" y="24"/>
                  </a:cubicBezTo>
                  <a:cubicBezTo>
                    <a:pt x="41" y="19"/>
                    <a:pt x="38" y="10"/>
                    <a:pt x="30"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7" name="Freeform 101">
              <a:extLst>
                <a:ext uri="{FF2B5EF4-FFF2-40B4-BE49-F238E27FC236}">
                  <a16:creationId xmlns:a16="http://schemas.microsoft.com/office/drawing/2014/main" id="{FFBE5B2C-24C9-4EF9-9043-1C5F0E12C370}"/>
                </a:ext>
              </a:extLst>
            </p:cNvPr>
            <p:cNvSpPr>
              <a:spLocks noChangeArrowheads="1"/>
            </p:cNvSpPr>
            <p:nvPr/>
          </p:nvSpPr>
          <p:spPr bwMode="auto">
            <a:xfrm>
              <a:off x="3053" y="1416"/>
              <a:ext cx="11" cy="14"/>
            </a:xfrm>
            <a:custGeom>
              <a:avLst/>
              <a:gdLst>
                <a:gd name="T0" fmla="*/ 3 w 13"/>
                <a:gd name="T1" fmla="*/ 1 h 20"/>
                <a:gd name="T2" fmla="*/ 1 w 13"/>
                <a:gd name="T3" fmla="*/ 1 h 20"/>
                <a:gd name="T4" fmla="*/ 3 w 13"/>
                <a:gd name="T5" fmla="*/ 1 h 20"/>
                <a:gd name="T6" fmla="*/ 3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8" name="Freeform 102">
              <a:extLst>
                <a:ext uri="{FF2B5EF4-FFF2-40B4-BE49-F238E27FC236}">
                  <a16:creationId xmlns:a16="http://schemas.microsoft.com/office/drawing/2014/main" id="{6DEFC86A-DCD0-46B9-A5FD-FB3E3D8C02BE}"/>
                </a:ext>
              </a:extLst>
            </p:cNvPr>
            <p:cNvSpPr>
              <a:spLocks noChangeArrowheads="1"/>
            </p:cNvSpPr>
            <p:nvPr/>
          </p:nvSpPr>
          <p:spPr bwMode="auto">
            <a:xfrm>
              <a:off x="2976" y="1272"/>
              <a:ext cx="10" cy="14"/>
            </a:xfrm>
            <a:custGeom>
              <a:avLst/>
              <a:gdLst>
                <a:gd name="T0" fmla="*/ 2 w 13"/>
                <a:gd name="T1" fmla="*/ 1 h 20"/>
                <a:gd name="T2" fmla="*/ 1 w 13"/>
                <a:gd name="T3" fmla="*/ 1 h 20"/>
                <a:gd name="T4" fmla="*/ 2 w 13"/>
                <a:gd name="T5" fmla="*/ 1 h 20"/>
                <a:gd name="T6" fmla="*/ 2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9" name="Freeform 103">
              <a:extLst>
                <a:ext uri="{FF2B5EF4-FFF2-40B4-BE49-F238E27FC236}">
                  <a16:creationId xmlns:a16="http://schemas.microsoft.com/office/drawing/2014/main" id="{CE67E9B8-1941-47F5-AC5C-0BBEBE652431}"/>
                </a:ext>
              </a:extLst>
            </p:cNvPr>
            <p:cNvSpPr>
              <a:spLocks noChangeArrowheads="1"/>
            </p:cNvSpPr>
            <p:nvPr/>
          </p:nvSpPr>
          <p:spPr bwMode="auto">
            <a:xfrm>
              <a:off x="3045" y="1204"/>
              <a:ext cx="12" cy="18"/>
            </a:xfrm>
            <a:custGeom>
              <a:avLst/>
              <a:gdLst>
                <a:gd name="T0" fmla="*/ 3 w 14"/>
                <a:gd name="T1" fmla="*/ 0 h 25"/>
                <a:gd name="T2" fmla="*/ 0 w 14"/>
                <a:gd name="T3" fmla="*/ 1 h 25"/>
                <a:gd name="T4" fmla="*/ 3 w 14"/>
                <a:gd name="T5" fmla="*/ 1 h 25"/>
                <a:gd name="T6" fmla="*/ 3 w 14"/>
                <a:gd name="T7" fmla="*/ 0 h 25"/>
                <a:gd name="T8" fmla="*/ 0 60000 65536"/>
                <a:gd name="T9" fmla="*/ 0 60000 65536"/>
                <a:gd name="T10" fmla="*/ 0 60000 65536"/>
                <a:gd name="T11" fmla="*/ 0 60000 65536"/>
                <a:gd name="T12" fmla="*/ 0 w 14"/>
                <a:gd name="T13" fmla="*/ 0 h 25"/>
                <a:gd name="T14" fmla="*/ 14 w 14"/>
                <a:gd name="T15" fmla="*/ 25 h 25"/>
              </a:gdLst>
              <a:ahLst/>
              <a:cxnLst>
                <a:cxn ang="T8">
                  <a:pos x="T0" y="T1"/>
                </a:cxn>
                <a:cxn ang="T9">
                  <a:pos x="T2" y="T3"/>
                </a:cxn>
                <a:cxn ang="T10">
                  <a:pos x="T4" y="T5"/>
                </a:cxn>
                <a:cxn ang="T11">
                  <a:pos x="T6" y="T7"/>
                </a:cxn>
              </a:cxnLst>
              <a:rect l="T12" t="T13" r="T14" b="T15"/>
              <a:pathLst>
                <a:path w="14" h="25">
                  <a:moveTo>
                    <a:pt x="6" y="0"/>
                  </a:moveTo>
                  <a:cubicBezTo>
                    <a:pt x="4" y="5"/>
                    <a:pt x="3" y="9"/>
                    <a:pt x="0" y="13"/>
                  </a:cubicBezTo>
                  <a:cubicBezTo>
                    <a:pt x="1" y="24"/>
                    <a:pt x="1" y="25"/>
                    <a:pt x="12" y="24"/>
                  </a:cubicBezTo>
                  <a:cubicBezTo>
                    <a:pt x="14" y="12"/>
                    <a:pt x="8" y="10"/>
                    <a:pt x="6"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0" name="Freeform 104">
              <a:extLst>
                <a:ext uri="{FF2B5EF4-FFF2-40B4-BE49-F238E27FC236}">
                  <a16:creationId xmlns:a16="http://schemas.microsoft.com/office/drawing/2014/main" id="{C4510E74-FB62-482D-AEBE-5EF03A08C8F7}"/>
                </a:ext>
              </a:extLst>
            </p:cNvPr>
            <p:cNvSpPr>
              <a:spLocks noChangeArrowheads="1"/>
            </p:cNvSpPr>
            <p:nvPr/>
          </p:nvSpPr>
          <p:spPr bwMode="auto">
            <a:xfrm>
              <a:off x="3017" y="1203"/>
              <a:ext cx="13" cy="18"/>
            </a:xfrm>
            <a:custGeom>
              <a:avLst/>
              <a:gdLst>
                <a:gd name="T0" fmla="*/ 6 w 14"/>
                <a:gd name="T1" fmla="*/ 0 h 25"/>
                <a:gd name="T2" fmla="*/ 0 w 14"/>
                <a:gd name="T3" fmla="*/ 1 h 25"/>
                <a:gd name="T4" fmla="*/ 7 w 14"/>
                <a:gd name="T5" fmla="*/ 1 h 25"/>
                <a:gd name="T6" fmla="*/ 6 w 14"/>
                <a:gd name="T7" fmla="*/ 0 h 25"/>
                <a:gd name="T8" fmla="*/ 0 60000 65536"/>
                <a:gd name="T9" fmla="*/ 0 60000 65536"/>
                <a:gd name="T10" fmla="*/ 0 60000 65536"/>
                <a:gd name="T11" fmla="*/ 0 60000 65536"/>
                <a:gd name="T12" fmla="*/ 0 w 14"/>
                <a:gd name="T13" fmla="*/ 0 h 25"/>
                <a:gd name="T14" fmla="*/ 14 w 14"/>
                <a:gd name="T15" fmla="*/ 25 h 25"/>
              </a:gdLst>
              <a:ahLst/>
              <a:cxnLst>
                <a:cxn ang="T8">
                  <a:pos x="T0" y="T1"/>
                </a:cxn>
                <a:cxn ang="T9">
                  <a:pos x="T2" y="T3"/>
                </a:cxn>
                <a:cxn ang="T10">
                  <a:pos x="T4" y="T5"/>
                </a:cxn>
                <a:cxn ang="T11">
                  <a:pos x="T6" y="T7"/>
                </a:cxn>
              </a:cxnLst>
              <a:rect l="T12" t="T13" r="T14" b="T15"/>
              <a:pathLst>
                <a:path w="14" h="25">
                  <a:moveTo>
                    <a:pt x="6" y="0"/>
                  </a:moveTo>
                  <a:cubicBezTo>
                    <a:pt x="4" y="5"/>
                    <a:pt x="3" y="9"/>
                    <a:pt x="0" y="13"/>
                  </a:cubicBezTo>
                  <a:cubicBezTo>
                    <a:pt x="1" y="24"/>
                    <a:pt x="1" y="25"/>
                    <a:pt x="12" y="24"/>
                  </a:cubicBezTo>
                  <a:cubicBezTo>
                    <a:pt x="14" y="12"/>
                    <a:pt x="8" y="10"/>
                    <a:pt x="6" y="0"/>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1" name="Freeform 105">
              <a:extLst>
                <a:ext uri="{FF2B5EF4-FFF2-40B4-BE49-F238E27FC236}">
                  <a16:creationId xmlns:a16="http://schemas.microsoft.com/office/drawing/2014/main" id="{A9679596-53DE-4EEC-B4DC-8604A82BBE05}"/>
                </a:ext>
              </a:extLst>
            </p:cNvPr>
            <p:cNvSpPr>
              <a:spLocks noChangeArrowheads="1"/>
            </p:cNvSpPr>
            <p:nvPr/>
          </p:nvSpPr>
          <p:spPr bwMode="auto">
            <a:xfrm>
              <a:off x="3004" y="1224"/>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2" name="Freeform 106">
              <a:extLst>
                <a:ext uri="{FF2B5EF4-FFF2-40B4-BE49-F238E27FC236}">
                  <a16:creationId xmlns:a16="http://schemas.microsoft.com/office/drawing/2014/main" id="{3BF32B25-4D45-4037-8C36-CA1355838C7C}"/>
                </a:ext>
              </a:extLst>
            </p:cNvPr>
            <p:cNvSpPr>
              <a:spLocks noChangeArrowheads="1"/>
            </p:cNvSpPr>
            <p:nvPr/>
          </p:nvSpPr>
          <p:spPr bwMode="auto">
            <a:xfrm>
              <a:off x="2976" y="1256"/>
              <a:ext cx="10" cy="14"/>
            </a:xfrm>
            <a:custGeom>
              <a:avLst/>
              <a:gdLst>
                <a:gd name="T0" fmla="*/ 2 w 13"/>
                <a:gd name="T1" fmla="*/ 1 h 20"/>
                <a:gd name="T2" fmla="*/ 1 w 13"/>
                <a:gd name="T3" fmla="*/ 1 h 20"/>
                <a:gd name="T4" fmla="*/ 2 w 13"/>
                <a:gd name="T5" fmla="*/ 1 h 20"/>
                <a:gd name="T6" fmla="*/ 2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3" name="Freeform 107">
              <a:extLst>
                <a:ext uri="{FF2B5EF4-FFF2-40B4-BE49-F238E27FC236}">
                  <a16:creationId xmlns:a16="http://schemas.microsoft.com/office/drawing/2014/main" id="{54149933-B233-4BB8-8D92-880C7F00BBBC}"/>
                </a:ext>
              </a:extLst>
            </p:cNvPr>
            <p:cNvSpPr>
              <a:spLocks noChangeArrowheads="1"/>
            </p:cNvSpPr>
            <p:nvPr/>
          </p:nvSpPr>
          <p:spPr bwMode="auto">
            <a:xfrm>
              <a:off x="2997" y="1243"/>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4" name="Freeform 108">
              <a:extLst>
                <a:ext uri="{FF2B5EF4-FFF2-40B4-BE49-F238E27FC236}">
                  <a16:creationId xmlns:a16="http://schemas.microsoft.com/office/drawing/2014/main" id="{63417DDD-E283-49C3-B336-F43123217BDC}"/>
                </a:ext>
              </a:extLst>
            </p:cNvPr>
            <p:cNvSpPr>
              <a:spLocks noChangeArrowheads="1"/>
            </p:cNvSpPr>
            <p:nvPr/>
          </p:nvSpPr>
          <p:spPr bwMode="auto">
            <a:xfrm>
              <a:off x="2154" y="320"/>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5" name="Freeform 109">
              <a:extLst>
                <a:ext uri="{FF2B5EF4-FFF2-40B4-BE49-F238E27FC236}">
                  <a16:creationId xmlns:a16="http://schemas.microsoft.com/office/drawing/2014/main" id="{26D30E75-EFC7-4B1C-98E4-3DD0D5324B39}"/>
                </a:ext>
              </a:extLst>
            </p:cNvPr>
            <p:cNvSpPr>
              <a:spLocks noChangeArrowheads="1"/>
            </p:cNvSpPr>
            <p:nvPr/>
          </p:nvSpPr>
          <p:spPr bwMode="auto">
            <a:xfrm>
              <a:off x="2084" y="288"/>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6" name="Freeform 110">
              <a:extLst>
                <a:ext uri="{FF2B5EF4-FFF2-40B4-BE49-F238E27FC236}">
                  <a16:creationId xmlns:a16="http://schemas.microsoft.com/office/drawing/2014/main" id="{A987343C-8350-4FA0-A444-DCFB2EA185D1}"/>
                </a:ext>
              </a:extLst>
            </p:cNvPr>
            <p:cNvSpPr>
              <a:spLocks noChangeArrowheads="1"/>
            </p:cNvSpPr>
            <p:nvPr/>
          </p:nvSpPr>
          <p:spPr bwMode="auto">
            <a:xfrm>
              <a:off x="1810" y="85"/>
              <a:ext cx="2370" cy="1537"/>
            </a:xfrm>
            <a:custGeom>
              <a:avLst/>
              <a:gdLst>
                <a:gd name="T0" fmla="*/ 5636 w 2060"/>
                <a:gd name="T1" fmla="*/ 194 h 1644"/>
                <a:gd name="T2" fmla="*/ 4154 w 2060"/>
                <a:gd name="T3" fmla="*/ 177 h 1644"/>
                <a:gd name="T4" fmla="*/ 1967 w 2060"/>
                <a:gd name="T5" fmla="*/ 193 h 1644"/>
                <a:gd name="T6" fmla="*/ 578 w 2060"/>
                <a:gd name="T7" fmla="*/ 226 h 1644"/>
                <a:gd name="T8" fmla="*/ 150 w 2060"/>
                <a:gd name="T9" fmla="*/ 280 h 1644"/>
                <a:gd name="T10" fmla="*/ 1812 w 2060"/>
                <a:gd name="T11" fmla="*/ 316 h 1644"/>
                <a:gd name="T12" fmla="*/ 3828 w 2060"/>
                <a:gd name="T13" fmla="*/ 311 h 1644"/>
                <a:gd name="T14" fmla="*/ 4945 w 2060"/>
                <a:gd name="T15" fmla="*/ 339 h 1644"/>
                <a:gd name="T16" fmla="*/ 5636 w 2060"/>
                <a:gd name="T17" fmla="*/ 432 h 1644"/>
                <a:gd name="T18" fmla="*/ 6203 w 2060"/>
                <a:gd name="T19" fmla="*/ 484 h 1644"/>
                <a:gd name="T20" fmla="*/ 8782 w 2060"/>
                <a:gd name="T21" fmla="*/ 468 h 1644"/>
                <a:gd name="T22" fmla="*/ 10183 w 2060"/>
                <a:gd name="T23" fmla="*/ 411 h 1644"/>
                <a:gd name="T24" fmla="*/ 11032 w 2060"/>
                <a:gd name="T25" fmla="*/ 344 h 1644"/>
                <a:gd name="T26" fmla="*/ 12446 w 2060"/>
                <a:gd name="T27" fmla="*/ 298 h 1644"/>
                <a:gd name="T28" fmla="*/ 9936 w 2060"/>
                <a:gd name="T29" fmla="*/ 255 h 1644"/>
                <a:gd name="T30" fmla="*/ 10183 w 2060"/>
                <a:gd name="T31" fmla="*/ 244 h 1644"/>
                <a:gd name="T32" fmla="*/ 12510 w 2060"/>
                <a:gd name="T33" fmla="*/ 273 h 1644"/>
                <a:gd name="T34" fmla="*/ 13693 w 2060"/>
                <a:gd name="T35" fmla="*/ 236 h 1644"/>
                <a:gd name="T36" fmla="*/ 13042 w 2060"/>
                <a:gd name="T37" fmla="*/ 228 h 1644"/>
                <a:gd name="T38" fmla="*/ 11587 w 2060"/>
                <a:gd name="T39" fmla="*/ 213 h 1644"/>
                <a:gd name="T40" fmla="*/ 14234 w 2060"/>
                <a:gd name="T41" fmla="*/ 227 h 1644"/>
                <a:gd name="T42" fmla="*/ 16152 w 2060"/>
                <a:gd name="T43" fmla="*/ 254 h 1644"/>
                <a:gd name="T44" fmla="*/ 17133 w 2060"/>
                <a:gd name="T45" fmla="*/ 308 h 1644"/>
                <a:gd name="T46" fmla="*/ 20046 w 2060"/>
                <a:gd name="T47" fmla="*/ 252 h 1644"/>
                <a:gd name="T48" fmla="*/ 21239 w 2060"/>
                <a:gd name="T49" fmla="*/ 306 h 1644"/>
                <a:gd name="T50" fmla="*/ 21292 w 2060"/>
                <a:gd name="T51" fmla="*/ 261 h 1644"/>
                <a:gd name="T52" fmla="*/ 21942 w 2060"/>
                <a:gd name="T53" fmla="*/ 238 h 1644"/>
                <a:gd name="T54" fmla="*/ 22235 w 2060"/>
                <a:gd name="T55" fmla="*/ 162 h 1644"/>
                <a:gd name="T56" fmla="*/ 22739 w 2060"/>
                <a:gd name="T57" fmla="*/ 158 h 1644"/>
                <a:gd name="T58" fmla="*/ 22981 w 2060"/>
                <a:gd name="T59" fmla="*/ 127 h 1644"/>
                <a:gd name="T60" fmla="*/ 22517 w 2060"/>
                <a:gd name="T61" fmla="*/ 67 h 1644"/>
                <a:gd name="T62" fmla="*/ 23682 w 2060"/>
                <a:gd name="T63" fmla="*/ 32 h 1644"/>
                <a:gd name="T64" fmla="*/ 24275 w 2060"/>
                <a:gd name="T65" fmla="*/ 62 h 1644"/>
                <a:gd name="T66" fmla="*/ 24218 w 2060"/>
                <a:gd name="T67" fmla="*/ 36 h 1644"/>
                <a:gd name="T68" fmla="*/ 24623 w 2060"/>
                <a:gd name="T69" fmla="*/ 16 h 1644"/>
                <a:gd name="T70" fmla="*/ 25411 w 2060"/>
                <a:gd name="T71" fmla="*/ 0 h 1644"/>
                <a:gd name="T72" fmla="*/ 22699 w 2060"/>
                <a:gd name="T73" fmla="*/ 19 h 1644"/>
                <a:gd name="T74" fmla="*/ 19731 w 2060"/>
                <a:gd name="T75" fmla="*/ 25 h 1644"/>
                <a:gd name="T76" fmla="*/ 16826 w 2060"/>
                <a:gd name="T77" fmla="*/ 8 h 1644"/>
                <a:gd name="T78" fmla="*/ 14100 w 2060"/>
                <a:gd name="T79" fmla="*/ 20 h 1644"/>
                <a:gd name="T80" fmla="*/ 12963 w 2060"/>
                <a:gd name="T81" fmla="*/ 50 h 1644"/>
                <a:gd name="T82" fmla="*/ 11545 w 2060"/>
                <a:gd name="T83" fmla="*/ 41 h 1644"/>
                <a:gd name="T84" fmla="*/ 9452 w 2060"/>
                <a:gd name="T85" fmla="*/ 54 h 1644"/>
                <a:gd name="T86" fmla="*/ 8317 w 2060"/>
                <a:gd name="T87" fmla="*/ 41 h 1644"/>
                <a:gd name="T88" fmla="*/ 4544 w 2060"/>
                <a:gd name="T89" fmla="*/ 74 h 1644"/>
                <a:gd name="T90" fmla="*/ 6685 w 2060"/>
                <a:gd name="T91" fmla="*/ 63 h 1644"/>
                <a:gd name="T92" fmla="*/ 7948 w 2060"/>
                <a:gd name="T93" fmla="*/ 81 h 1644"/>
                <a:gd name="T94" fmla="*/ 5533 w 2060"/>
                <a:gd name="T95" fmla="*/ 106 h 1644"/>
                <a:gd name="T96" fmla="*/ 3433 w 2060"/>
                <a:gd name="T97" fmla="*/ 123 h 1644"/>
                <a:gd name="T98" fmla="*/ 2081 w 2060"/>
                <a:gd name="T99" fmla="*/ 158 h 1644"/>
                <a:gd name="T100" fmla="*/ 3534 w 2060"/>
                <a:gd name="T101" fmla="*/ 165 h 1644"/>
                <a:gd name="T102" fmla="*/ 4747 w 2060"/>
                <a:gd name="T103" fmla="*/ 169 h 1644"/>
                <a:gd name="T104" fmla="*/ 6146 w 2060"/>
                <a:gd name="T105" fmla="*/ 177 h 1644"/>
                <a:gd name="T106" fmla="*/ 6072 w 2060"/>
                <a:gd name="T107" fmla="*/ 153 h 1644"/>
                <a:gd name="T108" fmla="*/ 7388 w 2060"/>
                <a:gd name="T109" fmla="*/ 164 h 1644"/>
                <a:gd name="T110" fmla="*/ 8549 w 2060"/>
                <a:gd name="T111" fmla="*/ 138 h 1644"/>
                <a:gd name="T112" fmla="*/ 9632 w 2060"/>
                <a:gd name="T113" fmla="*/ 143 h 1644"/>
                <a:gd name="T114" fmla="*/ 7961 w 2060"/>
                <a:gd name="T115" fmla="*/ 179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060"/>
                <a:gd name="T175" fmla="*/ 0 h 1644"/>
                <a:gd name="T176" fmla="*/ 2060 w 2060"/>
                <a:gd name="T177" fmla="*/ 1644 h 164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grp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grpSp>
      <p:sp>
        <p:nvSpPr>
          <p:cNvPr id="6" name="TextBox 1"/>
          <p:cNvSpPr txBox="1"/>
          <p:nvPr/>
        </p:nvSpPr>
        <p:spPr>
          <a:xfrm>
            <a:off x="1057766" y="2172317"/>
            <a:ext cx="9939572" cy="1569632"/>
          </a:xfrm>
          <a:prstGeom prst="rect">
            <a:avLst/>
          </a:prstGeom>
          <a:noFill/>
        </p:spPr>
        <p:txBody>
          <a:bodyPr wrap="square" lIns="91413" tIns="45706" rIns="91413" bIns="45706" rtlCol="0">
            <a:spAutoFit/>
          </a:bodyPr>
          <a:lstStyle/>
          <a:p>
            <a:pPr algn="ctr"/>
            <a:r>
              <a:rPr lang="zh-CN" altLang="zh-CN" sz="4800" b="1" dirty="0">
                <a:solidFill>
                  <a:schemeClr val="tx1">
                    <a:lumMod val="85000"/>
                    <a:lumOff val="15000"/>
                  </a:schemeClr>
                </a:solidFill>
                <a:latin typeface="微软雅黑" panose="020B0503020204020204" pitchFamily="34" charset="-122"/>
                <a:ea typeface="微软雅黑" panose="020B0503020204020204" pitchFamily="34" charset="-122"/>
              </a:rPr>
              <a:t>海量矢量数据的分布式</a:t>
            </a:r>
            <a:endParaRPr lang="en-US" altLang="zh-CN" sz="4800" b="1"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r>
              <a:rPr lang="zh-CN" altLang="zh-CN" sz="4800" b="1" dirty="0">
                <a:solidFill>
                  <a:schemeClr val="tx1">
                    <a:lumMod val="85000"/>
                    <a:lumOff val="15000"/>
                  </a:schemeClr>
                </a:solidFill>
                <a:latin typeface="微软雅黑" panose="020B0503020204020204" pitchFamily="34" charset="-122"/>
                <a:ea typeface="微软雅黑" panose="020B0503020204020204" pitchFamily="34" charset="-122"/>
              </a:rPr>
              <a:t>存储及时空查询</a:t>
            </a:r>
            <a:endParaRPr lang="zh-CN" altLang="en-US" sz="48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4CBC10E6-17F4-43C2-AA85-0EB13861CD83}"/>
              </a:ext>
            </a:extLst>
          </p:cNvPr>
          <p:cNvSpPr/>
          <p:nvPr/>
        </p:nvSpPr>
        <p:spPr>
          <a:xfrm>
            <a:off x="3872335" y="4006840"/>
            <a:ext cx="5464958" cy="2346283"/>
          </a:xfrm>
          <a:prstGeom prst="rect">
            <a:avLst/>
          </a:prstGeom>
        </p:spPr>
        <p:txBody>
          <a:bodyPr wrap="none">
            <a:spAutoFit/>
          </a:bodyPr>
          <a:lstStyle/>
          <a:p>
            <a:pPr marL="342900" indent="-342900">
              <a:lnSpc>
                <a:spcPct val="150000"/>
              </a:lnSpc>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答  辩  人：  谢冲</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342900" indent="-342900">
              <a:lnSpc>
                <a:spcPct val="150000"/>
              </a:lnSpc>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专</a:t>
            </a: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业：  摄影测量与遥感</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342900" indent="-342900">
              <a:lnSpc>
                <a:spcPct val="150000"/>
              </a:lnSpc>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导       师：  范业稳  吴华意  关雪峰</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342900" indent="-342900">
              <a:lnSpc>
                <a:spcPct val="150000"/>
              </a:lnSpc>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答辩单位：  武汉大学测绘遥感国家重点实验室</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342900" indent="-342900">
              <a:lnSpc>
                <a:spcPct val="150000"/>
              </a:lnSpc>
              <a:defRPr/>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答辩时间：  </a:t>
            </a: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2018</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5</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rPr>
              <a:t>23</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日</a:t>
            </a:r>
            <a:endParaRPr lang="en-US" altLang="zh-CN" sz="2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FB677763-D946-4283-B3CA-1D3DE85AC0BB}"/>
              </a:ext>
            </a:extLst>
          </p:cNvPr>
          <p:cNvGrpSpPr/>
          <p:nvPr/>
        </p:nvGrpSpPr>
        <p:grpSpPr>
          <a:xfrm>
            <a:off x="5074753" y="483453"/>
            <a:ext cx="1584000" cy="1584000"/>
            <a:chOff x="853852" y="4271120"/>
            <a:chExt cx="1584000" cy="1584000"/>
          </a:xfrm>
        </p:grpSpPr>
        <p:sp>
          <p:nvSpPr>
            <p:cNvPr id="17" name="椭圆 16">
              <a:extLst>
                <a:ext uri="{FF2B5EF4-FFF2-40B4-BE49-F238E27FC236}">
                  <a16:creationId xmlns:a16="http://schemas.microsoft.com/office/drawing/2014/main" id="{C49D2582-077C-4CCD-B410-8B5E48B467B0}"/>
                </a:ext>
              </a:extLst>
            </p:cNvPr>
            <p:cNvSpPr>
              <a:spLocks noChangeAspect="1"/>
            </p:cNvSpPr>
            <p:nvPr/>
          </p:nvSpPr>
          <p:spPr>
            <a:xfrm>
              <a:off x="853852" y="4271120"/>
              <a:ext cx="1584000" cy="158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solidFill>
                  <a:schemeClr val="tx1">
                    <a:lumMod val="85000"/>
                    <a:lumOff val="15000"/>
                  </a:schemeClr>
                </a:solidFill>
              </a:endParaRPr>
            </a:p>
          </p:txBody>
        </p:sp>
        <p:pic>
          <p:nvPicPr>
            <p:cNvPr id="18" name="Picture 5">
              <a:extLst>
                <a:ext uri="{FF2B5EF4-FFF2-40B4-BE49-F238E27FC236}">
                  <a16:creationId xmlns:a16="http://schemas.microsoft.com/office/drawing/2014/main" id="{C69EF588-6AC8-40FC-92A1-D58D40CBA0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499" y="4348767"/>
              <a:ext cx="1428706" cy="142870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64159"/>
        </a:solidFill>
        <a:effectLst/>
      </p:bgPr>
    </p:bg>
    <p:spTree>
      <p:nvGrpSpPr>
        <p:cNvPr id="1" name=""/>
        <p:cNvGrpSpPr/>
        <p:nvPr/>
      </p:nvGrpSpPr>
      <p:grpSpPr>
        <a:xfrm>
          <a:off x="0" y="0"/>
          <a:ext cx="0" cy="0"/>
          <a:chOff x="0" y="0"/>
          <a:chExt cx="0" cy="0"/>
        </a:xfrm>
      </p:grpSpPr>
      <p:grpSp>
        <p:nvGrpSpPr>
          <p:cNvPr id="112" name="组合 17">
            <a:extLst>
              <a:ext uri="{FF2B5EF4-FFF2-40B4-BE49-F238E27FC236}">
                <a16:creationId xmlns:a16="http://schemas.microsoft.com/office/drawing/2014/main" id="{38D18476-863B-4DF7-ADF0-1F89E5C38871}"/>
              </a:ext>
            </a:extLst>
          </p:cNvPr>
          <p:cNvGrpSpPr>
            <a:grpSpLocks/>
          </p:cNvGrpSpPr>
          <p:nvPr/>
        </p:nvGrpSpPr>
        <p:grpSpPr bwMode="auto">
          <a:xfrm>
            <a:off x="2409825" y="2787463"/>
            <a:ext cx="842963" cy="781050"/>
            <a:chOff x="0" y="0"/>
            <a:chExt cx="730541" cy="759532"/>
          </a:xfrm>
        </p:grpSpPr>
        <p:sp>
          <p:nvSpPr>
            <p:cNvPr id="113" name="矩形​​ 3">
              <a:extLst>
                <a:ext uri="{FF2B5EF4-FFF2-40B4-BE49-F238E27FC236}">
                  <a16:creationId xmlns:a16="http://schemas.microsoft.com/office/drawing/2014/main" id="{1DC09535-BFD4-4E4A-9E49-295B5C1CE383}"/>
                </a:ext>
              </a:extLst>
            </p:cNvPr>
            <p:cNvSpPr>
              <a:spLocks noChangeArrowheads="1"/>
            </p:cNvSpPr>
            <p:nvPr/>
          </p:nvSpPr>
          <p:spPr bwMode="auto">
            <a:xfrm>
              <a:off x="0" y="22421"/>
              <a:ext cx="730541" cy="737111"/>
            </a:xfrm>
            <a:custGeom>
              <a:avLst/>
              <a:gdLst>
                <a:gd name="T0" fmla="*/ 0 w 1152128"/>
                <a:gd name="T1" fmla="*/ 0 h 936104"/>
                <a:gd name="T2" fmla="*/ 499 w 1152128"/>
                <a:gd name="T3" fmla="*/ 0 h 936104"/>
                <a:gd name="T4" fmla="*/ 499 w 1152128"/>
                <a:gd name="T5" fmla="*/ 13625 h 936104"/>
                <a:gd name="T6" fmla="*/ 311 w 1152128"/>
                <a:gd name="T7" fmla="*/ 13625 h 936104"/>
                <a:gd name="T8" fmla="*/ 249 w 1152128"/>
                <a:gd name="T9" fmla="*/ 16101 h 936104"/>
                <a:gd name="T10" fmla="*/ 187 w 1152128"/>
                <a:gd name="T11" fmla="*/ 13625 h 936104"/>
                <a:gd name="T12" fmla="*/ 0 w 1152128"/>
                <a:gd name="T13" fmla="*/ 13625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4" name="TextBox 120">
              <a:extLst>
                <a:ext uri="{FF2B5EF4-FFF2-40B4-BE49-F238E27FC236}">
                  <a16:creationId xmlns:a16="http://schemas.microsoft.com/office/drawing/2014/main" id="{17557EB4-4F91-417A-A5E0-349DE5F2FDE1}"/>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2</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15" name="组合 20">
            <a:extLst>
              <a:ext uri="{FF2B5EF4-FFF2-40B4-BE49-F238E27FC236}">
                <a16:creationId xmlns:a16="http://schemas.microsoft.com/office/drawing/2014/main" id="{82157FCB-4D2D-4C27-995F-E8883F06F80B}"/>
              </a:ext>
            </a:extLst>
          </p:cNvPr>
          <p:cNvGrpSpPr>
            <a:grpSpLocks/>
          </p:cNvGrpSpPr>
          <p:nvPr/>
        </p:nvGrpSpPr>
        <p:grpSpPr bwMode="auto">
          <a:xfrm>
            <a:off x="2409825" y="3688406"/>
            <a:ext cx="842963" cy="784225"/>
            <a:chOff x="0" y="0"/>
            <a:chExt cx="730541" cy="760784"/>
          </a:xfrm>
        </p:grpSpPr>
        <p:sp>
          <p:nvSpPr>
            <p:cNvPr id="116" name="矩形​​ 3">
              <a:extLst>
                <a:ext uri="{FF2B5EF4-FFF2-40B4-BE49-F238E27FC236}">
                  <a16:creationId xmlns:a16="http://schemas.microsoft.com/office/drawing/2014/main" id="{CC1D141D-87B8-45CC-8B6E-AA69F97034D9}"/>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7" name="TextBox 123">
              <a:extLst>
                <a:ext uri="{FF2B5EF4-FFF2-40B4-BE49-F238E27FC236}">
                  <a16:creationId xmlns:a16="http://schemas.microsoft.com/office/drawing/2014/main" id="{8459AE70-419C-4FD9-9D7A-2A497EEBF7F9}"/>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3</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18" name="矩形​​ 9">
            <a:extLst>
              <a:ext uri="{FF2B5EF4-FFF2-40B4-BE49-F238E27FC236}">
                <a16:creationId xmlns:a16="http://schemas.microsoft.com/office/drawing/2014/main" id="{E16838FE-33C9-4C35-8C5E-A3C18AE50E01}"/>
              </a:ext>
            </a:extLst>
          </p:cNvPr>
          <p:cNvSpPr>
            <a:spLocks noChangeArrowheads="1"/>
          </p:cNvSpPr>
          <p:nvPr/>
        </p:nvSpPr>
        <p:spPr bwMode="auto">
          <a:xfrm>
            <a:off x="3790950" y="1910332"/>
            <a:ext cx="5953125" cy="693738"/>
          </a:xfrm>
          <a:prstGeom prst="rect">
            <a:avLst/>
          </a:prstGeom>
          <a:gradFill rotWithShape="1">
            <a:gsLst>
              <a:gs pos="0">
                <a:schemeClr val="bg1"/>
              </a:gs>
              <a:gs pos="50000">
                <a:srgbClr val="D4D4D4"/>
              </a:gs>
              <a:gs pos="100000">
                <a:srgbClr val="FFFFFF"/>
              </a:gs>
            </a:gsLst>
            <a:path path="rect">
              <a:fillToRect l="100000" t="100000"/>
            </a:path>
          </a:gra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19" name="矩形​​ 10">
            <a:extLst>
              <a:ext uri="{FF2B5EF4-FFF2-40B4-BE49-F238E27FC236}">
                <a16:creationId xmlns:a16="http://schemas.microsoft.com/office/drawing/2014/main" id="{541DD504-0D9B-4C81-83EA-71CADAEB3CA1}"/>
              </a:ext>
            </a:extLst>
          </p:cNvPr>
          <p:cNvSpPr>
            <a:spLocks noChangeArrowheads="1"/>
          </p:cNvSpPr>
          <p:nvPr/>
        </p:nvSpPr>
        <p:spPr bwMode="auto">
          <a:xfrm>
            <a:off x="3790950" y="2808498"/>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0" name="矩形​​ 11">
            <a:extLst>
              <a:ext uri="{FF2B5EF4-FFF2-40B4-BE49-F238E27FC236}">
                <a16:creationId xmlns:a16="http://schemas.microsoft.com/office/drawing/2014/main" id="{4B60AE5C-CCEF-4BB6-946A-5B3A81F67272}"/>
              </a:ext>
            </a:extLst>
          </p:cNvPr>
          <p:cNvSpPr>
            <a:spLocks noChangeArrowheads="1"/>
          </p:cNvSpPr>
          <p:nvPr/>
        </p:nvSpPr>
        <p:spPr bwMode="auto">
          <a:xfrm>
            <a:off x="3790950" y="3708251"/>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1" name="TextBox 132">
            <a:extLst>
              <a:ext uri="{FF2B5EF4-FFF2-40B4-BE49-F238E27FC236}">
                <a16:creationId xmlns:a16="http://schemas.microsoft.com/office/drawing/2014/main" id="{BACA0B10-7119-470A-B9EC-A12CAFD5CD4A}"/>
              </a:ext>
            </a:extLst>
          </p:cNvPr>
          <p:cNvSpPr>
            <a:spLocks noChangeArrowheads="1"/>
          </p:cNvSpPr>
          <p:nvPr/>
        </p:nvSpPr>
        <p:spPr bwMode="auto">
          <a:xfrm>
            <a:off x="4367213" y="1999232"/>
            <a:ext cx="4721369"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研究背景及国内外研究现状</a:t>
            </a:r>
          </a:p>
        </p:txBody>
      </p:sp>
      <p:sp>
        <p:nvSpPr>
          <p:cNvPr id="122" name="TextBox 133">
            <a:extLst>
              <a:ext uri="{FF2B5EF4-FFF2-40B4-BE49-F238E27FC236}">
                <a16:creationId xmlns:a16="http://schemas.microsoft.com/office/drawing/2014/main" id="{215A29CD-7CE1-43DA-A7E9-D185BA95AD4F}"/>
              </a:ext>
            </a:extLst>
          </p:cNvPr>
          <p:cNvSpPr>
            <a:spLocks noChangeArrowheads="1"/>
          </p:cNvSpPr>
          <p:nvPr/>
        </p:nvSpPr>
        <p:spPr bwMode="auto">
          <a:xfrm>
            <a:off x="4367213" y="2898191"/>
            <a:ext cx="5029711" cy="98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存储方案及时空索引设计</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a:p>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123" name="TextBox 134">
            <a:extLst>
              <a:ext uri="{FF2B5EF4-FFF2-40B4-BE49-F238E27FC236}">
                <a16:creationId xmlns:a16="http://schemas.microsoft.com/office/drawing/2014/main" id="{FF70EC35-0F45-4F4F-B119-A1FF75641ED2}"/>
              </a:ext>
            </a:extLst>
          </p:cNvPr>
          <p:cNvSpPr>
            <a:spLocks noChangeArrowheads="1"/>
          </p:cNvSpPr>
          <p:nvPr/>
        </p:nvSpPr>
        <p:spPr bwMode="auto">
          <a:xfrm>
            <a:off x="4367213" y="3797150"/>
            <a:ext cx="5012688"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时空查询算法设计</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124" name="组合 14">
            <a:extLst>
              <a:ext uri="{FF2B5EF4-FFF2-40B4-BE49-F238E27FC236}">
                <a16:creationId xmlns:a16="http://schemas.microsoft.com/office/drawing/2014/main" id="{4C14C88A-F445-40AE-97A7-4BB199081F01}"/>
              </a:ext>
            </a:extLst>
          </p:cNvPr>
          <p:cNvGrpSpPr>
            <a:grpSpLocks/>
          </p:cNvGrpSpPr>
          <p:nvPr/>
        </p:nvGrpSpPr>
        <p:grpSpPr bwMode="auto">
          <a:xfrm>
            <a:off x="2409825" y="1872232"/>
            <a:ext cx="842963" cy="795338"/>
            <a:chOff x="0" y="0"/>
            <a:chExt cx="730541" cy="773013"/>
          </a:xfrm>
        </p:grpSpPr>
        <p:sp>
          <p:nvSpPr>
            <p:cNvPr id="125" name="矩形​​ 3">
              <a:extLst>
                <a:ext uri="{FF2B5EF4-FFF2-40B4-BE49-F238E27FC236}">
                  <a16:creationId xmlns:a16="http://schemas.microsoft.com/office/drawing/2014/main" id="{2D95A302-C4EE-4A06-8610-1A7BF5FC68A2}"/>
                </a:ext>
              </a:extLst>
            </p:cNvPr>
            <p:cNvSpPr>
              <a:spLocks noChangeArrowheads="1"/>
            </p:cNvSpPr>
            <p:nvPr/>
          </p:nvSpPr>
          <p:spPr bwMode="auto">
            <a:xfrm>
              <a:off x="0" y="34650"/>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26" name="TextBox 17">
              <a:extLst>
                <a:ext uri="{FF2B5EF4-FFF2-40B4-BE49-F238E27FC236}">
                  <a16:creationId xmlns:a16="http://schemas.microsoft.com/office/drawing/2014/main" id="{253A7B79-CDCA-401A-86B5-6D27F64C435B}"/>
                </a:ext>
              </a:extLst>
            </p:cNvPr>
            <p:cNvSpPr>
              <a:spLocks noChangeArrowheads="1"/>
            </p:cNvSpPr>
            <p:nvPr/>
          </p:nvSpPr>
          <p:spPr bwMode="auto">
            <a:xfrm>
              <a:off x="150641"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1</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27" name="组合 16">
            <a:extLst>
              <a:ext uri="{FF2B5EF4-FFF2-40B4-BE49-F238E27FC236}">
                <a16:creationId xmlns:a16="http://schemas.microsoft.com/office/drawing/2014/main" id="{8C39F07B-23D1-4F47-B07B-D9CAD4217582}"/>
              </a:ext>
            </a:extLst>
          </p:cNvPr>
          <p:cNvGrpSpPr>
            <a:grpSpLocks/>
          </p:cNvGrpSpPr>
          <p:nvPr/>
        </p:nvGrpSpPr>
        <p:grpSpPr bwMode="auto">
          <a:xfrm>
            <a:off x="1308100" y="702754"/>
            <a:ext cx="3200400" cy="1065212"/>
            <a:chOff x="1435540" y="774700"/>
            <a:chExt cx="3679385" cy="1327150"/>
          </a:xfrm>
        </p:grpSpPr>
        <p:sp>
          <p:nvSpPr>
            <p:cNvPr id="128" name="标题 24">
              <a:extLst>
                <a:ext uri="{FF2B5EF4-FFF2-40B4-BE49-F238E27FC236}">
                  <a16:creationId xmlns:a16="http://schemas.microsoft.com/office/drawing/2014/main" id="{1111E0C1-A04C-4BB4-8B07-B12882080E19}"/>
                </a:ext>
              </a:extLst>
            </p:cNvPr>
            <p:cNvSpPr>
              <a:spLocks noChangeArrowheads="1"/>
            </p:cNvSpPr>
            <p:nvPr/>
          </p:nvSpPr>
          <p:spPr bwMode="auto">
            <a:xfrm>
              <a:off x="2230438" y="774700"/>
              <a:ext cx="288448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 录 </a:t>
              </a:r>
              <a:r>
                <a:rPr lang="en-US" alt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ONTENTS</a:t>
              </a:r>
              <a:endPar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标题 24">
              <a:extLst>
                <a:ext uri="{FF2B5EF4-FFF2-40B4-BE49-F238E27FC236}">
                  <a16:creationId xmlns:a16="http://schemas.microsoft.com/office/drawing/2014/main" id="{541B6201-AA1A-4929-BC86-8BA20E076ED1}"/>
                </a:ext>
              </a:extLst>
            </p:cNvPr>
            <p:cNvSpPr>
              <a:spLocks noChangeArrowheads="1"/>
            </p:cNvSpPr>
            <p:nvPr/>
          </p:nvSpPr>
          <p:spPr bwMode="auto">
            <a:xfrm>
              <a:off x="1435540" y="1102047"/>
              <a:ext cx="895351"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0" name="组合 23">
            <a:extLst>
              <a:ext uri="{FF2B5EF4-FFF2-40B4-BE49-F238E27FC236}">
                <a16:creationId xmlns:a16="http://schemas.microsoft.com/office/drawing/2014/main" id="{16F0A8BE-D773-4A4E-AA73-6A17059B4F74}"/>
              </a:ext>
            </a:extLst>
          </p:cNvPr>
          <p:cNvGrpSpPr>
            <a:grpSpLocks/>
          </p:cNvGrpSpPr>
          <p:nvPr/>
        </p:nvGrpSpPr>
        <p:grpSpPr bwMode="auto">
          <a:xfrm>
            <a:off x="2416175" y="5496644"/>
            <a:ext cx="823913" cy="738664"/>
            <a:chOff x="0" y="0"/>
            <a:chExt cx="713411" cy="717127"/>
          </a:xfrm>
        </p:grpSpPr>
        <p:sp>
          <p:nvSpPr>
            <p:cNvPr id="131" name="矩形​​ 8">
              <a:extLst>
                <a:ext uri="{FF2B5EF4-FFF2-40B4-BE49-F238E27FC236}">
                  <a16:creationId xmlns:a16="http://schemas.microsoft.com/office/drawing/2014/main" id="{2BB80197-32A8-4B32-83B6-A70BE7F29327}"/>
                </a:ext>
              </a:extLst>
            </p:cNvPr>
            <p:cNvSpPr>
              <a:spLocks noChangeArrowheads="1"/>
            </p:cNvSpPr>
            <p:nvPr/>
          </p:nvSpPr>
          <p:spPr bwMode="auto">
            <a:xfrm>
              <a:off x="0" y="22422"/>
              <a:ext cx="713411" cy="624479"/>
            </a:xfrm>
            <a:prstGeom prst="rect">
              <a:avLst/>
            </a:prstGeom>
            <a:solidFill>
              <a:srgbClr val="1B2153"/>
            </a:solidFill>
            <a:ln w="3175">
              <a:solidFill>
                <a:srgbClr val="BFBFBF"/>
              </a:solidFill>
              <a:bevel/>
              <a:headEnd/>
              <a:tailEnd/>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2" name="TextBox 21">
              <a:extLst>
                <a:ext uri="{FF2B5EF4-FFF2-40B4-BE49-F238E27FC236}">
                  <a16:creationId xmlns:a16="http://schemas.microsoft.com/office/drawing/2014/main" id="{B475BF6F-CAFA-4BCC-B40F-B46140BD7A38}"/>
                </a:ext>
              </a:extLst>
            </p:cNvPr>
            <p:cNvSpPr>
              <a:spLocks noChangeArrowheads="1"/>
            </p:cNvSpPr>
            <p:nvPr/>
          </p:nvSpPr>
          <p:spPr bwMode="auto">
            <a:xfrm>
              <a:off x="160536" y="0"/>
              <a:ext cx="419457" cy="717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5</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3" name="矩形​​ 12">
            <a:extLst>
              <a:ext uri="{FF2B5EF4-FFF2-40B4-BE49-F238E27FC236}">
                <a16:creationId xmlns:a16="http://schemas.microsoft.com/office/drawing/2014/main" id="{8B29A40B-4B7D-4AEB-967F-0B3662894783}"/>
              </a:ext>
            </a:extLst>
          </p:cNvPr>
          <p:cNvSpPr>
            <a:spLocks noChangeArrowheads="1"/>
          </p:cNvSpPr>
          <p:nvPr/>
        </p:nvSpPr>
        <p:spPr bwMode="auto">
          <a:xfrm>
            <a:off x="3806825" y="5507757"/>
            <a:ext cx="5953125" cy="693737"/>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4" name="TextBox 135">
            <a:extLst>
              <a:ext uri="{FF2B5EF4-FFF2-40B4-BE49-F238E27FC236}">
                <a16:creationId xmlns:a16="http://schemas.microsoft.com/office/drawing/2014/main" id="{D4CAC222-599C-4E36-935D-DB6EA487EDAA}"/>
              </a:ext>
            </a:extLst>
          </p:cNvPr>
          <p:cNvSpPr>
            <a:spLocks noChangeArrowheads="1"/>
          </p:cNvSpPr>
          <p:nvPr/>
        </p:nvSpPr>
        <p:spPr bwMode="auto">
          <a:xfrm>
            <a:off x="4367213" y="559506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总结与展望</a:t>
            </a:r>
          </a:p>
        </p:txBody>
      </p:sp>
      <p:grpSp>
        <p:nvGrpSpPr>
          <p:cNvPr id="135" name="组合 20">
            <a:extLst>
              <a:ext uri="{FF2B5EF4-FFF2-40B4-BE49-F238E27FC236}">
                <a16:creationId xmlns:a16="http://schemas.microsoft.com/office/drawing/2014/main" id="{D042E1E8-4C8B-452F-B592-0B2DCFD5D95E}"/>
              </a:ext>
            </a:extLst>
          </p:cNvPr>
          <p:cNvGrpSpPr>
            <a:grpSpLocks/>
          </p:cNvGrpSpPr>
          <p:nvPr/>
        </p:nvGrpSpPr>
        <p:grpSpPr bwMode="auto">
          <a:xfrm>
            <a:off x="2395081" y="4592524"/>
            <a:ext cx="842963" cy="784225"/>
            <a:chOff x="0" y="0"/>
            <a:chExt cx="730541" cy="760784"/>
          </a:xfrm>
        </p:grpSpPr>
        <p:sp>
          <p:nvSpPr>
            <p:cNvPr id="136" name="矩形​​ 3">
              <a:extLst>
                <a:ext uri="{FF2B5EF4-FFF2-40B4-BE49-F238E27FC236}">
                  <a16:creationId xmlns:a16="http://schemas.microsoft.com/office/drawing/2014/main" id="{14A5D130-D1A6-42BC-A83D-649C739B0870}"/>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37" name="TextBox 123">
              <a:extLst>
                <a:ext uri="{FF2B5EF4-FFF2-40B4-BE49-F238E27FC236}">
                  <a16:creationId xmlns:a16="http://schemas.microsoft.com/office/drawing/2014/main" id="{C89DE082-B059-4C9D-9638-977F4659934D}"/>
                </a:ext>
              </a:extLst>
            </p:cNvPr>
            <p:cNvSpPr>
              <a:spLocks noChangeArrowheads="1"/>
            </p:cNvSpPr>
            <p:nvPr/>
          </p:nvSpPr>
          <p:spPr bwMode="auto">
            <a:xfrm>
              <a:off x="153486" y="0"/>
              <a:ext cx="419822" cy="71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4</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8" name="矩形​​ 11">
            <a:extLst>
              <a:ext uri="{FF2B5EF4-FFF2-40B4-BE49-F238E27FC236}">
                <a16:creationId xmlns:a16="http://schemas.microsoft.com/office/drawing/2014/main" id="{051C4B68-44D7-4186-9B4C-88B7FFBFE789}"/>
              </a:ext>
            </a:extLst>
          </p:cNvPr>
          <p:cNvSpPr>
            <a:spLocks noChangeArrowheads="1"/>
          </p:cNvSpPr>
          <p:nvPr/>
        </p:nvSpPr>
        <p:spPr bwMode="auto">
          <a:xfrm>
            <a:off x="3776206" y="4608004"/>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9" name="TextBox 134">
            <a:extLst>
              <a:ext uri="{FF2B5EF4-FFF2-40B4-BE49-F238E27FC236}">
                <a16:creationId xmlns:a16="http://schemas.microsoft.com/office/drawing/2014/main" id="{7C5E5D53-5A79-4133-B848-73BC83876351}"/>
              </a:ext>
            </a:extLst>
          </p:cNvPr>
          <p:cNvSpPr>
            <a:spLocks noChangeArrowheads="1"/>
          </p:cNvSpPr>
          <p:nvPr/>
        </p:nvSpPr>
        <p:spPr bwMode="auto">
          <a:xfrm>
            <a:off x="4352469" y="469610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实验结果与分析</a:t>
            </a:r>
          </a:p>
        </p:txBody>
      </p:sp>
      <p:sp>
        <p:nvSpPr>
          <p:cNvPr id="140" name="平行四边形 12">
            <a:extLst>
              <a:ext uri="{FF2B5EF4-FFF2-40B4-BE49-F238E27FC236}">
                <a16:creationId xmlns:a16="http://schemas.microsoft.com/office/drawing/2014/main" id="{F79BBCDD-C7A2-4972-A742-D0B74AEB869C}"/>
              </a:ext>
            </a:extLst>
          </p:cNvPr>
          <p:cNvSpPr>
            <a:spLocks noChangeArrowheads="1"/>
          </p:cNvSpPr>
          <p:nvPr/>
        </p:nvSpPr>
        <p:spPr bwMode="auto">
          <a:xfrm>
            <a:off x="1368425" y="384175"/>
            <a:ext cx="1108075" cy="165100"/>
          </a:xfrm>
          <a:prstGeom prst="parallelogram">
            <a:avLst>
              <a:gd name="adj" fmla="val 24889"/>
            </a:avLst>
          </a:prstGeom>
          <a:solidFill>
            <a:srgbClr val="92D050"/>
          </a:soli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sp>
        <p:nvSpPr>
          <p:cNvPr id="141" name="平行四边形 13">
            <a:extLst>
              <a:ext uri="{FF2B5EF4-FFF2-40B4-BE49-F238E27FC236}">
                <a16:creationId xmlns:a16="http://schemas.microsoft.com/office/drawing/2014/main" id="{816B0470-7DBE-4B95-9EA3-EFC76E994079}"/>
              </a:ext>
            </a:extLst>
          </p:cNvPr>
          <p:cNvSpPr>
            <a:spLocks noChangeArrowheads="1"/>
          </p:cNvSpPr>
          <p:nvPr/>
        </p:nvSpPr>
        <p:spPr bwMode="auto">
          <a:xfrm>
            <a:off x="239713"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nvGrpSpPr>
          <p:cNvPr id="142" name="组合 13">
            <a:extLst>
              <a:ext uri="{FF2B5EF4-FFF2-40B4-BE49-F238E27FC236}">
                <a16:creationId xmlns:a16="http://schemas.microsoft.com/office/drawing/2014/main" id="{1C951E32-616E-46F4-86AC-EC7F16BC7996}"/>
              </a:ext>
            </a:extLst>
          </p:cNvPr>
          <p:cNvGrpSpPr>
            <a:grpSpLocks/>
          </p:cNvGrpSpPr>
          <p:nvPr/>
        </p:nvGrpSpPr>
        <p:grpSpPr bwMode="auto">
          <a:xfrm>
            <a:off x="4763" y="6542088"/>
            <a:ext cx="12192000" cy="320675"/>
            <a:chOff x="4763" y="6500813"/>
            <a:chExt cx="12192000" cy="357187"/>
          </a:xfrm>
        </p:grpSpPr>
        <p:sp>
          <p:nvSpPr>
            <p:cNvPr id="143" name="任意多边形 11">
              <a:extLst>
                <a:ext uri="{FF2B5EF4-FFF2-40B4-BE49-F238E27FC236}">
                  <a16:creationId xmlns:a16="http://schemas.microsoft.com/office/drawing/2014/main" id="{02779C6C-01F3-46E9-AC75-22A362922613}"/>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144" name="平行四边形 13">
              <a:extLst>
                <a:ext uri="{FF2B5EF4-FFF2-40B4-BE49-F238E27FC236}">
                  <a16:creationId xmlns:a16="http://schemas.microsoft.com/office/drawing/2014/main" id="{69CCC94A-4E16-43C7-B464-CBC1366807CD}"/>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874903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64159"/>
        </a:solidFill>
        <a:effectLst/>
      </p:bgPr>
    </p:bg>
    <p:spTree>
      <p:nvGrpSpPr>
        <p:cNvPr id="1" name=""/>
        <p:cNvGrpSpPr/>
        <p:nvPr/>
      </p:nvGrpSpPr>
      <p:grpSpPr>
        <a:xfrm>
          <a:off x="0" y="0"/>
          <a:ext cx="0" cy="0"/>
          <a:chOff x="0" y="0"/>
          <a:chExt cx="0" cy="0"/>
        </a:xfrm>
      </p:grpSpPr>
      <p:grpSp>
        <p:nvGrpSpPr>
          <p:cNvPr id="112" name="组合 17">
            <a:extLst>
              <a:ext uri="{FF2B5EF4-FFF2-40B4-BE49-F238E27FC236}">
                <a16:creationId xmlns:a16="http://schemas.microsoft.com/office/drawing/2014/main" id="{38D18476-863B-4DF7-ADF0-1F89E5C38871}"/>
              </a:ext>
            </a:extLst>
          </p:cNvPr>
          <p:cNvGrpSpPr>
            <a:grpSpLocks/>
          </p:cNvGrpSpPr>
          <p:nvPr/>
        </p:nvGrpSpPr>
        <p:grpSpPr bwMode="auto">
          <a:xfrm>
            <a:off x="2409825" y="2787463"/>
            <a:ext cx="842963" cy="781050"/>
            <a:chOff x="0" y="0"/>
            <a:chExt cx="730541" cy="759532"/>
          </a:xfrm>
        </p:grpSpPr>
        <p:sp>
          <p:nvSpPr>
            <p:cNvPr id="113" name="矩形​​ 3">
              <a:extLst>
                <a:ext uri="{FF2B5EF4-FFF2-40B4-BE49-F238E27FC236}">
                  <a16:creationId xmlns:a16="http://schemas.microsoft.com/office/drawing/2014/main" id="{1DC09535-BFD4-4E4A-9E49-295B5C1CE383}"/>
                </a:ext>
              </a:extLst>
            </p:cNvPr>
            <p:cNvSpPr>
              <a:spLocks noChangeArrowheads="1"/>
            </p:cNvSpPr>
            <p:nvPr/>
          </p:nvSpPr>
          <p:spPr bwMode="auto">
            <a:xfrm>
              <a:off x="0" y="22421"/>
              <a:ext cx="730541" cy="737111"/>
            </a:xfrm>
            <a:custGeom>
              <a:avLst/>
              <a:gdLst>
                <a:gd name="T0" fmla="*/ 0 w 1152128"/>
                <a:gd name="T1" fmla="*/ 0 h 936104"/>
                <a:gd name="T2" fmla="*/ 499 w 1152128"/>
                <a:gd name="T3" fmla="*/ 0 h 936104"/>
                <a:gd name="T4" fmla="*/ 499 w 1152128"/>
                <a:gd name="T5" fmla="*/ 13625 h 936104"/>
                <a:gd name="T6" fmla="*/ 311 w 1152128"/>
                <a:gd name="T7" fmla="*/ 13625 h 936104"/>
                <a:gd name="T8" fmla="*/ 249 w 1152128"/>
                <a:gd name="T9" fmla="*/ 16101 h 936104"/>
                <a:gd name="T10" fmla="*/ 187 w 1152128"/>
                <a:gd name="T11" fmla="*/ 13625 h 936104"/>
                <a:gd name="T12" fmla="*/ 0 w 1152128"/>
                <a:gd name="T13" fmla="*/ 13625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4" name="TextBox 120">
              <a:extLst>
                <a:ext uri="{FF2B5EF4-FFF2-40B4-BE49-F238E27FC236}">
                  <a16:creationId xmlns:a16="http://schemas.microsoft.com/office/drawing/2014/main" id="{17557EB4-4F91-417A-A5E0-349DE5F2FDE1}"/>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2</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15" name="组合 20">
            <a:extLst>
              <a:ext uri="{FF2B5EF4-FFF2-40B4-BE49-F238E27FC236}">
                <a16:creationId xmlns:a16="http://schemas.microsoft.com/office/drawing/2014/main" id="{82157FCB-4D2D-4C27-995F-E8883F06F80B}"/>
              </a:ext>
            </a:extLst>
          </p:cNvPr>
          <p:cNvGrpSpPr>
            <a:grpSpLocks/>
          </p:cNvGrpSpPr>
          <p:nvPr/>
        </p:nvGrpSpPr>
        <p:grpSpPr bwMode="auto">
          <a:xfrm>
            <a:off x="2409825" y="3688406"/>
            <a:ext cx="842963" cy="784225"/>
            <a:chOff x="0" y="0"/>
            <a:chExt cx="730541" cy="760784"/>
          </a:xfrm>
        </p:grpSpPr>
        <p:sp>
          <p:nvSpPr>
            <p:cNvPr id="116" name="矩形​​ 3">
              <a:extLst>
                <a:ext uri="{FF2B5EF4-FFF2-40B4-BE49-F238E27FC236}">
                  <a16:creationId xmlns:a16="http://schemas.microsoft.com/office/drawing/2014/main" id="{CC1D141D-87B8-45CC-8B6E-AA69F97034D9}"/>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7" name="TextBox 123">
              <a:extLst>
                <a:ext uri="{FF2B5EF4-FFF2-40B4-BE49-F238E27FC236}">
                  <a16:creationId xmlns:a16="http://schemas.microsoft.com/office/drawing/2014/main" id="{8459AE70-419C-4FD9-9D7A-2A497EEBF7F9}"/>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3</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18" name="矩形​​ 9">
            <a:extLst>
              <a:ext uri="{FF2B5EF4-FFF2-40B4-BE49-F238E27FC236}">
                <a16:creationId xmlns:a16="http://schemas.microsoft.com/office/drawing/2014/main" id="{E16838FE-33C9-4C35-8C5E-A3C18AE50E01}"/>
              </a:ext>
            </a:extLst>
          </p:cNvPr>
          <p:cNvSpPr>
            <a:spLocks noChangeArrowheads="1"/>
          </p:cNvSpPr>
          <p:nvPr/>
        </p:nvSpPr>
        <p:spPr bwMode="auto">
          <a:xfrm>
            <a:off x="3790950" y="1910332"/>
            <a:ext cx="5953125" cy="693738"/>
          </a:xfrm>
          <a:prstGeom prst="rect">
            <a:avLst/>
          </a:prstGeom>
          <a:gradFill rotWithShape="1">
            <a:gsLst>
              <a:gs pos="0">
                <a:schemeClr val="bg1"/>
              </a:gs>
              <a:gs pos="50000">
                <a:srgbClr val="D4D4D4"/>
              </a:gs>
              <a:gs pos="100000">
                <a:srgbClr val="FFFFFF"/>
              </a:gs>
            </a:gsLst>
            <a:path path="rect">
              <a:fillToRect l="100000" t="100000"/>
            </a:path>
          </a:gra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19" name="矩形​​ 10">
            <a:extLst>
              <a:ext uri="{FF2B5EF4-FFF2-40B4-BE49-F238E27FC236}">
                <a16:creationId xmlns:a16="http://schemas.microsoft.com/office/drawing/2014/main" id="{541DD504-0D9B-4C81-83EA-71CADAEB3CA1}"/>
              </a:ext>
            </a:extLst>
          </p:cNvPr>
          <p:cNvSpPr>
            <a:spLocks noChangeArrowheads="1"/>
          </p:cNvSpPr>
          <p:nvPr/>
        </p:nvSpPr>
        <p:spPr bwMode="auto">
          <a:xfrm>
            <a:off x="3790950" y="2808498"/>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0" name="矩形​​ 11">
            <a:extLst>
              <a:ext uri="{FF2B5EF4-FFF2-40B4-BE49-F238E27FC236}">
                <a16:creationId xmlns:a16="http://schemas.microsoft.com/office/drawing/2014/main" id="{4B60AE5C-CCEF-4BB6-946A-5B3A81F67272}"/>
              </a:ext>
            </a:extLst>
          </p:cNvPr>
          <p:cNvSpPr>
            <a:spLocks noChangeArrowheads="1"/>
          </p:cNvSpPr>
          <p:nvPr/>
        </p:nvSpPr>
        <p:spPr bwMode="auto">
          <a:xfrm>
            <a:off x="3790950" y="3708251"/>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1" name="TextBox 132">
            <a:extLst>
              <a:ext uri="{FF2B5EF4-FFF2-40B4-BE49-F238E27FC236}">
                <a16:creationId xmlns:a16="http://schemas.microsoft.com/office/drawing/2014/main" id="{BACA0B10-7119-470A-B9EC-A12CAFD5CD4A}"/>
              </a:ext>
            </a:extLst>
          </p:cNvPr>
          <p:cNvSpPr>
            <a:spLocks noChangeArrowheads="1"/>
          </p:cNvSpPr>
          <p:nvPr/>
        </p:nvSpPr>
        <p:spPr bwMode="auto">
          <a:xfrm>
            <a:off x="4367213" y="1999232"/>
            <a:ext cx="4721369"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rgbClr val="92D050"/>
                </a:solidFill>
                <a:latin typeface="微软雅黑" panose="020B0503020204020204" pitchFamily="34" charset="-122"/>
                <a:ea typeface="微软雅黑" panose="020B0503020204020204" pitchFamily="34" charset="-122"/>
                <a:sym typeface="微软雅黑" panose="020B0503020204020204" pitchFamily="34" charset="-122"/>
              </a:rPr>
              <a:t>研究背景及国内外研究现状</a:t>
            </a:r>
          </a:p>
        </p:txBody>
      </p:sp>
      <p:sp>
        <p:nvSpPr>
          <p:cNvPr id="122" name="TextBox 133">
            <a:extLst>
              <a:ext uri="{FF2B5EF4-FFF2-40B4-BE49-F238E27FC236}">
                <a16:creationId xmlns:a16="http://schemas.microsoft.com/office/drawing/2014/main" id="{215A29CD-7CE1-43DA-A7E9-D185BA95AD4F}"/>
              </a:ext>
            </a:extLst>
          </p:cNvPr>
          <p:cNvSpPr>
            <a:spLocks noChangeArrowheads="1"/>
          </p:cNvSpPr>
          <p:nvPr/>
        </p:nvSpPr>
        <p:spPr bwMode="auto">
          <a:xfrm>
            <a:off x="4367213" y="2898191"/>
            <a:ext cx="5029711"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存储方案及时空索引设计</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123" name="TextBox 134">
            <a:extLst>
              <a:ext uri="{FF2B5EF4-FFF2-40B4-BE49-F238E27FC236}">
                <a16:creationId xmlns:a16="http://schemas.microsoft.com/office/drawing/2014/main" id="{FF70EC35-0F45-4F4F-B119-A1FF75641ED2}"/>
              </a:ext>
            </a:extLst>
          </p:cNvPr>
          <p:cNvSpPr>
            <a:spLocks noChangeArrowheads="1"/>
          </p:cNvSpPr>
          <p:nvPr/>
        </p:nvSpPr>
        <p:spPr bwMode="auto">
          <a:xfrm>
            <a:off x="4367213" y="3797150"/>
            <a:ext cx="5012688"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时空查询算法设计</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124" name="组合 14">
            <a:extLst>
              <a:ext uri="{FF2B5EF4-FFF2-40B4-BE49-F238E27FC236}">
                <a16:creationId xmlns:a16="http://schemas.microsoft.com/office/drawing/2014/main" id="{4C14C88A-F445-40AE-97A7-4BB199081F01}"/>
              </a:ext>
            </a:extLst>
          </p:cNvPr>
          <p:cNvGrpSpPr>
            <a:grpSpLocks/>
          </p:cNvGrpSpPr>
          <p:nvPr/>
        </p:nvGrpSpPr>
        <p:grpSpPr bwMode="auto">
          <a:xfrm>
            <a:off x="2409825" y="1872232"/>
            <a:ext cx="842963" cy="795338"/>
            <a:chOff x="0" y="0"/>
            <a:chExt cx="730541" cy="773013"/>
          </a:xfrm>
        </p:grpSpPr>
        <p:sp>
          <p:nvSpPr>
            <p:cNvPr id="125" name="矩形​​ 3">
              <a:extLst>
                <a:ext uri="{FF2B5EF4-FFF2-40B4-BE49-F238E27FC236}">
                  <a16:creationId xmlns:a16="http://schemas.microsoft.com/office/drawing/2014/main" id="{2D95A302-C4EE-4A06-8610-1A7BF5FC68A2}"/>
                </a:ext>
              </a:extLst>
            </p:cNvPr>
            <p:cNvSpPr>
              <a:spLocks noChangeArrowheads="1"/>
            </p:cNvSpPr>
            <p:nvPr/>
          </p:nvSpPr>
          <p:spPr bwMode="auto">
            <a:xfrm>
              <a:off x="0" y="34650"/>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26" name="TextBox 17">
              <a:extLst>
                <a:ext uri="{FF2B5EF4-FFF2-40B4-BE49-F238E27FC236}">
                  <a16:creationId xmlns:a16="http://schemas.microsoft.com/office/drawing/2014/main" id="{253A7B79-CDCA-401A-86B5-6D27F64C435B}"/>
                </a:ext>
              </a:extLst>
            </p:cNvPr>
            <p:cNvSpPr>
              <a:spLocks noChangeArrowheads="1"/>
            </p:cNvSpPr>
            <p:nvPr/>
          </p:nvSpPr>
          <p:spPr bwMode="auto">
            <a:xfrm>
              <a:off x="150641"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1</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27" name="组合 16">
            <a:extLst>
              <a:ext uri="{FF2B5EF4-FFF2-40B4-BE49-F238E27FC236}">
                <a16:creationId xmlns:a16="http://schemas.microsoft.com/office/drawing/2014/main" id="{8C39F07B-23D1-4F47-B07B-D9CAD4217582}"/>
              </a:ext>
            </a:extLst>
          </p:cNvPr>
          <p:cNvGrpSpPr>
            <a:grpSpLocks/>
          </p:cNvGrpSpPr>
          <p:nvPr/>
        </p:nvGrpSpPr>
        <p:grpSpPr bwMode="auto">
          <a:xfrm>
            <a:off x="1308100" y="702754"/>
            <a:ext cx="3200400" cy="1065212"/>
            <a:chOff x="1435540" y="774700"/>
            <a:chExt cx="3679385" cy="1327150"/>
          </a:xfrm>
        </p:grpSpPr>
        <p:sp>
          <p:nvSpPr>
            <p:cNvPr id="128" name="标题 24">
              <a:extLst>
                <a:ext uri="{FF2B5EF4-FFF2-40B4-BE49-F238E27FC236}">
                  <a16:creationId xmlns:a16="http://schemas.microsoft.com/office/drawing/2014/main" id="{1111E0C1-A04C-4BB4-8B07-B12882080E19}"/>
                </a:ext>
              </a:extLst>
            </p:cNvPr>
            <p:cNvSpPr>
              <a:spLocks noChangeArrowheads="1"/>
            </p:cNvSpPr>
            <p:nvPr/>
          </p:nvSpPr>
          <p:spPr bwMode="auto">
            <a:xfrm>
              <a:off x="2230438" y="774700"/>
              <a:ext cx="288448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 录 </a:t>
              </a:r>
              <a:r>
                <a:rPr lang="en-US" alt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ONTENTS</a:t>
              </a:r>
              <a:endPar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标题 24">
              <a:extLst>
                <a:ext uri="{FF2B5EF4-FFF2-40B4-BE49-F238E27FC236}">
                  <a16:creationId xmlns:a16="http://schemas.microsoft.com/office/drawing/2014/main" id="{541B6201-AA1A-4929-BC86-8BA20E076ED1}"/>
                </a:ext>
              </a:extLst>
            </p:cNvPr>
            <p:cNvSpPr>
              <a:spLocks noChangeArrowheads="1"/>
            </p:cNvSpPr>
            <p:nvPr/>
          </p:nvSpPr>
          <p:spPr bwMode="auto">
            <a:xfrm>
              <a:off x="1435540" y="1102047"/>
              <a:ext cx="895351"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0" name="组合 23">
            <a:extLst>
              <a:ext uri="{FF2B5EF4-FFF2-40B4-BE49-F238E27FC236}">
                <a16:creationId xmlns:a16="http://schemas.microsoft.com/office/drawing/2014/main" id="{16F0A8BE-D773-4A4E-AA73-6A17059B4F74}"/>
              </a:ext>
            </a:extLst>
          </p:cNvPr>
          <p:cNvGrpSpPr>
            <a:grpSpLocks/>
          </p:cNvGrpSpPr>
          <p:nvPr/>
        </p:nvGrpSpPr>
        <p:grpSpPr bwMode="auto">
          <a:xfrm>
            <a:off x="2416175" y="5496644"/>
            <a:ext cx="823913" cy="738664"/>
            <a:chOff x="0" y="0"/>
            <a:chExt cx="713411" cy="717127"/>
          </a:xfrm>
        </p:grpSpPr>
        <p:sp>
          <p:nvSpPr>
            <p:cNvPr id="131" name="矩形​​ 8">
              <a:extLst>
                <a:ext uri="{FF2B5EF4-FFF2-40B4-BE49-F238E27FC236}">
                  <a16:creationId xmlns:a16="http://schemas.microsoft.com/office/drawing/2014/main" id="{2BB80197-32A8-4B32-83B6-A70BE7F29327}"/>
                </a:ext>
              </a:extLst>
            </p:cNvPr>
            <p:cNvSpPr>
              <a:spLocks noChangeArrowheads="1"/>
            </p:cNvSpPr>
            <p:nvPr/>
          </p:nvSpPr>
          <p:spPr bwMode="auto">
            <a:xfrm>
              <a:off x="0" y="22422"/>
              <a:ext cx="713411" cy="624479"/>
            </a:xfrm>
            <a:prstGeom prst="rect">
              <a:avLst/>
            </a:prstGeom>
            <a:solidFill>
              <a:srgbClr val="1B2153"/>
            </a:solidFill>
            <a:ln w="3175">
              <a:solidFill>
                <a:srgbClr val="BFBFBF"/>
              </a:solidFill>
              <a:bevel/>
              <a:headEnd/>
              <a:tailEnd/>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2" name="TextBox 21">
              <a:extLst>
                <a:ext uri="{FF2B5EF4-FFF2-40B4-BE49-F238E27FC236}">
                  <a16:creationId xmlns:a16="http://schemas.microsoft.com/office/drawing/2014/main" id="{B475BF6F-CAFA-4BCC-B40F-B46140BD7A38}"/>
                </a:ext>
              </a:extLst>
            </p:cNvPr>
            <p:cNvSpPr>
              <a:spLocks noChangeArrowheads="1"/>
            </p:cNvSpPr>
            <p:nvPr/>
          </p:nvSpPr>
          <p:spPr bwMode="auto">
            <a:xfrm>
              <a:off x="160536" y="0"/>
              <a:ext cx="419457" cy="717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5</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3" name="矩形​​ 12">
            <a:extLst>
              <a:ext uri="{FF2B5EF4-FFF2-40B4-BE49-F238E27FC236}">
                <a16:creationId xmlns:a16="http://schemas.microsoft.com/office/drawing/2014/main" id="{8B29A40B-4B7D-4AEB-967F-0B3662894783}"/>
              </a:ext>
            </a:extLst>
          </p:cNvPr>
          <p:cNvSpPr>
            <a:spLocks noChangeArrowheads="1"/>
          </p:cNvSpPr>
          <p:nvPr/>
        </p:nvSpPr>
        <p:spPr bwMode="auto">
          <a:xfrm>
            <a:off x="3806825" y="5507757"/>
            <a:ext cx="5953125" cy="693737"/>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4" name="TextBox 135">
            <a:extLst>
              <a:ext uri="{FF2B5EF4-FFF2-40B4-BE49-F238E27FC236}">
                <a16:creationId xmlns:a16="http://schemas.microsoft.com/office/drawing/2014/main" id="{D4CAC222-599C-4E36-935D-DB6EA487EDAA}"/>
              </a:ext>
            </a:extLst>
          </p:cNvPr>
          <p:cNvSpPr>
            <a:spLocks noChangeArrowheads="1"/>
          </p:cNvSpPr>
          <p:nvPr/>
        </p:nvSpPr>
        <p:spPr bwMode="auto">
          <a:xfrm>
            <a:off x="4367213" y="559506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总结与展望</a:t>
            </a:r>
          </a:p>
        </p:txBody>
      </p:sp>
      <p:grpSp>
        <p:nvGrpSpPr>
          <p:cNvPr id="135" name="组合 20">
            <a:extLst>
              <a:ext uri="{FF2B5EF4-FFF2-40B4-BE49-F238E27FC236}">
                <a16:creationId xmlns:a16="http://schemas.microsoft.com/office/drawing/2014/main" id="{D042E1E8-4C8B-452F-B592-0B2DCFD5D95E}"/>
              </a:ext>
            </a:extLst>
          </p:cNvPr>
          <p:cNvGrpSpPr>
            <a:grpSpLocks/>
          </p:cNvGrpSpPr>
          <p:nvPr/>
        </p:nvGrpSpPr>
        <p:grpSpPr bwMode="auto">
          <a:xfrm>
            <a:off x="2395081" y="4592524"/>
            <a:ext cx="842963" cy="784225"/>
            <a:chOff x="0" y="0"/>
            <a:chExt cx="730541" cy="760784"/>
          </a:xfrm>
        </p:grpSpPr>
        <p:sp>
          <p:nvSpPr>
            <p:cNvPr id="136" name="矩形​​ 3">
              <a:extLst>
                <a:ext uri="{FF2B5EF4-FFF2-40B4-BE49-F238E27FC236}">
                  <a16:creationId xmlns:a16="http://schemas.microsoft.com/office/drawing/2014/main" id="{14A5D130-D1A6-42BC-A83D-649C739B0870}"/>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37" name="TextBox 123">
              <a:extLst>
                <a:ext uri="{FF2B5EF4-FFF2-40B4-BE49-F238E27FC236}">
                  <a16:creationId xmlns:a16="http://schemas.microsoft.com/office/drawing/2014/main" id="{C89DE082-B059-4C9D-9638-977F4659934D}"/>
                </a:ext>
              </a:extLst>
            </p:cNvPr>
            <p:cNvSpPr>
              <a:spLocks noChangeArrowheads="1"/>
            </p:cNvSpPr>
            <p:nvPr/>
          </p:nvSpPr>
          <p:spPr bwMode="auto">
            <a:xfrm>
              <a:off x="153486" y="0"/>
              <a:ext cx="419822" cy="71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4</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8" name="矩形​​ 11">
            <a:extLst>
              <a:ext uri="{FF2B5EF4-FFF2-40B4-BE49-F238E27FC236}">
                <a16:creationId xmlns:a16="http://schemas.microsoft.com/office/drawing/2014/main" id="{051C4B68-44D7-4186-9B4C-88B7FFBFE789}"/>
              </a:ext>
            </a:extLst>
          </p:cNvPr>
          <p:cNvSpPr>
            <a:spLocks noChangeArrowheads="1"/>
          </p:cNvSpPr>
          <p:nvPr/>
        </p:nvSpPr>
        <p:spPr bwMode="auto">
          <a:xfrm>
            <a:off x="3776206" y="4608004"/>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9" name="TextBox 134">
            <a:extLst>
              <a:ext uri="{FF2B5EF4-FFF2-40B4-BE49-F238E27FC236}">
                <a16:creationId xmlns:a16="http://schemas.microsoft.com/office/drawing/2014/main" id="{7C5E5D53-5A79-4133-B848-73BC83876351}"/>
              </a:ext>
            </a:extLst>
          </p:cNvPr>
          <p:cNvSpPr>
            <a:spLocks noChangeArrowheads="1"/>
          </p:cNvSpPr>
          <p:nvPr/>
        </p:nvSpPr>
        <p:spPr bwMode="auto">
          <a:xfrm>
            <a:off x="4352469" y="469610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实验结果与分析</a:t>
            </a:r>
          </a:p>
        </p:txBody>
      </p:sp>
      <p:sp>
        <p:nvSpPr>
          <p:cNvPr id="140" name="平行四边形 12">
            <a:extLst>
              <a:ext uri="{FF2B5EF4-FFF2-40B4-BE49-F238E27FC236}">
                <a16:creationId xmlns:a16="http://schemas.microsoft.com/office/drawing/2014/main" id="{F79BBCDD-C7A2-4972-A742-D0B74AEB869C}"/>
              </a:ext>
            </a:extLst>
          </p:cNvPr>
          <p:cNvSpPr>
            <a:spLocks noChangeArrowheads="1"/>
          </p:cNvSpPr>
          <p:nvPr/>
        </p:nvSpPr>
        <p:spPr bwMode="auto">
          <a:xfrm>
            <a:off x="1368425" y="384175"/>
            <a:ext cx="1108075" cy="165100"/>
          </a:xfrm>
          <a:prstGeom prst="parallelogram">
            <a:avLst>
              <a:gd name="adj" fmla="val 24889"/>
            </a:avLst>
          </a:prstGeom>
          <a:solidFill>
            <a:srgbClr val="92D050"/>
          </a:soli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sp>
        <p:nvSpPr>
          <p:cNvPr id="141" name="平行四边形 13">
            <a:extLst>
              <a:ext uri="{FF2B5EF4-FFF2-40B4-BE49-F238E27FC236}">
                <a16:creationId xmlns:a16="http://schemas.microsoft.com/office/drawing/2014/main" id="{816B0470-7DBE-4B95-9EA3-EFC76E994079}"/>
              </a:ext>
            </a:extLst>
          </p:cNvPr>
          <p:cNvSpPr>
            <a:spLocks noChangeArrowheads="1"/>
          </p:cNvSpPr>
          <p:nvPr/>
        </p:nvSpPr>
        <p:spPr bwMode="auto">
          <a:xfrm>
            <a:off x="239713"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nvGrpSpPr>
          <p:cNvPr id="142" name="组合 13">
            <a:extLst>
              <a:ext uri="{FF2B5EF4-FFF2-40B4-BE49-F238E27FC236}">
                <a16:creationId xmlns:a16="http://schemas.microsoft.com/office/drawing/2014/main" id="{1C951E32-616E-46F4-86AC-EC7F16BC7996}"/>
              </a:ext>
            </a:extLst>
          </p:cNvPr>
          <p:cNvGrpSpPr>
            <a:grpSpLocks/>
          </p:cNvGrpSpPr>
          <p:nvPr/>
        </p:nvGrpSpPr>
        <p:grpSpPr bwMode="auto">
          <a:xfrm>
            <a:off x="4763" y="6542088"/>
            <a:ext cx="12192000" cy="320675"/>
            <a:chOff x="4763" y="6500813"/>
            <a:chExt cx="12192000" cy="357187"/>
          </a:xfrm>
        </p:grpSpPr>
        <p:sp>
          <p:nvSpPr>
            <p:cNvPr id="143" name="任意多边形 11">
              <a:extLst>
                <a:ext uri="{FF2B5EF4-FFF2-40B4-BE49-F238E27FC236}">
                  <a16:creationId xmlns:a16="http://schemas.microsoft.com/office/drawing/2014/main" id="{02779C6C-01F3-46E9-AC75-22A362922613}"/>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144" name="平行四边形 13">
              <a:extLst>
                <a:ext uri="{FF2B5EF4-FFF2-40B4-BE49-F238E27FC236}">
                  <a16:creationId xmlns:a16="http://schemas.microsoft.com/office/drawing/2014/main" id="{69CCC94A-4E16-43C7-B464-CBC1366807CD}"/>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2034476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1 </a:t>
                </a:r>
                <a:r>
                  <a:rPr lang="zh-CN" altLang="en-US" sz="2400" b="1" dirty="0">
                    <a:latin typeface="微软雅黑" panose="020B0503020204020204" pitchFamily="34" charset="-122"/>
                    <a:ea typeface="微软雅黑" panose="020B0503020204020204" pitchFamily="34" charset="-122"/>
                  </a:rPr>
                  <a:t>研究背景及国内外研究现状</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pic>
        <p:nvPicPr>
          <p:cNvPr id="11" name="Picture 2" descr="âå¨çå«æå¯¼èªå®ä½ç³»ç»âçå¾çæç´¢ç»æ">
            <a:extLst>
              <a:ext uri="{FF2B5EF4-FFF2-40B4-BE49-F238E27FC236}">
                <a16:creationId xmlns:a16="http://schemas.microsoft.com/office/drawing/2014/main" id="{432A3030-46B0-4632-A0A2-ED00DF158D0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3024"/>
          <a:stretch/>
        </p:blipFill>
        <p:spPr bwMode="auto">
          <a:xfrm>
            <a:off x="1055634" y="1284749"/>
            <a:ext cx="3319844" cy="210973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
            <a:extLst>
              <a:ext uri="{FF2B5EF4-FFF2-40B4-BE49-F238E27FC236}">
                <a16:creationId xmlns:a16="http://schemas.microsoft.com/office/drawing/2014/main" id="{E8CFBB7F-9EEA-4720-ACE5-B8284F9F3098}"/>
              </a:ext>
            </a:extLst>
          </p:cNvPr>
          <p:cNvSpPr>
            <a:spLocks noChangeArrowheads="1"/>
          </p:cNvSpPr>
          <p:nvPr/>
        </p:nvSpPr>
        <p:spPr bwMode="auto">
          <a:xfrm>
            <a:off x="976527" y="3889294"/>
            <a:ext cx="10792187" cy="1884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     随着立体对地观测网、移动互联网、泛在物联网</a:t>
            </a:r>
            <a:r>
              <a:rPr kumimoji="0" lang="zh-CN" altLang="en-US" sz="2000" b="1" i="0" u="none" strike="noStrike" cap="none" normalizeH="0" baseline="0" dirty="0">
                <a:ln>
                  <a:noFill/>
                </a:ln>
                <a:effectLst/>
                <a:latin typeface="微软雅黑" panose="020B0503020204020204" pitchFamily="34" charset="-122"/>
                <a:ea typeface="微软雅黑" panose="020B0503020204020204" pitchFamily="34" charset="-122"/>
                <a:cs typeface="Times New Roman" panose="02020603050405020304" pitchFamily="18" charset="0"/>
              </a:rPr>
              <a:t>等技术的快速发展</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a:ln>
                  <a:noFill/>
                </a:ln>
                <a:effectLst/>
                <a:latin typeface="微软雅黑" panose="020B0503020204020204" pitchFamily="34" charset="-122"/>
                <a:ea typeface="微软雅黑" panose="020B0503020204020204" pitchFamily="34" charset="-122"/>
                <a:cs typeface="Times New Roman" panose="02020603050405020304" pitchFamily="18" charset="0"/>
              </a:rPr>
              <a:t>海量时空位置数据爆发式增长。这些数据具有</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流式动态、时空多维、规模海量等特征</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1" i="0" u="none" strike="noStrike" cap="none" normalizeH="0" baseline="0" dirty="0">
              <a:ln>
                <a:noFill/>
              </a:ln>
              <a:effectLst/>
              <a:latin typeface="微软雅黑" panose="020B0503020204020204" pitchFamily="34" charset="-122"/>
              <a:ea typeface="微软雅黑" panose="020B0503020204020204" pitchFamily="34" charset="-122"/>
              <a:cs typeface="Times New Roman" panose="02020603050405020304" pitchFamily="18" charset="0"/>
            </a:endParaRPr>
          </a:p>
          <a:p>
            <a:pPr lvl="0" eaLnBrk="0" fontAlgn="base" hangingPunct="0">
              <a:lnSpc>
                <a:spcPct val="150000"/>
              </a:lnSpc>
              <a:spcBef>
                <a:spcPct val="0"/>
              </a:spcBef>
              <a:spcAft>
                <a:spcPct val="0"/>
              </a:spcAft>
            </a:pPr>
            <a:r>
              <a:rPr lang="en-US" altLang="zh-CN" sz="2000" b="1" dirty="0">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2000" b="1" i="0" u="none" strike="noStrike" cap="none" normalizeH="0" baseline="0" dirty="0">
                <a:ln>
                  <a:noFill/>
                </a:ln>
                <a:effectLst/>
                <a:latin typeface="微软雅黑" panose="020B0503020204020204" pitchFamily="34" charset="-122"/>
                <a:ea typeface="微软雅黑" panose="020B0503020204020204" pitchFamily="34" charset="-122"/>
              </a:rPr>
              <a:t> </a:t>
            </a:r>
            <a:r>
              <a:rPr kumimoji="0" lang="zh-CN" altLang="en-US" sz="2000" b="1" i="0" u="none" strike="noStrike" cap="none" normalizeH="0" baseline="0" dirty="0">
                <a:ln>
                  <a:noFill/>
                </a:ln>
                <a:effectLst/>
                <a:latin typeface="微软雅黑" panose="020B0503020204020204" pitchFamily="34" charset="-122"/>
                <a:ea typeface="微软雅黑" panose="020B0503020204020204" pitchFamily="34" charset="-122"/>
                <a:cs typeface="Times New Roman" panose="02020603050405020304" pitchFamily="18" charset="0"/>
              </a:rPr>
              <a:t>传统</a:t>
            </a:r>
            <a:r>
              <a:rPr lang="zh-CN" altLang="zh-CN" sz="2000" b="1" dirty="0">
                <a:latin typeface="微软雅黑" panose="020B0503020204020204" pitchFamily="34" charset="-122"/>
                <a:ea typeface="微软雅黑" panose="020B0503020204020204" pitchFamily="34" charset="-122"/>
                <a:cs typeface="Times New Roman" panose="02020603050405020304" pitchFamily="18" charset="0"/>
              </a:rPr>
              <a:t>地理信息平台已无法满足时空大数据带来的严峻挑战，进而转向分布式文件系统和分布式数据库存储管理</a:t>
            </a: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1027" name="Picture 3" descr="ç¸å³å¾ç">
            <a:extLst>
              <a:ext uri="{FF2B5EF4-FFF2-40B4-BE49-F238E27FC236}">
                <a16:creationId xmlns:a16="http://schemas.microsoft.com/office/drawing/2014/main" id="{5B5CB62D-A5FE-4056-8FAE-A354307900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2629" y="1286122"/>
            <a:ext cx="3256085" cy="214425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http://img.mp.sohu.com/upload/20170807/07fcaa4ba3674a0da770c128aeffbd29_th.png">
            <a:extLst>
              <a:ext uri="{FF2B5EF4-FFF2-40B4-BE49-F238E27FC236}">
                <a16:creationId xmlns:a16="http://schemas.microsoft.com/office/drawing/2014/main" id="{E6B28D8A-6853-49B8-B923-31AD17ED93A5}"/>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5011645" y="1265335"/>
            <a:ext cx="2870193" cy="2138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696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2</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研究背景及国内外研究现状</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graphicFrame>
        <p:nvGraphicFramePr>
          <p:cNvPr id="15" name="表格 14">
            <a:extLst>
              <a:ext uri="{FF2B5EF4-FFF2-40B4-BE49-F238E27FC236}">
                <a16:creationId xmlns:a16="http://schemas.microsoft.com/office/drawing/2014/main" id="{C3F620B9-BA2F-46BA-B07A-90F08FF71431}"/>
              </a:ext>
            </a:extLst>
          </p:cNvPr>
          <p:cNvGraphicFramePr>
            <a:graphicFrameLocks noGrp="1"/>
          </p:cNvGraphicFramePr>
          <p:nvPr>
            <p:extLst/>
          </p:nvPr>
        </p:nvGraphicFramePr>
        <p:xfrm>
          <a:off x="788577" y="980670"/>
          <a:ext cx="10948943" cy="4335082"/>
        </p:xfrm>
        <a:graphic>
          <a:graphicData uri="http://schemas.openxmlformats.org/drawingml/2006/table">
            <a:tbl>
              <a:tblPr firstRow="1" bandRow="1">
                <a:tableStyleId>{6E25E649-3F16-4E02-A733-19D2CDBF48F0}</a:tableStyleId>
              </a:tblPr>
              <a:tblGrid>
                <a:gridCol w="2532000">
                  <a:extLst>
                    <a:ext uri="{9D8B030D-6E8A-4147-A177-3AD203B41FA5}">
                      <a16:colId xmlns:a16="http://schemas.microsoft.com/office/drawing/2014/main" val="3381460304"/>
                    </a:ext>
                  </a:extLst>
                </a:gridCol>
                <a:gridCol w="1664653">
                  <a:extLst>
                    <a:ext uri="{9D8B030D-6E8A-4147-A177-3AD203B41FA5}">
                      <a16:colId xmlns:a16="http://schemas.microsoft.com/office/drawing/2014/main" val="4021566830"/>
                    </a:ext>
                  </a:extLst>
                </a:gridCol>
                <a:gridCol w="2147608">
                  <a:extLst>
                    <a:ext uri="{9D8B030D-6E8A-4147-A177-3AD203B41FA5}">
                      <a16:colId xmlns:a16="http://schemas.microsoft.com/office/drawing/2014/main" val="1006183646"/>
                    </a:ext>
                  </a:extLst>
                </a:gridCol>
                <a:gridCol w="2928282">
                  <a:extLst>
                    <a:ext uri="{9D8B030D-6E8A-4147-A177-3AD203B41FA5}">
                      <a16:colId xmlns:a16="http://schemas.microsoft.com/office/drawing/2014/main" val="1069261236"/>
                    </a:ext>
                  </a:extLst>
                </a:gridCol>
                <a:gridCol w="1676400">
                  <a:extLst>
                    <a:ext uri="{9D8B030D-6E8A-4147-A177-3AD203B41FA5}">
                      <a16:colId xmlns:a16="http://schemas.microsoft.com/office/drawing/2014/main" val="194709557"/>
                    </a:ext>
                  </a:extLst>
                </a:gridCol>
              </a:tblGrid>
              <a:tr h="428323">
                <a:tc>
                  <a:txBody>
                    <a:bodyPr/>
                    <a:lstStyle/>
                    <a:p>
                      <a:pPr lvl="0"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存储模式</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364159"/>
                    </a:solidFill>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系统名称</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364159"/>
                    </a:solidFill>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空间索引</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364159"/>
                    </a:solidFill>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空间查询</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364159"/>
                    </a:solidFill>
                  </a:tcPr>
                </a:tc>
                <a:tc>
                  <a:txBody>
                    <a:bodyPr/>
                    <a:lstStyle/>
                    <a:p>
                      <a:pPr algn="ct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研究机构</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364159"/>
                    </a:solidFill>
                  </a:tcPr>
                </a:tc>
                <a:extLst>
                  <a:ext uri="{0D108BD9-81ED-4DB2-BD59-A6C34878D82A}">
                    <a16:rowId xmlns:a16="http://schemas.microsoft.com/office/drawing/2014/main" val="2296383020"/>
                  </a:ext>
                </a:extLst>
              </a:tr>
              <a:tr h="554094">
                <a:tc rowSpan="3">
                  <a:txBody>
                    <a:bodyPr/>
                    <a:lstStyle/>
                    <a:p>
                      <a:pPr lvl="0" algn="ctr">
                        <a:lnSpc>
                          <a:spcPct val="50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基于分布式文件系统</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Spatial-Hadoop</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Quad-tree; Grid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Spatial Join;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KNN</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UCSB &amp;NEC</a:t>
                      </a:r>
                    </a:p>
                    <a:p>
                      <a:pPr algn="ctr">
                        <a:lnSpc>
                          <a:spcPct val="100000"/>
                        </a:lnSpc>
                      </a:pPr>
                      <a:r>
                        <a:rPr lang="en-US" altLang="zh-CN" dirty="0">
                          <a:latin typeface="Times New Roman" panose="02020603050405020304" pitchFamily="18" charset="0"/>
                          <a:cs typeface="Times New Roman" panose="02020603050405020304" pitchFamily="18" charset="0"/>
                        </a:rPr>
                        <a:t>(2011)</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4438244"/>
                  </a:ext>
                </a:extLst>
              </a:tr>
              <a:tr h="554094">
                <a:tc vMerge="1">
                  <a:txBody>
                    <a:bodyPr/>
                    <a:lstStyle/>
                    <a:p>
                      <a:endParaRPr lang="zh-CN" altLang="en-US" dirty="0"/>
                    </a:p>
                  </a:txBody>
                  <a:tcPr/>
                </a:tc>
                <a:tc>
                  <a:txBody>
                    <a:bodyPr/>
                    <a:lstStyle/>
                    <a:p>
                      <a:pPr algn="ctr">
                        <a:lnSpc>
                          <a:spcPct val="100000"/>
                        </a:lnSpc>
                      </a:pPr>
                      <a:r>
                        <a:rPr lang="en-US" altLang="zh-CN" sz="1800" kern="1200" dirty="0">
                          <a:solidFill>
                            <a:schemeClr val="dk1"/>
                          </a:solidFill>
                          <a:latin typeface="Times New Roman" panose="02020603050405020304" pitchFamily="18" charset="0"/>
                          <a:ea typeface="+mn-ea"/>
                          <a:cs typeface="Times New Roman" panose="02020603050405020304" pitchFamily="18" charset="0"/>
                        </a:rPr>
                        <a:t>Hadoop-GIS</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b="0" i="0" dirty="0">
                          <a:latin typeface="Times New Roman" panose="02020603050405020304" pitchFamily="18" charset="0"/>
                          <a:cs typeface="Times New Roman" panose="02020603050405020304" pitchFamily="18" charset="0"/>
                        </a:rPr>
                        <a:t>Grid</a:t>
                      </a:r>
                      <a:endParaRPr lang="zh-CN" altLang="en-US" b="0" i="0"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Spatial Join;</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KNN</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EU</a:t>
                      </a:r>
                    </a:p>
                    <a:p>
                      <a:pPr algn="ctr">
                        <a:lnSpc>
                          <a:spcPct val="100000"/>
                        </a:lnSpc>
                      </a:pP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2013</a:t>
                      </a:r>
                      <a:r>
                        <a:rPr lang="zh-CN" altLang="en-US" dirty="0">
                          <a:latin typeface="Times New Roman" panose="02020603050405020304" pitchFamily="18" charset="0"/>
                          <a:cs typeface="Times New Roman" panose="02020603050405020304" pitchFamily="18"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5704607"/>
                  </a:ext>
                </a:extLst>
              </a:tr>
              <a:tr h="554094">
                <a:tc vMerge="1">
                  <a:txBody>
                    <a:bodyPr/>
                    <a:lstStyle/>
                    <a:p>
                      <a:pPr lvl="0" algn="ctr">
                        <a:lnSpc>
                          <a:spcPct val="300000"/>
                        </a:lnSpc>
                      </a:pPr>
                      <a:endParaRPr lang="zh-CN" altLang="en-US" dirty="0">
                        <a:latin typeface="微软雅黑" panose="020B0503020204020204" pitchFamily="34" charset="-122"/>
                        <a:ea typeface="微软雅黑" panose="020B0503020204020204" pitchFamily="34" charset="-122"/>
                      </a:endParaRPr>
                    </a:p>
                  </a:txBody>
                  <a:tcPr>
                    <a:lnL w="3175" cap="flat" cmpd="sng" algn="ctr">
                      <a:solidFill>
                        <a:schemeClr val="accent6"/>
                      </a:solidFill>
                      <a:prstDash val="solid"/>
                      <a:round/>
                      <a:headEnd type="none" w="med" len="med"/>
                      <a:tailEnd type="none" w="med" len="med"/>
                    </a:lnL>
                    <a:lnR w="3175"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GeoSpark</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R-tree; Quad-tree</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Range Query; Spatial Join</a:t>
                      </a:r>
                    </a:p>
                    <a:p>
                      <a:pPr algn="ctr">
                        <a:lnSpc>
                          <a:spcPct val="100000"/>
                        </a:lnSpc>
                      </a:pPr>
                      <a:r>
                        <a:rPr lang="en-US" altLang="zh-CN" dirty="0">
                          <a:latin typeface="Times New Roman" panose="02020603050405020304" pitchFamily="18" charset="0"/>
                          <a:cs typeface="Times New Roman" panose="02020603050405020304" pitchFamily="18" charset="0"/>
                        </a:rPr>
                        <a:t>;KNN</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ASU</a:t>
                      </a:r>
                    </a:p>
                    <a:p>
                      <a:pPr algn="ctr">
                        <a:lnSpc>
                          <a:spcPct val="100000"/>
                        </a:lnSpc>
                      </a:pPr>
                      <a:r>
                        <a:rPr lang="en-US" altLang="zh-CN" dirty="0">
                          <a:latin typeface="Times New Roman" panose="02020603050405020304" pitchFamily="18" charset="0"/>
                          <a:cs typeface="Times New Roman" panose="02020603050405020304" pitchFamily="18" charset="0"/>
                        </a:rPr>
                        <a:t>2015</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456044"/>
                  </a:ext>
                </a:extLst>
              </a:tr>
              <a:tr h="554094">
                <a:tc rowSpan="3">
                  <a:txBody>
                    <a:bodyPr/>
                    <a:lstStyle/>
                    <a:p>
                      <a:pPr marL="0" lvl="0" algn="ctr" defTabSz="914400" rtl="0" eaLnBrk="1" latinLnBrk="0" hangingPunct="1">
                        <a:lnSpc>
                          <a:spcPct val="500000"/>
                        </a:lnSpc>
                      </a:pPr>
                      <a:r>
                        <a:rPr lang="zh-CN" altLang="en-US" sz="1800" b="1"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基于</a:t>
                      </a:r>
                      <a:r>
                        <a:rPr lang="en-US" altLang="zh-CN" sz="1800" b="1"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NoSQL</a:t>
                      </a:r>
                      <a:r>
                        <a:rPr lang="zh-CN" altLang="en-US" sz="1800" b="1" kern="12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数据库</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MD-HBase</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Quad-tree; K-d tree</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Range Query;</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KNN</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UCSB &amp;NEC</a:t>
                      </a:r>
                    </a:p>
                    <a:p>
                      <a:pPr algn="ctr">
                        <a:lnSpc>
                          <a:spcPct val="100000"/>
                        </a:lnSpc>
                      </a:pPr>
                      <a:r>
                        <a:rPr lang="en-US" altLang="zh-CN" dirty="0">
                          <a:latin typeface="Times New Roman" panose="02020603050405020304" pitchFamily="18" charset="0"/>
                          <a:cs typeface="Times New Roman" panose="02020603050405020304" pitchFamily="18" charset="0"/>
                        </a:rPr>
                        <a:t>(2011)</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0413524"/>
                  </a:ext>
                </a:extLst>
              </a:tr>
              <a:tr h="554094">
                <a:tc vMerge="1">
                  <a:txBody>
                    <a:bodyPr/>
                    <a:lstStyle/>
                    <a:p>
                      <a:endParaRPr lang="zh-CN" altLang="en-US" dirty="0"/>
                    </a:p>
                  </a:txBody>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GeoMesa</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Z</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order</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curve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Range Query</a:t>
                      </a:r>
                    </a:p>
                    <a:p>
                      <a:pPr algn="ctr">
                        <a:lnSpc>
                          <a:spcPct val="100000"/>
                        </a:lnSpc>
                      </a:pP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CCR(USA)</a:t>
                      </a:r>
                    </a:p>
                    <a:p>
                      <a:pPr algn="ctr">
                        <a:lnSpc>
                          <a:spcPct val="100000"/>
                        </a:lnSpc>
                      </a:pPr>
                      <a:r>
                        <a:rPr lang="en-US" altLang="zh-CN" dirty="0">
                          <a:latin typeface="Times New Roman" panose="02020603050405020304" pitchFamily="18" charset="0"/>
                          <a:cs typeface="Times New Roman" panose="02020603050405020304" pitchFamily="18" charset="0"/>
                        </a:rPr>
                        <a:t>(2015)</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4010097"/>
                  </a:ext>
                </a:extLst>
              </a:tr>
              <a:tr h="491822">
                <a:tc vMerge="1">
                  <a:txBody>
                    <a:bodyPr/>
                    <a:lstStyle/>
                    <a:p>
                      <a:pPr lvl="0" algn="ctr">
                        <a:lnSpc>
                          <a:spcPct val="300000"/>
                        </a:lnSpc>
                      </a:pPr>
                      <a:endParaRPr lang="zh-CN" altLang="en-US" dirty="0">
                        <a:latin typeface="微软雅黑" panose="020B0503020204020204" pitchFamily="34" charset="-122"/>
                        <a:ea typeface="微软雅黑" panose="020B0503020204020204" pitchFamily="34" charset="-122"/>
                      </a:endParaRPr>
                    </a:p>
                  </a:txBody>
                  <a:tcPr>
                    <a:lnL w="3175" cap="flat" cmpd="sng" algn="ctr">
                      <a:solidFill>
                        <a:schemeClr val="accent6"/>
                      </a:solidFill>
                      <a:prstDash val="solid"/>
                      <a:round/>
                      <a:headEnd type="none" w="med" len="med"/>
                      <a:tailEnd type="none" w="med" len="med"/>
                    </a:lnL>
                    <a:lnR w="3175" cap="flat" cmpd="sng" algn="ctr">
                      <a:solidFill>
                        <a:schemeClr val="accent6"/>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accent6"/>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G-HBase</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Geohash</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dirty="0">
                          <a:latin typeface="Times New Roman" panose="02020603050405020304" pitchFamily="18" charset="0"/>
                          <a:cs typeface="Times New Roman" panose="02020603050405020304" pitchFamily="18" charset="0"/>
                        </a:rPr>
                        <a:t>Range Query; KNN</a:t>
                      </a:r>
                      <a:endParaRPr lang="zh-CN" altLang="en-US" dirty="0">
                        <a:latin typeface="Times New Roman" panose="02020603050405020304" pitchFamily="18" charset="0"/>
                        <a:cs typeface="Times New Roman" panose="02020603050405020304" pitchFamily="18"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1800" b="0" i="0" kern="1200" dirty="0">
                          <a:solidFill>
                            <a:schemeClr val="dk1"/>
                          </a:solidFill>
                          <a:effectLst/>
                          <a:latin typeface="Times New Roman" panose="02020603050405020304" pitchFamily="18" charset="0"/>
                          <a:ea typeface="+mn-ea"/>
                          <a:cs typeface="Times New Roman" panose="02020603050405020304" pitchFamily="18" charset="0"/>
                        </a:rPr>
                        <a:t>NII(Tokyo)</a:t>
                      </a:r>
                      <a:r>
                        <a:rPr lang="en-US" altLang="zh-CN" dirty="0">
                          <a:latin typeface="Times New Roman" panose="02020603050405020304" pitchFamily="18" charset="0"/>
                          <a:cs typeface="Times New Roman" panose="02020603050405020304" pitchFamily="18" charset="0"/>
                        </a:rPr>
                        <a:t> </a:t>
                      </a:r>
                      <a:br>
                        <a:rPr lang="en-US" altLang="zh-CN" dirty="0">
                          <a:latin typeface="Times New Roman" panose="02020603050405020304" pitchFamily="18" charset="0"/>
                          <a:cs typeface="Times New Roman" panose="02020603050405020304" pitchFamily="18" charset="0"/>
                        </a:rPr>
                      </a:b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2018</a:t>
                      </a:r>
                      <a:r>
                        <a:rPr lang="zh-CN" altLang="en-US" dirty="0">
                          <a:latin typeface="Times New Roman" panose="02020603050405020304" pitchFamily="18" charset="0"/>
                          <a:cs typeface="Times New Roman" panose="02020603050405020304" pitchFamily="18" charset="0"/>
                        </a:rPr>
                        <a: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2185881"/>
                  </a:ext>
                </a:extLst>
              </a:tr>
            </a:tbl>
          </a:graphicData>
        </a:graphic>
      </p:graphicFrame>
      <p:sp>
        <p:nvSpPr>
          <p:cNvPr id="12" name="矩形 11">
            <a:extLst>
              <a:ext uri="{FF2B5EF4-FFF2-40B4-BE49-F238E27FC236}">
                <a16:creationId xmlns:a16="http://schemas.microsoft.com/office/drawing/2014/main" id="{2070F99C-1A51-44F9-A7B5-CFA1D77F2308}"/>
              </a:ext>
            </a:extLst>
          </p:cNvPr>
          <p:cNvSpPr/>
          <p:nvPr/>
        </p:nvSpPr>
        <p:spPr>
          <a:xfrm>
            <a:off x="685751" y="5218553"/>
            <a:ext cx="11136366" cy="646331"/>
          </a:xfrm>
          <a:prstGeom prst="rect">
            <a:avLst/>
          </a:prstGeom>
        </p:spPr>
        <p:txBody>
          <a:bodyPr wrap="square">
            <a:spAutoFit/>
          </a:bodyPr>
          <a:lstStyle/>
          <a:p>
            <a:endParaRPr lang="en-US" altLang="zh-CN" dirty="0">
              <a:latin typeface="微软雅黑" panose="020B0503020204020204" pitchFamily="34" charset="-122"/>
              <a:ea typeface="微软雅黑" panose="020B0503020204020204" pitchFamily="34" charset="-122"/>
            </a:endParaRPr>
          </a:p>
          <a:p>
            <a:r>
              <a:rPr lang="en-US" altLang="zh-CN" b="1" dirty="0">
                <a:solidFill>
                  <a:srgbClr val="C00000"/>
                </a:solidFill>
                <a:latin typeface="微软雅黑" panose="020B0503020204020204" pitchFamily="34" charset="-122"/>
                <a:ea typeface="微软雅黑" panose="020B0503020204020204" pitchFamily="34" charset="-122"/>
              </a:rPr>
              <a:t>1</a:t>
            </a:r>
            <a:r>
              <a:rPr lang="zh-CN" altLang="en-US" b="1" dirty="0">
                <a:solidFill>
                  <a:srgbClr val="C00000"/>
                </a:solidFill>
                <a:latin typeface="微软雅黑" panose="020B0503020204020204" pitchFamily="34" charset="-122"/>
                <a:ea typeface="微软雅黑" panose="020B0503020204020204" pitchFamily="34" charset="-122"/>
              </a:rPr>
              <a:t>） </a:t>
            </a:r>
            <a:r>
              <a:rPr lang="zh-CN" altLang="zh-CN" b="1" dirty="0">
                <a:solidFill>
                  <a:srgbClr val="C00000"/>
                </a:solidFill>
                <a:latin typeface="微软雅黑" panose="020B0503020204020204" pitchFamily="34" charset="-122"/>
                <a:ea typeface="微软雅黑" panose="020B0503020204020204" pitchFamily="34" charset="-122"/>
              </a:rPr>
              <a:t>基于分布式文件系统的时空大数据管理方式能够高效支持离线批处理任务，但无法支持低延迟时空查询。</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25007301-BB47-4EE1-91F6-4CDCC8BADB5E}"/>
              </a:ext>
            </a:extLst>
          </p:cNvPr>
          <p:cNvSpPr/>
          <p:nvPr/>
        </p:nvSpPr>
        <p:spPr>
          <a:xfrm>
            <a:off x="706226" y="5934701"/>
            <a:ext cx="11031293" cy="369332"/>
          </a:xfrm>
          <a:prstGeom prst="rect">
            <a:avLst/>
          </a:prstGeom>
        </p:spPr>
        <p:txBody>
          <a:bodyPr wrap="square">
            <a:spAutoFit/>
          </a:bodyPr>
          <a:lstStyle/>
          <a:p>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a:t>
            </a:r>
            <a:r>
              <a:rPr lang="zh-CN" altLang="zh-CN" b="1" dirty="0">
                <a:solidFill>
                  <a:srgbClr val="C00000"/>
                </a:solidFill>
                <a:latin typeface="微软雅黑" panose="020B0503020204020204" pitchFamily="34" charset="-122"/>
                <a:ea typeface="微软雅黑" panose="020B0503020204020204" pitchFamily="34" charset="-122"/>
              </a:rPr>
              <a:t>以</a:t>
            </a:r>
            <a:r>
              <a:rPr lang="en-US" altLang="zh-CN" b="1" dirty="0">
                <a:solidFill>
                  <a:srgbClr val="C00000"/>
                </a:solidFill>
                <a:latin typeface="微软雅黑" panose="020B0503020204020204" pitchFamily="34" charset="-122"/>
                <a:ea typeface="微软雅黑" panose="020B0503020204020204" pitchFamily="34" charset="-122"/>
              </a:rPr>
              <a:t>HBase</a:t>
            </a:r>
            <a:r>
              <a:rPr lang="zh-CN" altLang="zh-CN" b="1" dirty="0">
                <a:solidFill>
                  <a:srgbClr val="C00000"/>
                </a:solidFill>
                <a:latin typeface="微软雅黑" panose="020B0503020204020204" pitchFamily="34" charset="-122"/>
                <a:ea typeface="微软雅黑" panose="020B0503020204020204" pitchFamily="34" charset="-122"/>
              </a:rPr>
              <a:t>为代表的</a:t>
            </a:r>
            <a:r>
              <a:rPr lang="en-US" altLang="zh-CN" b="1" dirty="0">
                <a:solidFill>
                  <a:srgbClr val="C00000"/>
                </a:solidFill>
                <a:latin typeface="微软雅黑" panose="020B0503020204020204" pitchFamily="34" charset="-122"/>
                <a:ea typeface="微软雅黑" panose="020B0503020204020204" pitchFamily="34" charset="-122"/>
              </a:rPr>
              <a:t>NoSQL</a:t>
            </a:r>
            <a:r>
              <a:rPr lang="zh-CN" altLang="zh-CN" b="1" dirty="0">
                <a:solidFill>
                  <a:srgbClr val="C00000"/>
                </a:solidFill>
                <a:latin typeface="微软雅黑" panose="020B0503020204020204" pitchFamily="34" charset="-122"/>
                <a:ea typeface="微软雅黑" panose="020B0503020204020204" pitchFamily="34" charset="-122"/>
              </a:rPr>
              <a:t>数据库支持键值对条件过滤查询，但对多维时空查询支持能力不足</a:t>
            </a:r>
            <a:r>
              <a:rPr lang="zh-CN" altLang="en-US" b="1" dirty="0">
                <a:solidFill>
                  <a:srgbClr val="C0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11211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3</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1 </a:t>
                </a:r>
                <a:r>
                  <a:rPr lang="zh-CN" altLang="en-US" sz="2400" b="1" dirty="0">
                    <a:latin typeface="微软雅黑" panose="020B0503020204020204" pitchFamily="34" charset="-122"/>
                    <a:ea typeface="微软雅黑" panose="020B0503020204020204" pitchFamily="34" charset="-122"/>
                  </a:rPr>
                  <a:t>研究背景及国内外研究现状</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80" name="矩形 79">
            <a:extLst>
              <a:ext uri="{FF2B5EF4-FFF2-40B4-BE49-F238E27FC236}">
                <a16:creationId xmlns:a16="http://schemas.microsoft.com/office/drawing/2014/main" id="{11F3B746-8073-4AE8-A3BB-FC66B847C223}"/>
              </a:ext>
            </a:extLst>
          </p:cNvPr>
          <p:cNvSpPr/>
          <p:nvPr/>
        </p:nvSpPr>
        <p:spPr>
          <a:xfrm>
            <a:off x="527050" y="1350260"/>
            <a:ext cx="9551555" cy="879664"/>
          </a:xfrm>
          <a:prstGeom prst="rect">
            <a:avLst/>
          </a:prstGeom>
        </p:spPr>
        <p:txBody>
          <a:bodyPr wrap="square">
            <a:spAutoFit/>
          </a:bodyPr>
          <a:lstStyle/>
          <a:p>
            <a:pPr>
              <a:lnSpc>
                <a:spcPct val="150000"/>
              </a:lnSpc>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针对上述问题，</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本课题研究</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拟在分布式数据库</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HBase</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的基础上，利用</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NoSQL</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数据库的优势，</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提出一套完整的存储组织、时空索引、查询检索的方案</a:t>
            </a:r>
            <a:r>
              <a:rPr lang="zh-CN" altLang="en-US"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2" name="矩形 81">
            <a:extLst>
              <a:ext uri="{FF2B5EF4-FFF2-40B4-BE49-F238E27FC236}">
                <a16:creationId xmlns:a16="http://schemas.microsoft.com/office/drawing/2014/main" id="{1C8A45A0-F101-4C03-8AFC-E38E0433009C}"/>
              </a:ext>
            </a:extLst>
          </p:cNvPr>
          <p:cNvSpPr/>
          <p:nvPr/>
        </p:nvSpPr>
        <p:spPr>
          <a:xfrm>
            <a:off x="905600" y="3599416"/>
            <a:ext cx="3423498" cy="499432"/>
          </a:xfrm>
          <a:prstGeom prst="rect">
            <a:avLst/>
          </a:prstGeom>
        </p:spPr>
        <p:txBody>
          <a:bodyPr wrap="square">
            <a:spAutoFit/>
          </a:bodyPr>
          <a:lstStyle/>
          <a:p>
            <a:pPr marL="342900" indent="-342900" algn="just">
              <a:lnSpc>
                <a:spcPct val="150000"/>
              </a:lnSpc>
              <a:buFont typeface="Wingdings" panose="05000000000000000000" pitchFamily="2" charset="2"/>
              <a:buChar char="p"/>
            </a:pPr>
            <a:r>
              <a:rPr lang="zh-CN"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时空矢量</a:t>
            </a:r>
            <a:r>
              <a:rPr lang="zh-CN" altLang="en-US"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数据</a:t>
            </a:r>
            <a:r>
              <a:rPr lang="zh-CN"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的索引</a:t>
            </a:r>
            <a:r>
              <a:rPr lang="zh-CN" altLang="en-US"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设计</a:t>
            </a:r>
            <a:endParaRPr lang="en-US"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9" name="矩形 88">
            <a:extLst>
              <a:ext uri="{FF2B5EF4-FFF2-40B4-BE49-F238E27FC236}">
                <a16:creationId xmlns:a16="http://schemas.microsoft.com/office/drawing/2014/main" id="{6EDA1D3B-CE4D-4C8B-B90D-E408CB392A44}"/>
              </a:ext>
            </a:extLst>
          </p:cNvPr>
          <p:cNvSpPr/>
          <p:nvPr/>
        </p:nvSpPr>
        <p:spPr>
          <a:xfrm>
            <a:off x="905600" y="3071112"/>
            <a:ext cx="3898119" cy="499624"/>
          </a:xfrm>
          <a:prstGeom prst="rect">
            <a:avLst/>
          </a:prstGeom>
        </p:spPr>
        <p:txBody>
          <a:bodyPr wrap="square">
            <a:spAutoFit/>
          </a:bodyPr>
          <a:lstStyle/>
          <a:p>
            <a:pPr marL="342900" indent="-342900" algn="just">
              <a:lnSpc>
                <a:spcPct val="150000"/>
              </a:lnSpc>
              <a:buFont typeface="Wingdings" panose="05000000000000000000" pitchFamily="2" charset="2"/>
              <a:buChar char="p"/>
            </a:pPr>
            <a:r>
              <a:rPr lang="zh-CN" altLang="en-US" sz="2000" b="1" kern="100" dirty="0">
                <a:latin typeface="微软雅黑" panose="020B0503020204020204" pitchFamily="34" charset="-122"/>
                <a:ea typeface="微软雅黑" panose="020B0503020204020204" pitchFamily="34" charset="-122"/>
                <a:cs typeface="Times New Roman" panose="02020603050405020304" pitchFamily="18" charset="0"/>
              </a:rPr>
              <a:t>时空矢量数据的</a:t>
            </a:r>
            <a:r>
              <a:rPr lang="zh-CN"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存储</a:t>
            </a:r>
            <a:r>
              <a:rPr lang="zh-CN" altLang="en-US" sz="2000" b="1" kern="100" dirty="0">
                <a:latin typeface="微软雅黑" panose="020B0503020204020204" pitchFamily="34" charset="-122"/>
                <a:ea typeface="微软雅黑" panose="020B0503020204020204" pitchFamily="34" charset="-122"/>
                <a:cs typeface="Times New Roman" panose="02020603050405020304" pitchFamily="18" charset="0"/>
              </a:rPr>
              <a:t>方案</a:t>
            </a:r>
            <a:endParaRPr lang="en-US" altLang="zh-CN" sz="20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0" name="矩形 89">
            <a:extLst>
              <a:ext uri="{FF2B5EF4-FFF2-40B4-BE49-F238E27FC236}">
                <a16:creationId xmlns:a16="http://schemas.microsoft.com/office/drawing/2014/main" id="{DAED92A9-4124-43EB-94BC-E028BDFC37B3}"/>
              </a:ext>
            </a:extLst>
          </p:cNvPr>
          <p:cNvSpPr/>
          <p:nvPr/>
        </p:nvSpPr>
        <p:spPr>
          <a:xfrm>
            <a:off x="905600" y="4194014"/>
            <a:ext cx="5038328" cy="499624"/>
          </a:xfrm>
          <a:prstGeom prst="rect">
            <a:avLst/>
          </a:prstGeom>
        </p:spPr>
        <p:txBody>
          <a:bodyPr wrap="square">
            <a:spAutoFit/>
          </a:bodyPr>
          <a:lstStyle/>
          <a:p>
            <a:pPr marL="342900" indent="-342900" algn="just">
              <a:lnSpc>
                <a:spcPct val="150000"/>
              </a:lnSpc>
              <a:buFont typeface="Wingdings" panose="05000000000000000000" pitchFamily="2" charset="2"/>
              <a:buChar char="p"/>
            </a:pPr>
            <a:r>
              <a:rPr lang="zh-CN" altLang="en-US"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时空</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矢量</a:t>
            </a:r>
            <a:r>
              <a:rPr lang="zh-CN" altLang="en-US"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a:t>
            </a:r>
            <a:r>
              <a:rPr lang="zh-CN"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的时空范围查询算法设计</a:t>
            </a:r>
            <a:endParaRPr lang="en-US"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1" name="矩形 90">
            <a:extLst>
              <a:ext uri="{FF2B5EF4-FFF2-40B4-BE49-F238E27FC236}">
                <a16:creationId xmlns:a16="http://schemas.microsoft.com/office/drawing/2014/main" id="{65CCD707-A075-4627-88F6-DCD74CBDFA60}"/>
              </a:ext>
            </a:extLst>
          </p:cNvPr>
          <p:cNvSpPr/>
          <p:nvPr/>
        </p:nvSpPr>
        <p:spPr>
          <a:xfrm>
            <a:off x="905600" y="4788804"/>
            <a:ext cx="4717609" cy="499432"/>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p"/>
            </a:pPr>
            <a:r>
              <a:rPr lang="zh-CN"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时空</a:t>
            </a:r>
            <a:r>
              <a:rPr lang="en-US" altLang="zh-CN" sz="2000" b="1"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查询算法设计及优化</a:t>
            </a:r>
            <a:endParaRPr lang="en-US" altLang="zh-CN" sz="2000" b="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6" name="Picture 2" descr="âresearchâçå¾çæç´¢ç»æ">
            <a:extLst>
              <a:ext uri="{FF2B5EF4-FFF2-40B4-BE49-F238E27FC236}">
                <a16:creationId xmlns:a16="http://schemas.microsoft.com/office/drawing/2014/main" id="{FAEB0A5E-A586-4AD3-AEFE-429AA4539A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8793" y="2813519"/>
            <a:ext cx="3636155" cy="2760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918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64159"/>
        </a:solidFill>
        <a:effectLst/>
      </p:bgPr>
    </p:bg>
    <p:spTree>
      <p:nvGrpSpPr>
        <p:cNvPr id="1" name=""/>
        <p:cNvGrpSpPr/>
        <p:nvPr/>
      </p:nvGrpSpPr>
      <p:grpSpPr>
        <a:xfrm>
          <a:off x="0" y="0"/>
          <a:ext cx="0" cy="0"/>
          <a:chOff x="0" y="0"/>
          <a:chExt cx="0" cy="0"/>
        </a:xfrm>
      </p:grpSpPr>
      <p:grpSp>
        <p:nvGrpSpPr>
          <p:cNvPr id="112" name="组合 17">
            <a:extLst>
              <a:ext uri="{FF2B5EF4-FFF2-40B4-BE49-F238E27FC236}">
                <a16:creationId xmlns:a16="http://schemas.microsoft.com/office/drawing/2014/main" id="{38D18476-863B-4DF7-ADF0-1F89E5C38871}"/>
              </a:ext>
            </a:extLst>
          </p:cNvPr>
          <p:cNvGrpSpPr>
            <a:grpSpLocks/>
          </p:cNvGrpSpPr>
          <p:nvPr/>
        </p:nvGrpSpPr>
        <p:grpSpPr bwMode="auto">
          <a:xfrm>
            <a:off x="2409825" y="2787463"/>
            <a:ext cx="842963" cy="781050"/>
            <a:chOff x="0" y="0"/>
            <a:chExt cx="730541" cy="759532"/>
          </a:xfrm>
        </p:grpSpPr>
        <p:sp>
          <p:nvSpPr>
            <p:cNvPr id="113" name="矩形​​ 3">
              <a:extLst>
                <a:ext uri="{FF2B5EF4-FFF2-40B4-BE49-F238E27FC236}">
                  <a16:creationId xmlns:a16="http://schemas.microsoft.com/office/drawing/2014/main" id="{1DC09535-BFD4-4E4A-9E49-295B5C1CE383}"/>
                </a:ext>
              </a:extLst>
            </p:cNvPr>
            <p:cNvSpPr>
              <a:spLocks noChangeArrowheads="1"/>
            </p:cNvSpPr>
            <p:nvPr/>
          </p:nvSpPr>
          <p:spPr bwMode="auto">
            <a:xfrm>
              <a:off x="0" y="22421"/>
              <a:ext cx="730541" cy="737111"/>
            </a:xfrm>
            <a:custGeom>
              <a:avLst/>
              <a:gdLst>
                <a:gd name="T0" fmla="*/ 0 w 1152128"/>
                <a:gd name="T1" fmla="*/ 0 h 936104"/>
                <a:gd name="T2" fmla="*/ 499 w 1152128"/>
                <a:gd name="T3" fmla="*/ 0 h 936104"/>
                <a:gd name="T4" fmla="*/ 499 w 1152128"/>
                <a:gd name="T5" fmla="*/ 13625 h 936104"/>
                <a:gd name="T6" fmla="*/ 311 w 1152128"/>
                <a:gd name="T7" fmla="*/ 13625 h 936104"/>
                <a:gd name="T8" fmla="*/ 249 w 1152128"/>
                <a:gd name="T9" fmla="*/ 16101 h 936104"/>
                <a:gd name="T10" fmla="*/ 187 w 1152128"/>
                <a:gd name="T11" fmla="*/ 13625 h 936104"/>
                <a:gd name="T12" fmla="*/ 0 w 1152128"/>
                <a:gd name="T13" fmla="*/ 13625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4" name="TextBox 120">
              <a:extLst>
                <a:ext uri="{FF2B5EF4-FFF2-40B4-BE49-F238E27FC236}">
                  <a16:creationId xmlns:a16="http://schemas.microsoft.com/office/drawing/2014/main" id="{17557EB4-4F91-417A-A5E0-349DE5F2FDE1}"/>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2</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15" name="组合 20">
            <a:extLst>
              <a:ext uri="{FF2B5EF4-FFF2-40B4-BE49-F238E27FC236}">
                <a16:creationId xmlns:a16="http://schemas.microsoft.com/office/drawing/2014/main" id="{82157FCB-4D2D-4C27-995F-E8883F06F80B}"/>
              </a:ext>
            </a:extLst>
          </p:cNvPr>
          <p:cNvGrpSpPr>
            <a:grpSpLocks/>
          </p:cNvGrpSpPr>
          <p:nvPr/>
        </p:nvGrpSpPr>
        <p:grpSpPr bwMode="auto">
          <a:xfrm>
            <a:off x="2409825" y="3688406"/>
            <a:ext cx="842963" cy="784225"/>
            <a:chOff x="0" y="0"/>
            <a:chExt cx="730541" cy="760784"/>
          </a:xfrm>
        </p:grpSpPr>
        <p:sp>
          <p:nvSpPr>
            <p:cNvPr id="116" name="矩形​​ 3">
              <a:extLst>
                <a:ext uri="{FF2B5EF4-FFF2-40B4-BE49-F238E27FC236}">
                  <a16:creationId xmlns:a16="http://schemas.microsoft.com/office/drawing/2014/main" id="{CC1D141D-87B8-45CC-8B6E-AA69F97034D9}"/>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7" name="TextBox 123">
              <a:extLst>
                <a:ext uri="{FF2B5EF4-FFF2-40B4-BE49-F238E27FC236}">
                  <a16:creationId xmlns:a16="http://schemas.microsoft.com/office/drawing/2014/main" id="{8459AE70-419C-4FD9-9D7A-2A497EEBF7F9}"/>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3</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18" name="矩形​​ 9">
            <a:extLst>
              <a:ext uri="{FF2B5EF4-FFF2-40B4-BE49-F238E27FC236}">
                <a16:creationId xmlns:a16="http://schemas.microsoft.com/office/drawing/2014/main" id="{E16838FE-33C9-4C35-8C5E-A3C18AE50E01}"/>
              </a:ext>
            </a:extLst>
          </p:cNvPr>
          <p:cNvSpPr>
            <a:spLocks noChangeArrowheads="1"/>
          </p:cNvSpPr>
          <p:nvPr/>
        </p:nvSpPr>
        <p:spPr bwMode="auto">
          <a:xfrm>
            <a:off x="3790950" y="1910332"/>
            <a:ext cx="5953125" cy="693738"/>
          </a:xfrm>
          <a:prstGeom prst="rect">
            <a:avLst/>
          </a:prstGeom>
          <a:gradFill rotWithShape="1">
            <a:gsLst>
              <a:gs pos="0">
                <a:schemeClr val="bg1"/>
              </a:gs>
              <a:gs pos="50000">
                <a:srgbClr val="D4D4D4"/>
              </a:gs>
              <a:gs pos="100000">
                <a:srgbClr val="FFFFFF"/>
              </a:gs>
            </a:gsLst>
            <a:path path="rect">
              <a:fillToRect l="100000" t="100000"/>
            </a:path>
          </a:gra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19" name="矩形​​ 10">
            <a:extLst>
              <a:ext uri="{FF2B5EF4-FFF2-40B4-BE49-F238E27FC236}">
                <a16:creationId xmlns:a16="http://schemas.microsoft.com/office/drawing/2014/main" id="{541DD504-0D9B-4C81-83EA-71CADAEB3CA1}"/>
              </a:ext>
            </a:extLst>
          </p:cNvPr>
          <p:cNvSpPr>
            <a:spLocks noChangeArrowheads="1"/>
          </p:cNvSpPr>
          <p:nvPr/>
        </p:nvSpPr>
        <p:spPr bwMode="auto">
          <a:xfrm>
            <a:off x="3790950" y="2808498"/>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0" name="矩形​​ 11">
            <a:extLst>
              <a:ext uri="{FF2B5EF4-FFF2-40B4-BE49-F238E27FC236}">
                <a16:creationId xmlns:a16="http://schemas.microsoft.com/office/drawing/2014/main" id="{4B60AE5C-CCEF-4BB6-946A-5B3A81F67272}"/>
              </a:ext>
            </a:extLst>
          </p:cNvPr>
          <p:cNvSpPr>
            <a:spLocks noChangeArrowheads="1"/>
          </p:cNvSpPr>
          <p:nvPr/>
        </p:nvSpPr>
        <p:spPr bwMode="auto">
          <a:xfrm>
            <a:off x="3790950" y="3708251"/>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1" name="TextBox 132">
            <a:extLst>
              <a:ext uri="{FF2B5EF4-FFF2-40B4-BE49-F238E27FC236}">
                <a16:creationId xmlns:a16="http://schemas.microsoft.com/office/drawing/2014/main" id="{BACA0B10-7119-470A-B9EC-A12CAFD5CD4A}"/>
              </a:ext>
            </a:extLst>
          </p:cNvPr>
          <p:cNvSpPr>
            <a:spLocks noChangeArrowheads="1"/>
          </p:cNvSpPr>
          <p:nvPr/>
        </p:nvSpPr>
        <p:spPr bwMode="auto">
          <a:xfrm>
            <a:off x="4367213" y="1999232"/>
            <a:ext cx="4721369"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研究背景及国内外研究现状</a:t>
            </a:r>
          </a:p>
        </p:txBody>
      </p:sp>
      <p:sp>
        <p:nvSpPr>
          <p:cNvPr id="122" name="TextBox 133">
            <a:extLst>
              <a:ext uri="{FF2B5EF4-FFF2-40B4-BE49-F238E27FC236}">
                <a16:creationId xmlns:a16="http://schemas.microsoft.com/office/drawing/2014/main" id="{215A29CD-7CE1-43DA-A7E9-D185BA95AD4F}"/>
              </a:ext>
            </a:extLst>
          </p:cNvPr>
          <p:cNvSpPr>
            <a:spLocks noChangeArrowheads="1"/>
          </p:cNvSpPr>
          <p:nvPr/>
        </p:nvSpPr>
        <p:spPr bwMode="auto">
          <a:xfrm>
            <a:off x="4367213" y="2898191"/>
            <a:ext cx="5029711" cy="98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92D050"/>
                </a:solidFill>
                <a:latin typeface="微软雅黑" panose="020B0503020204020204" pitchFamily="34" charset="-122"/>
                <a:ea typeface="微软雅黑" panose="020B0503020204020204" pitchFamily="34" charset="-122"/>
                <a:sym typeface="微软雅黑" panose="020B0503020204020204" pitchFamily="34" charset="-122"/>
              </a:rPr>
              <a:t>存储方案及时空索引设计</a:t>
            </a:r>
          </a:p>
          <a:p>
            <a:endParaRPr lang="zh-CN" altLang="en-US" sz="2800" b="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123" name="TextBox 134">
            <a:extLst>
              <a:ext uri="{FF2B5EF4-FFF2-40B4-BE49-F238E27FC236}">
                <a16:creationId xmlns:a16="http://schemas.microsoft.com/office/drawing/2014/main" id="{FF70EC35-0F45-4F4F-B119-A1FF75641ED2}"/>
              </a:ext>
            </a:extLst>
          </p:cNvPr>
          <p:cNvSpPr>
            <a:spLocks noChangeArrowheads="1"/>
          </p:cNvSpPr>
          <p:nvPr/>
        </p:nvSpPr>
        <p:spPr bwMode="auto">
          <a:xfrm>
            <a:off x="4367213" y="3797150"/>
            <a:ext cx="5012688"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时空查询算法设计</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124" name="组合 14">
            <a:extLst>
              <a:ext uri="{FF2B5EF4-FFF2-40B4-BE49-F238E27FC236}">
                <a16:creationId xmlns:a16="http://schemas.microsoft.com/office/drawing/2014/main" id="{4C14C88A-F445-40AE-97A7-4BB199081F01}"/>
              </a:ext>
            </a:extLst>
          </p:cNvPr>
          <p:cNvGrpSpPr>
            <a:grpSpLocks/>
          </p:cNvGrpSpPr>
          <p:nvPr/>
        </p:nvGrpSpPr>
        <p:grpSpPr bwMode="auto">
          <a:xfrm>
            <a:off x="2409825" y="1872232"/>
            <a:ext cx="842963" cy="795338"/>
            <a:chOff x="0" y="0"/>
            <a:chExt cx="730541" cy="773013"/>
          </a:xfrm>
        </p:grpSpPr>
        <p:sp>
          <p:nvSpPr>
            <p:cNvPr id="125" name="矩形​​ 3">
              <a:extLst>
                <a:ext uri="{FF2B5EF4-FFF2-40B4-BE49-F238E27FC236}">
                  <a16:creationId xmlns:a16="http://schemas.microsoft.com/office/drawing/2014/main" id="{2D95A302-C4EE-4A06-8610-1A7BF5FC68A2}"/>
                </a:ext>
              </a:extLst>
            </p:cNvPr>
            <p:cNvSpPr>
              <a:spLocks noChangeArrowheads="1"/>
            </p:cNvSpPr>
            <p:nvPr/>
          </p:nvSpPr>
          <p:spPr bwMode="auto">
            <a:xfrm>
              <a:off x="0" y="34650"/>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26" name="TextBox 17">
              <a:extLst>
                <a:ext uri="{FF2B5EF4-FFF2-40B4-BE49-F238E27FC236}">
                  <a16:creationId xmlns:a16="http://schemas.microsoft.com/office/drawing/2014/main" id="{253A7B79-CDCA-401A-86B5-6D27F64C435B}"/>
                </a:ext>
              </a:extLst>
            </p:cNvPr>
            <p:cNvSpPr>
              <a:spLocks noChangeArrowheads="1"/>
            </p:cNvSpPr>
            <p:nvPr/>
          </p:nvSpPr>
          <p:spPr bwMode="auto">
            <a:xfrm>
              <a:off x="150641"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1</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27" name="组合 16">
            <a:extLst>
              <a:ext uri="{FF2B5EF4-FFF2-40B4-BE49-F238E27FC236}">
                <a16:creationId xmlns:a16="http://schemas.microsoft.com/office/drawing/2014/main" id="{8C39F07B-23D1-4F47-B07B-D9CAD4217582}"/>
              </a:ext>
            </a:extLst>
          </p:cNvPr>
          <p:cNvGrpSpPr>
            <a:grpSpLocks/>
          </p:cNvGrpSpPr>
          <p:nvPr/>
        </p:nvGrpSpPr>
        <p:grpSpPr bwMode="auto">
          <a:xfrm>
            <a:off x="1308100" y="702754"/>
            <a:ext cx="3200400" cy="1065212"/>
            <a:chOff x="1435540" y="774700"/>
            <a:chExt cx="3679385" cy="1327150"/>
          </a:xfrm>
        </p:grpSpPr>
        <p:sp>
          <p:nvSpPr>
            <p:cNvPr id="128" name="标题 24">
              <a:extLst>
                <a:ext uri="{FF2B5EF4-FFF2-40B4-BE49-F238E27FC236}">
                  <a16:creationId xmlns:a16="http://schemas.microsoft.com/office/drawing/2014/main" id="{1111E0C1-A04C-4BB4-8B07-B12882080E19}"/>
                </a:ext>
              </a:extLst>
            </p:cNvPr>
            <p:cNvSpPr>
              <a:spLocks noChangeArrowheads="1"/>
            </p:cNvSpPr>
            <p:nvPr/>
          </p:nvSpPr>
          <p:spPr bwMode="auto">
            <a:xfrm>
              <a:off x="2230438" y="774700"/>
              <a:ext cx="288448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 录 </a:t>
              </a:r>
              <a:r>
                <a:rPr lang="en-US" alt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ONTENTS</a:t>
              </a:r>
              <a:endPar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标题 24">
              <a:extLst>
                <a:ext uri="{FF2B5EF4-FFF2-40B4-BE49-F238E27FC236}">
                  <a16:creationId xmlns:a16="http://schemas.microsoft.com/office/drawing/2014/main" id="{541B6201-AA1A-4929-BC86-8BA20E076ED1}"/>
                </a:ext>
              </a:extLst>
            </p:cNvPr>
            <p:cNvSpPr>
              <a:spLocks noChangeArrowheads="1"/>
            </p:cNvSpPr>
            <p:nvPr/>
          </p:nvSpPr>
          <p:spPr bwMode="auto">
            <a:xfrm>
              <a:off x="1435540" y="1102047"/>
              <a:ext cx="895351"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0" name="组合 23">
            <a:extLst>
              <a:ext uri="{FF2B5EF4-FFF2-40B4-BE49-F238E27FC236}">
                <a16:creationId xmlns:a16="http://schemas.microsoft.com/office/drawing/2014/main" id="{16F0A8BE-D773-4A4E-AA73-6A17059B4F74}"/>
              </a:ext>
            </a:extLst>
          </p:cNvPr>
          <p:cNvGrpSpPr>
            <a:grpSpLocks/>
          </p:cNvGrpSpPr>
          <p:nvPr/>
        </p:nvGrpSpPr>
        <p:grpSpPr bwMode="auto">
          <a:xfrm>
            <a:off x="2416175" y="5496644"/>
            <a:ext cx="823913" cy="738664"/>
            <a:chOff x="0" y="0"/>
            <a:chExt cx="713411" cy="717127"/>
          </a:xfrm>
        </p:grpSpPr>
        <p:sp>
          <p:nvSpPr>
            <p:cNvPr id="131" name="矩形​​ 8">
              <a:extLst>
                <a:ext uri="{FF2B5EF4-FFF2-40B4-BE49-F238E27FC236}">
                  <a16:creationId xmlns:a16="http://schemas.microsoft.com/office/drawing/2014/main" id="{2BB80197-32A8-4B32-83B6-A70BE7F29327}"/>
                </a:ext>
              </a:extLst>
            </p:cNvPr>
            <p:cNvSpPr>
              <a:spLocks noChangeArrowheads="1"/>
            </p:cNvSpPr>
            <p:nvPr/>
          </p:nvSpPr>
          <p:spPr bwMode="auto">
            <a:xfrm>
              <a:off x="0" y="22422"/>
              <a:ext cx="713411" cy="624479"/>
            </a:xfrm>
            <a:prstGeom prst="rect">
              <a:avLst/>
            </a:prstGeom>
            <a:solidFill>
              <a:srgbClr val="1B2153"/>
            </a:solidFill>
            <a:ln w="3175">
              <a:solidFill>
                <a:srgbClr val="BFBFBF"/>
              </a:solidFill>
              <a:bevel/>
              <a:headEnd/>
              <a:tailEnd/>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2" name="TextBox 21">
              <a:extLst>
                <a:ext uri="{FF2B5EF4-FFF2-40B4-BE49-F238E27FC236}">
                  <a16:creationId xmlns:a16="http://schemas.microsoft.com/office/drawing/2014/main" id="{B475BF6F-CAFA-4BCC-B40F-B46140BD7A38}"/>
                </a:ext>
              </a:extLst>
            </p:cNvPr>
            <p:cNvSpPr>
              <a:spLocks noChangeArrowheads="1"/>
            </p:cNvSpPr>
            <p:nvPr/>
          </p:nvSpPr>
          <p:spPr bwMode="auto">
            <a:xfrm>
              <a:off x="160536" y="0"/>
              <a:ext cx="419457" cy="717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5</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3" name="矩形​​ 12">
            <a:extLst>
              <a:ext uri="{FF2B5EF4-FFF2-40B4-BE49-F238E27FC236}">
                <a16:creationId xmlns:a16="http://schemas.microsoft.com/office/drawing/2014/main" id="{8B29A40B-4B7D-4AEB-967F-0B3662894783}"/>
              </a:ext>
            </a:extLst>
          </p:cNvPr>
          <p:cNvSpPr>
            <a:spLocks noChangeArrowheads="1"/>
          </p:cNvSpPr>
          <p:nvPr/>
        </p:nvSpPr>
        <p:spPr bwMode="auto">
          <a:xfrm>
            <a:off x="3806825" y="5507757"/>
            <a:ext cx="5953125" cy="693737"/>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4" name="TextBox 135">
            <a:extLst>
              <a:ext uri="{FF2B5EF4-FFF2-40B4-BE49-F238E27FC236}">
                <a16:creationId xmlns:a16="http://schemas.microsoft.com/office/drawing/2014/main" id="{D4CAC222-599C-4E36-935D-DB6EA487EDAA}"/>
              </a:ext>
            </a:extLst>
          </p:cNvPr>
          <p:cNvSpPr>
            <a:spLocks noChangeArrowheads="1"/>
          </p:cNvSpPr>
          <p:nvPr/>
        </p:nvSpPr>
        <p:spPr bwMode="auto">
          <a:xfrm>
            <a:off x="4367213" y="559506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总结与展望</a:t>
            </a:r>
          </a:p>
        </p:txBody>
      </p:sp>
      <p:grpSp>
        <p:nvGrpSpPr>
          <p:cNvPr id="135" name="组合 20">
            <a:extLst>
              <a:ext uri="{FF2B5EF4-FFF2-40B4-BE49-F238E27FC236}">
                <a16:creationId xmlns:a16="http://schemas.microsoft.com/office/drawing/2014/main" id="{D042E1E8-4C8B-452F-B592-0B2DCFD5D95E}"/>
              </a:ext>
            </a:extLst>
          </p:cNvPr>
          <p:cNvGrpSpPr>
            <a:grpSpLocks/>
          </p:cNvGrpSpPr>
          <p:nvPr/>
        </p:nvGrpSpPr>
        <p:grpSpPr bwMode="auto">
          <a:xfrm>
            <a:off x="2395081" y="4592524"/>
            <a:ext cx="842963" cy="784225"/>
            <a:chOff x="0" y="0"/>
            <a:chExt cx="730541" cy="760784"/>
          </a:xfrm>
        </p:grpSpPr>
        <p:sp>
          <p:nvSpPr>
            <p:cNvPr id="136" name="矩形​​ 3">
              <a:extLst>
                <a:ext uri="{FF2B5EF4-FFF2-40B4-BE49-F238E27FC236}">
                  <a16:creationId xmlns:a16="http://schemas.microsoft.com/office/drawing/2014/main" id="{14A5D130-D1A6-42BC-A83D-649C739B0870}"/>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37" name="TextBox 123">
              <a:extLst>
                <a:ext uri="{FF2B5EF4-FFF2-40B4-BE49-F238E27FC236}">
                  <a16:creationId xmlns:a16="http://schemas.microsoft.com/office/drawing/2014/main" id="{C89DE082-B059-4C9D-9638-977F4659934D}"/>
                </a:ext>
              </a:extLst>
            </p:cNvPr>
            <p:cNvSpPr>
              <a:spLocks noChangeArrowheads="1"/>
            </p:cNvSpPr>
            <p:nvPr/>
          </p:nvSpPr>
          <p:spPr bwMode="auto">
            <a:xfrm>
              <a:off x="153486" y="0"/>
              <a:ext cx="419822" cy="71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4</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8" name="矩形​​ 11">
            <a:extLst>
              <a:ext uri="{FF2B5EF4-FFF2-40B4-BE49-F238E27FC236}">
                <a16:creationId xmlns:a16="http://schemas.microsoft.com/office/drawing/2014/main" id="{051C4B68-44D7-4186-9B4C-88B7FFBFE789}"/>
              </a:ext>
            </a:extLst>
          </p:cNvPr>
          <p:cNvSpPr>
            <a:spLocks noChangeArrowheads="1"/>
          </p:cNvSpPr>
          <p:nvPr/>
        </p:nvSpPr>
        <p:spPr bwMode="auto">
          <a:xfrm>
            <a:off x="3776206" y="4608004"/>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9" name="TextBox 134">
            <a:extLst>
              <a:ext uri="{FF2B5EF4-FFF2-40B4-BE49-F238E27FC236}">
                <a16:creationId xmlns:a16="http://schemas.microsoft.com/office/drawing/2014/main" id="{7C5E5D53-5A79-4133-B848-73BC83876351}"/>
              </a:ext>
            </a:extLst>
          </p:cNvPr>
          <p:cNvSpPr>
            <a:spLocks noChangeArrowheads="1"/>
          </p:cNvSpPr>
          <p:nvPr/>
        </p:nvSpPr>
        <p:spPr bwMode="auto">
          <a:xfrm>
            <a:off x="4352469" y="469610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实验结果与分析</a:t>
            </a:r>
          </a:p>
        </p:txBody>
      </p:sp>
      <p:sp>
        <p:nvSpPr>
          <p:cNvPr id="140" name="平行四边形 12">
            <a:extLst>
              <a:ext uri="{FF2B5EF4-FFF2-40B4-BE49-F238E27FC236}">
                <a16:creationId xmlns:a16="http://schemas.microsoft.com/office/drawing/2014/main" id="{F79BBCDD-C7A2-4972-A742-D0B74AEB869C}"/>
              </a:ext>
            </a:extLst>
          </p:cNvPr>
          <p:cNvSpPr>
            <a:spLocks noChangeArrowheads="1"/>
          </p:cNvSpPr>
          <p:nvPr/>
        </p:nvSpPr>
        <p:spPr bwMode="auto">
          <a:xfrm>
            <a:off x="1368425" y="384175"/>
            <a:ext cx="1108075" cy="165100"/>
          </a:xfrm>
          <a:prstGeom prst="parallelogram">
            <a:avLst>
              <a:gd name="adj" fmla="val 24889"/>
            </a:avLst>
          </a:prstGeom>
          <a:solidFill>
            <a:srgbClr val="92D050"/>
          </a:soli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sp>
        <p:nvSpPr>
          <p:cNvPr id="141" name="平行四边形 13">
            <a:extLst>
              <a:ext uri="{FF2B5EF4-FFF2-40B4-BE49-F238E27FC236}">
                <a16:creationId xmlns:a16="http://schemas.microsoft.com/office/drawing/2014/main" id="{816B0470-7DBE-4B95-9EA3-EFC76E994079}"/>
              </a:ext>
            </a:extLst>
          </p:cNvPr>
          <p:cNvSpPr>
            <a:spLocks noChangeArrowheads="1"/>
          </p:cNvSpPr>
          <p:nvPr/>
        </p:nvSpPr>
        <p:spPr bwMode="auto">
          <a:xfrm>
            <a:off x="239713"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nvGrpSpPr>
          <p:cNvPr id="142" name="组合 13">
            <a:extLst>
              <a:ext uri="{FF2B5EF4-FFF2-40B4-BE49-F238E27FC236}">
                <a16:creationId xmlns:a16="http://schemas.microsoft.com/office/drawing/2014/main" id="{1C951E32-616E-46F4-86AC-EC7F16BC7996}"/>
              </a:ext>
            </a:extLst>
          </p:cNvPr>
          <p:cNvGrpSpPr>
            <a:grpSpLocks/>
          </p:cNvGrpSpPr>
          <p:nvPr/>
        </p:nvGrpSpPr>
        <p:grpSpPr bwMode="auto">
          <a:xfrm>
            <a:off x="4763" y="6542088"/>
            <a:ext cx="12192000" cy="320675"/>
            <a:chOff x="4763" y="6500813"/>
            <a:chExt cx="12192000" cy="357187"/>
          </a:xfrm>
        </p:grpSpPr>
        <p:sp>
          <p:nvSpPr>
            <p:cNvPr id="143" name="任意多边形 11">
              <a:extLst>
                <a:ext uri="{FF2B5EF4-FFF2-40B4-BE49-F238E27FC236}">
                  <a16:creationId xmlns:a16="http://schemas.microsoft.com/office/drawing/2014/main" id="{02779C6C-01F3-46E9-AC75-22A362922613}"/>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144" name="平行四边形 13">
              <a:extLst>
                <a:ext uri="{FF2B5EF4-FFF2-40B4-BE49-F238E27FC236}">
                  <a16:creationId xmlns:a16="http://schemas.microsoft.com/office/drawing/2014/main" id="{69CCC94A-4E16-43C7-B464-CBC1366807CD}"/>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151014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4</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pic>
        <p:nvPicPr>
          <p:cNvPr id="26" name="图片 25">
            <a:extLst>
              <a:ext uri="{FF2B5EF4-FFF2-40B4-BE49-F238E27FC236}">
                <a16:creationId xmlns:a16="http://schemas.microsoft.com/office/drawing/2014/main" id="{5013C54D-22CE-4E97-BDF5-0C204E4D69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7645" y="1987107"/>
            <a:ext cx="5369744" cy="2217657"/>
          </a:xfrm>
          <a:prstGeom prst="rect">
            <a:avLst/>
          </a:prstGeom>
        </p:spPr>
      </p:pic>
      <p:sp>
        <p:nvSpPr>
          <p:cNvPr id="11" name="矩形 10">
            <a:extLst>
              <a:ext uri="{FF2B5EF4-FFF2-40B4-BE49-F238E27FC236}">
                <a16:creationId xmlns:a16="http://schemas.microsoft.com/office/drawing/2014/main" id="{39BB8627-EDA5-4182-86DF-AEE43B224432}"/>
              </a:ext>
            </a:extLst>
          </p:cNvPr>
          <p:cNvSpPr/>
          <p:nvPr/>
        </p:nvSpPr>
        <p:spPr>
          <a:xfrm>
            <a:off x="779463" y="4739716"/>
            <a:ext cx="11047926" cy="1289905"/>
          </a:xfrm>
          <a:prstGeom prst="rect">
            <a:avLst/>
          </a:prstGeom>
        </p:spPr>
        <p:txBody>
          <a:bodyPr wrap="square">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HBase</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由行</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和列</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族</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组成，每</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行行键</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按照字典序排列</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每个数据由行键、列族、列、时间戳</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个坐标唯一确定</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利用</a:t>
            </a:r>
            <a:r>
              <a:rPr lang="zh-CN" altLang="en-US" dirty="0">
                <a:latin typeface="微软雅黑" panose="020B0503020204020204" pitchFamily="34" charset="-122"/>
                <a:ea typeface="微软雅黑" panose="020B0503020204020204" pitchFamily="34" charset="-122"/>
              </a:rPr>
              <a:t>协处理器，用户可以编写运行在 </a:t>
            </a:r>
            <a:r>
              <a:rPr lang="en-US" altLang="zh-CN" dirty="0">
                <a:latin typeface="微软雅黑" panose="020B0503020204020204" pitchFamily="34" charset="-122"/>
                <a:ea typeface="微软雅黑" panose="020B0503020204020204" pitchFamily="34" charset="-122"/>
              </a:rPr>
              <a:t>HBase Server </a:t>
            </a:r>
            <a:r>
              <a:rPr lang="zh-CN" altLang="en-US" dirty="0">
                <a:latin typeface="微软雅黑" panose="020B0503020204020204" pitchFamily="34" charset="-122"/>
                <a:ea typeface="微软雅黑" panose="020B0503020204020204" pitchFamily="34" charset="-122"/>
              </a:rPr>
              <a:t>端的代码。</a:t>
            </a:r>
          </a:p>
        </p:txBody>
      </p:sp>
      <p:pic>
        <p:nvPicPr>
          <p:cNvPr id="15" name="图片 14">
            <a:extLst>
              <a:ext uri="{FF2B5EF4-FFF2-40B4-BE49-F238E27FC236}">
                <a16:creationId xmlns:a16="http://schemas.microsoft.com/office/drawing/2014/main" id="{48D5B33D-3B43-4241-8243-01BA2921D193}"/>
              </a:ext>
            </a:extLst>
          </p:cNvPr>
          <p:cNvPicPr>
            <a:picLocks noChangeAspect="1"/>
          </p:cNvPicPr>
          <p:nvPr/>
        </p:nvPicPr>
        <p:blipFill rotWithShape="1">
          <a:blip r:embed="rId4">
            <a:extLst>
              <a:ext uri="{28A0092B-C50C-407E-A947-70E740481C1C}">
                <a14:useLocalDpi xmlns:a14="http://schemas.microsoft.com/office/drawing/2010/main" val="0"/>
              </a:ext>
            </a:extLst>
          </a:blip>
          <a:srcRect l="2530" t="1805" r="1976" b="3937"/>
          <a:stretch/>
        </p:blipFill>
        <p:spPr>
          <a:xfrm>
            <a:off x="779463" y="1499286"/>
            <a:ext cx="4743997" cy="3081979"/>
          </a:xfrm>
          <a:prstGeom prst="rect">
            <a:avLst/>
          </a:prstGeom>
        </p:spPr>
      </p:pic>
    </p:spTree>
    <p:extLst>
      <p:ext uri="{BB962C8B-B14F-4D97-AF65-F5344CB8AC3E}">
        <p14:creationId xmlns:p14="http://schemas.microsoft.com/office/powerpoint/2010/main" val="542071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5</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graphicFrame>
        <p:nvGraphicFramePr>
          <p:cNvPr id="12" name="对象 11">
            <a:extLst>
              <a:ext uri="{FF2B5EF4-FFF2-40B4-BE49-F238E27FC236}">
                <a16:creationId xmlns:a16="http://schemas.microsoft.com/office/drawing/2014/main" id="{5A0ECE83-32C8-43F2-8B0D-1666DAB2A5D6}"/>
              </a:ext>
            </a:extLst>
          </p:cNvPr>
          <p:cNvGraphicFramePr>
            <a:graphicFrameLocks noChangeAspect="1"/>
          </p:cNvGraphicFramePr>
          <p:nvPr>
            <p:extLst>
              <p:ext uri="{D42A27DB-BD31-4B8C-83A1-F6EECF244321}">
                <p14:modId xmlns:p14="http://schemas.microsoft.com/office/powerpoint/2010/main" val="2935651936"/>
              </p:ext>
            </p:extLst>
          </p:nvPr>
        </p:nvGraphicFramePr>
        <p:xfrm>
          <a:off x="5327026" y="1694789"/>
          <a:ext cx="6864974" cy="4334832"/>
        </p:xfrm>
        <a:graphic>
          <a:graphicData uri="http://schemas.openxmlformats.org/presentationml/2006/ole">
            <mc:AlternateContent xmlns:mc="http://schemas.openxmlformats.org/markup-compatibility/2006">
              <mc:Choice xmlns:v="urn:schemas-microsoft-com:vml" Requires="v">
                <p:oleObj spid="_x0000_s1346" name="Visio" r:id="rId4" imgW="6926474" imgH="4206429" progId="Visio.Drawing.15">
                  <p:embed/>
                </p:oleObj>
              </mc:Choice>
              <mc:Fallback>
                <p:oleObj name="Visio" r:id="rId4" imgW="6926474" imgH="4206429" progId="Visio.Drawing.15">
                  <p:embed/>
                  <p:pic>
                    <p:nvPicPr>
                      <p:cNvPr id="0" name="Object 1"/>
                      <p:cNvPicPr>
                        <a:picLocks noChangeAspect="1" noChangeArrowheads="1"/>
                      </p:cNvPicPr>
                      <p:nvPr/>
                    </p:nvPicPr>
                    <p:blipFill>
                      <a:blip r:embed="rId5"/>
                      <a:srcRect/>
                      <a:stretch>
                        <a:fillRect/>
                      </a:stretch>
                    </p:blipFill>
                    <p:spPr bwMode="auto">
                      <a:xfrm>
                        <a:off x="5327026" y="1694789"/>
                        <a:ext cx="6864974" cy="4334832"/>
                      </a:xfrm>
                      <a:prstGeom prst="rect">
                        <a:avLst/>
                      </a:prstGeom>
                      <a:noFill/>
                    </p:spPr>
                  </p:pic>
                </p:oleObj>
              </mc:Fallback>
            </mc:AlternateContent>
          </a:graphicData>
        </a:graphic>
      </p:graphicFrame>
      <p:sp>
        <p:nvSpPr>
          <p:cNvPr id="17" name="矩形 16">
            <a:extLst>
              <a:ext uri="{FF2B5EF4-FFF2-40B4-BE49-F238E27FC236}">
                <a16:creationId xmlns:a16="http://schemas.microsoft.com/office/drawing/2014/main" id="{CC93E3C2-A476-4226-8164-F13A76E021B7}"/>
              </a:ext>
            </a:extLst>
          </p:cNvPr>
          <p:cNvSpPr/>
          <p:nvPr/>
        </p:nvSpPr>
        <p:spPr>
          <a:xfrm>
            <a:off x="197714" y="1176933"/>
            <a:ext cx="1415772"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存储方案</a:t>
            </a:r>
            <a:endParaRPr lang="zh-CN" altLang="en-US" sz="2400" dirty="0"/>
          </a:p>
        </p:txBody>
      </p:sp>
      <p:sp>
        <p:nvSpPr>
          <p:cNvPr id="13" name="矩形 12">
            <a:extLst>
              <a:ext uri="{FF2B5EF4-FFF2-40B4-BE49-F238E27FC236}">
                <a16:creationId xmlns:a16="http://schemas.microsoft.com/office/drawing/2014/main" id="{66CC0117-E04D-4557-8CAC-F9EB651D7978}"/>
              </a:ext>
            </a:extLst>
          </p:cNvPr>
          <p:cNvSpPr/>
          <p:nvPr/>
        </p:nvSpPr>
        <p:spPr>
          <a:xfrm>
            <a:off x="197714" y="1945437"/>
            <a:ext cx="5715419" cy="3500445"/>
          </a:xfrm>
          <a:prstGeom prst="rect">
            <a:avLst/>
          </a:prstGeom>
        </p:spPr>
        <p:txBody>
          <a:bodyPr wrap="square">
            <a:spAutoFit/>
          </a:bodyPr>
          <a:lstStyle/>
          <a:p>
            <a:pPr>
              <a:lnSpc>
                <a:spcPct val="150000"/>
              </a:lnSpc>
            </a:pPr>
            <a:r>
              <a:rPr lang="zh-CN"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元数据</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主要记录数据集的元信息，如包含数据的编码方案、矢量类型、空间参考等信息</a:t>
            </a: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编码表</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用于时空范围查询，</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查询，其主要是为了完成时空矢量对象与时空立方体的映射关系，且编码表中只存储矢量对象的空间位置信息</a:t>
            </a:r>
            <a:endPar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数据表</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用于</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时空矢量对象的属性查询</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47336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6</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7" name="矩形 16">
            <a:extLst>
              <a:ext uri="{FF2B5EF4-FFF2-40B4-BE49-F238E27FC236}">
                <a16:creationId xmlns:a16="http://schemas.microsoft.com/office/drawing/2014/main" id="{CC93E3C2-A476-4226-8164-F13A76E021B7}"/>
              </a:ext>
            </a:extLst>
          </p:cNvPr>
          <p:cNvSpPr/>
          <p:nvPr/>
        </p:nvSpPr>
        <p:spPr>
          <a:xfrm>
            <a:off x="458394" y="1060395"/>
            <a:ext cx="1415772"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元数据表</a:t>
            </a:r>
            <a:endParaRPr lang="zh-CN" altLang="en-US" sz="2400" dirty="0"/>
          </a:p>
        </p:txBody>
      </p:sp>
      <p:graphicFrame>
        <p:nvGraphicFramePr>
          <p:cNvPr id="11" name="表格 10">
            <a:extLst>
              <a:ext uri="{FF2B5EF4-FFF2-40B4-BE49-F238E27FC236}">
                <a16:creationId xmlns:a16="http://schemas.microsoft.com/office/drawing/2014/main" id="{470DC08E-50BF-4F5E-8C4E-6C4D7D62A2D5}"/>
              </a:ext>
            </a:extLst>
          </p:cNvPr>
          <p:cNvGraphicFramePr>
            <a:graphicFrameLocks noGrp="1"/>
          </p:cNvGraphicFramePr>
          <p:nvPr>
            <p:extLst>
              <p:ext uri="{D42A27DB-BD31-4B8C-83A1-F6EECF244321}">
                <p14:modId xmlns:p14="http://schemas.microsoft.com/office/powerpoint/2010/main" val="3931084504"/>
              </p:ext>
            </p:extLst>
          </p:nvPr>
        </p:nvGraphicFramePr>
        <p:xfrm>
          <a:off x="501636" y="1775476"/>
          <a:ext cx="6140450" cy="1513436"/>
        </p:xfrm>
        <a:graphic>
          <a:graphicData uri="http://schemas.openxmlformats.org/drawingml/2006/table">
            <a:tbl>
              <a:tblPr firstRow="1" firstCol="1" bandRow="1">
                <a:tableStyleId>{5940675A-B579-460E-94D1-54222C63F5DA}</a:tableStyleId>
              </a:tblPr>
              <a:tblGrid>
                <a:gridCol w="1454149">
                  <a:extLst>
                    <a:ext uri="{9D8B030D-6E8A-4147-A177-3AD203B41FA5}">
                      <a16:colId xmlns:a16="http://schemas.microsoft.com/office/drawing/2014/main" val="3926931943"/>
                    </a:ext>
                  </a:extLst>
                </a:gridCol>
                <a:gridCol w="546100">
                  <a:extLst>
                    <a:ext uri="{9D8B030D-6E8A-4147-A177-3AD203B41FA5}">
                      <a16:colId xmlns:a16="http://schemas.microsoft.com/office/drawing/2014/main" val="2929107021"/>
                    </a:ext>
                  </a:extLst>
                </a:gridCol>
                <a:gridCol w="565056">
                  <a:extLst>
                    <a:ext uri="{9D8B030D-6E8A-4147-A177-3AD203B41FA5}">
                      <a16:colId xmlns:a16="http://schemas.microsoft.com/office/drawing/2014/main" val="1651086746"/>
                    </a:ext>
                  </a:extLst>
                </a:gridCol>
                <a:gridCol w="666844">
                  <a:extLst>
                    <a:ext uri="{9D8B030D-6E8A-4147-A177-3AD203B41FA5}">
                      <a16:colId xmlns:a16="http://schemas.microsoft.com/office/drawing/2014/main" val="3103780121"/>
                    </a:ext>
                  </a:extLst>
                </a:gridCol>
                <a:gridCol w="822467">
                  <a:extLst>
                    <a:ext uri="{9D8B030D-6E8A-4147-A177-3AD203B41FA5}">
                      <a16:colId xmlns:a16="http://schemas.microsoft.com/office/drawing/2014/main" val="3144237153"/>
                    </a:ext>
                  </a:extLst>
                </a:gridCol>
                <a:gridCol w="760624">
                  <a:extLst>
                    <a:ext uri="{9D8B030D-6E8A-4147-A177-3AD203B41FA5}">
                      <a16:colId xmlns:a16="http://schemas.microsoft.com/office/drawing/2014/main" val="263580961"/>
                    </a:ext>
                  </a:extLst>
                </a:gridCol>
                <a:gridCol w="564334">
                  <a:extLst>
                    <a:ext uri="{9D8B030D-6E8A-4147-A177-3AD203B41FA5}">
                      <a16:colId xmlns:a16="http://schemas.microsoft.com/office/drawing/2014/main" val="3217896639"/>
                    </a:ext>
                  </a:extLst>
                </a:gridCol>
                <a:gridCol w="760876">
                  <a:extLst>
                    <a:ext uri="{9D8B030D-6E8A-4147-A177-3AD203B41FA5}">
                      <a16:colId xmlns:a16="http://schemas.microsoft.com/office/drawing/2014/main" val="1019415373"/>
                    </a:ext>
                  </a:extLst>
                </a:gridCol>
              </a:tblGrid>
              <a:tr h="378359">
                <a:tc>
                  <a:txBody>
                    <a:bodyPr/>
                    <a:lstStyle/>
                    <a:p>
                      <a:pPr algn="ctr">
                        <a:spcAft>
                          <a:spcPts val="0"/>
                        </a:spcAft>
                      </a:pPr>
                      <a:r>
                        <a:rPr lang="en-US" sz="1800" kern="100" dirty="0" err="1">
                          <a:effectLst/>
                          <a:latin typeface="Times New Roman" panose="02020603050405020304" pitchFamily="18" charset="0"/>
                          <a:cs typeface="Times New Roman" panose="02020603050405020304" pitchFamily="18" charset="0"/>
                        </a:rPr>
                        <a:t>RowKey</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gridSpan="7">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E</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056774697"/>
                  </a:ext>
                </a:extLst>
              </a:tr>
              <a:tr h="378359">
                <a:tc rowSpan="3">
                  <a:txBody>
                    <a:bodyPr/>
                    <a:lstStyle/>
                    <a:p>
                      <a:pPr algn="ctr">
                        <a:spcAft>
                          <a:spcPts val="0"/>
                        </a:spcAft>
                      </a:pPr>
                      <a:r>
                        <a:rPr lang="en-US" sz="1800" kern="100">
                          <a:effectLst/>
                          <a:latin typeface="Times New Roman" panose="02020603050405020304" pitchFamily="18" charset="0"/>
                          <a:cs typeface="Times New Roman" panose="02020603050405020304" pitchFamily="18" charset="0"/>
                        </a:rPr>
                        <a:t>DatasetName</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CS</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DT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ST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SR</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a:effectLst/>
                          <a:latin typeface="Times New Roman" panose="02020603050405020304" pitchFamily="18" charset="0"/>
                          <a:cs typeface="Times New Roman" panose="02020603050405020304" pitchFamily="18" charset="0"/>
                        </a:rPr>
                        <a:t>BB</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TN</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DE</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59477565"/>
                  </a:ext>
                </a:extLst>
              </a:tr>
              <a:tr h="378359">
                <a:tc vMerge="1">
                  <a:txBody>
                    <a:bodyPr/>
                    <a:lstStyle/>
                    <a:p>
                      <a:endParaRPr lang="zh-CN" altLang="en-US"/>
                    </a:p>
                  </a:txBody>
                  <a:tcPr/>
                </a:tc>
                <a:tc gridSpan="7">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60973208"/>
                  </a:ext>
                </a:extLst>
              </a:tr>
              <a:tr h="378359">
                <a:tc vMerge="1">
                  <a:txBody>
                    <a:bodyPr/>
                    <a:lstStyle/>
                    <a:p>
                      <a:endParaRPr lang="zh-CN" altLang="en-US"/>
                    </a:p>
                  </a:txBody>
                  <a:tcPr/>
                </a:tc>
                <a:tc>
                  <a:txBody>
                    <a:bodyPr/>
                    <a:lstStyle/>
                    <a:p>
                      <a:pPr algn="ctr">
                        <a:spcAft>
                          <a:spcPts val="0"/>
                        </a:spcAft>
                      </a:pPr>
                      <a:r>
                        <a:rPr lang="en-US" sz="1800" kern="100">
                          <a:effectLst/>
                          <a:latin typeface="Times New Roman" panose="02020603050405020304" pitchFamily="18" charset="0"/>
                          <a:cs typeface="Times New Roman" panose="02020603050405020304" pitchFamily="18" charset="0"/>
                        </a:rPr>
                        <a:t>F1</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F2</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F3</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gridSpan="4">
                  <a:txBody>
                    <a:bodyPr/>
                    <a:lstStyle/>
                    <a:p>
                      <a:pPr algn="ctr">
                        <a:spcAft>
                          <a:spcPts val="0"/>
                        </a:spcAft>
                      </a:pPr>
                      <a:r>
                        <a:rPr lang="en-US" sz="1800" kern="100" dirty="0">
                          <a:effectLst/>
                          <a:latin typeface="Times New Roman" panose="02020603050405020304" pitchFamily="18" charset="0"/>
                          <a:cs typeface="Times New Roman" panose="02020603050405020304" pitchFamily="18" charset="0"/>
                        </a:rPr>
                        <a: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05374928"/>
                  </a:ext>
                </a:extLst>
              </a:tr>
            </a:tbl>
          </a:graphicData>
        </a:graphic>
      </p:graphicFrame>
      <p:graphicFrame>
        <p:nvGraphicFramePr>
          <p:cNvPr id="15" name="表格 14">
            <a:extLst>
              <a:ext uri="{FF2B5EF4-FFF2-40B4-BE49-F238E27FC236}">
                <a16:creationId xmlns:a16="http://schemas.microsoft.com/office/drawing/2014/main" id="{4001447B-CEF1-4ABB-B86A-64B57A8CDED0}"/>
              </a:ext>
            </a:extLst>
          </p:cNvPr>
          <p:cNvGraphicFramePr>
            <a:graphicFrameLocks noGrp="1"/>
          </p:cNvGraphicFramePr>
          <p:nvPr>
            <p:extLst>
              <p:ext uri="{D42A27DB-BD31-4B8C-83A1-F6EECF244321}">
                <p14:modId xmlns:p14="http://schemas.microsoft.com/office/powerpoint/2010/main" val="2570980138"/>
              </p:ext>
            </p:extLst>
          </p:nvPr>
        </p:nvGraphicFramePr>
        <p:xfrm>
          <a:off x="527050" y="4344916"/>
          <a:ext cx="5291569" cy="1684705"/>
        </p:xfrm>
        <a:graphic>
          <a:graphicData uri="http://schemas.openxmlformats.org/drawingml/2006/table">
            <a:tbl>
              <a:tblPr firstRow="1" firstCol="1" bandRow="1">
                <a:tableStyleId>{5940675A-B579-460E-94D1-54222C63F5DA}</a:tableStyleId>
              </a:tblPr>
              <a:tblGrid>
                <a:gridCol w="1543050">
                  <a:extLst>
                    <a:ext uri="{9D8B030D-6E8A-4147-A177-3AD203B41FA5}">
                      <a16:colId xmlns:a16="http://schemas.microsoft.com/office/drawing/2014/main" val="266501745"/>
                    </a:ext>
                  </a:extLst>
                </a:gridCol>
                <a:gridCol w="3748519">
                  <a:extLst>
                    <a:ext uri="{9D8B030D-6E8A-4147-A177-3AD203B41FA5}">
                      <a16:colId xmlns:a16="http://schemas.microsoft.com/office/drawing/2014/main" val="1343069662"/>
                    </a:ext>
                  </a:extLst>
                </a:gridCol>
              </a:tblGrid>
              <a:tr h="365760">
                <a:tc rowSpan="2">
                  <a:txBody>
                    <a:bodyPr/>
                    <a:lstStyle/>
                    <a:p>
                      <a:pPr indent="304800" algn="l">
                        <a:lnSpc>
                          <a:spcPct val="150000"/>
                        </a:lnSpc>
                        <a:spcAft>
                          <a:spcPts val="0"/>
                        </a:spcAft>
                      </a:pPr>
                      <a:r>
                        <a:rPr lang="en-US" sz="1800" kern="100" dirty="0" err="1">
                          <a:solidFill>
                            <a:schemeClr val="tx1"/>
                          </a:solidFill>
                          <a:effectLst/>
                          <a:latin typeface="Times New Roman" panose="02020603050405020304" pitchFamily="18" charset="0"/>
                          <a:ea typeface="+mn-ea"/>
                          <a:cs typeface="Times New Roman" panose="02020603050405020304" pitchFamily="18" charset="0"/>
                        </a:rPr>
                        <a:t>RowKey</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304800" algn="ctr">
                        <a:lnSpc>
                          <a:spcPct val="150000"/>
                        </a:lnSpc>
                        <a:spcAft>
                          <a:spcPts val="0"/>
                        </a:spcAft>
                      </a:pPr>
                      <a:r>
                        <a:rPr lang="en-US" sz="1800" kern="100" dirty="0">
                          <a:solidFill>
                            <a:schemeClr val="tx1"/>
                          </a:solidFill>
                          <a:effectLst/>
                          <a:latin typeface="Times New Roman" panose="02020603050405020304" pitchFamily="18" charset="0"/>
                          <a:ea typeface="+mn-ea"/>
                          <a:cs typeface="Times New Roman" panose="02020603050405020304" pitchFamily="18" charset="0"/>
                        </a:rPr>
                        <a:t>F</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718126703"/>
                  </a:ext>
                </a:extLst>
              </a:tr>
              <a:tr h="365760">
                <a:tc vMerge="1">
                  <a:txBody>
                    <a:bodyPr/>
                    <a:lstStyle/>
                    <a:p>
                      <a:endParaRPr lang="zh-CN" altLang="en-US"/>
                    </a:p>
                  </a:txBody>
                  <a:tcPr/>
                </a:tc>
                <a:tc>
                  <a:txBody>
                    <a:bodyPr/>
                    <a:lstStyle/>
                    <a:p>
                      <a:pPr indent="304800" algn="ctr">
                        <a:lnSpc>
                          <a:spcPct val="150000"/>
                        </a:lnSpc>
                        <a:spcAft>
                          <a:spcPts val="0"/>
                        </a:spcAft>
                      </a:pPr>
                      <a:r>
                        <a:rPr lang="en-US" altLang="zh-CN" sz="1800" kern="100" dirty="0">
                          <a:solidFill>
                            <a:schemeClr val="tx1"/>
                          </a:solidFill>
                          <a:effectLst/>
                          <a:latin typeface="Times New Roman" panose="02020603050405020304" pitchFamily="18" charset="0"/>
                          <a:ea typeface="+mn-ea"/>
                          <a:cs typeface="Times New Roman" panose="02020603050405020304" pitchFamily="18" charset="0"/>
                        </a:rPr>
                        <a:t>V</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064759502"/>
                  </a:ext>
                </a:extLst>
              </a:tr>
              <a:tr h="465748">
                <a:tc>
                  <a:txBody>
                    <a:bodyPr/>
                    <a:lstStyle/>
                    <a:p>
                      <a:pPr indent="304800" algn="l">
                        <a:lnSpc>
                          <a:spcPct val="150000"/>
                        </a:lnSpc>
                        <a:spcAft>
                          <a:spcPts val="0"/>
                        </a:spcAft>
                      </a:pPr>
                      <a:r>
                        <a:rPr lang="en-US" sz="1800" kern="100" dirty="0">
                          <a:solidFill>
                            <a:schemeClr val="tx1"/>
                          </a:solidFill>
                          <a:effectLst/>
                          <a:latin typeface="Times New Roman" panose="02020603050405020304" pitchFamily="18" charset="0"/>
                          <a:ea typeface="+mn-ea"/>
                          <a:cs typeface="Times New Roman" panose="02020603050405020304" pitchFamily="18" charset="0"/>
                        </a:rPr>
                        <a:t>ObjectID1</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indent="304800" algn="ctr">
                        <a:lnSpc>
                          <a:spcPct val="150000"/>
                        </a:lnSpc>
                        <a:spcAft>
                          <a:spcPts val="0"/>
                        </a:spcAft>
                      </a:pPr>
                      <a:r>
                        <a:rPr lang="en-US" sz="1800" kern="100" dirty="0">
                          <a:solidFill>
                            <a:schemeClr val="tx1"/>
                          </a:solidFill>
                          <a:effectLst/>
                          <a:latin typeface="Times New Roman" panose="02020603050405020304" pitchFamily="18" charset="0"/>
                          <a:ea typeface="+mn-ea"/>
                          <a:cs typeface="Times New Roman" panose="02020603050405020304" pitchFamily="18" charset="0"/>
                        </a:rPr>
                        <a:t>Value1</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extLst>
                  <a:ext uri="{0D108BD9-81ED-4DB2-BD59-A6C34878D82A}">
                    <a16:rowId xmlns:a16="http://schemas.microsoft.com/office/drawing/2014/main" val="4277437303"/>
                  </a:ext>
                </a:extLst>
              </a:tr>
              <a:tr h="487437">
                <a:tc>
                  <a:txBody>
                    <a:bodyPr/>
                    <a:lstStyle/>
                    <a:p>
                      <a:pPr marL="0" marR="0" lvl="0" indent="304800" algn="l" defTabSz="914400" rtl="0" eaLnBrk="1" fontAlgn="auto" latinLnBrk="0" hangingPunct="1">
                        <a:lnSpc>
                          <a:spcPct val="150000"/>
                        </a:lnSpc>
                        <a:spcBef>
                          <a:spcPts val="0"/>
                        </a:spcBef>
                        <a:spcAft>
                          <a:spcPts val="0"/>
                        </a:spcAft>
                        <a:buClrTx/>
                        <a:buSzTx/>
                        <a:buFontTx/>
                        <a:buNone/>
                        <a:tabLst/>
                        <a:defRPr/>
                      </a:pPr>
                      <a:r>
                        <a:rPr lang="en-US" altLang="zh-CN" sz="1800" kern="100" dirty="0">
                          <a:solidFill>
                            <a:schemeClr val="tx1"/>
                          </a:solidFill>
                          <a:effectLst/>
                          <a:latin typeface="Times New Roman" panose="02020603050405020304" pitchFamily="18" charset="0"/>
                          <a:ea typeface="+mn-ea"/>
                          <a:cs typeface="Times New Roman" panose="02020603050405020304" pitchFamily="18" charset="0"/>
                        </a:rPr>
                        <a:t>ObjectID2</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marL="0" marR="0" lvl="0" indent="304800" algn="ctr" defTabSz="914400" rtl="0" eaLnBrk="1" fontAlgn="auto" latinLnBrk="0" hangingPunct="1">
                        <a:lnSpc>
                          <a:spcPct val="150000"/>
                        </a:lnSpc>
                        <a:spcBef>
                          <a:spcPts val="0"/>
                        </a:spcBef>
                        <a:spcAft>
                          <a:spcPts val="0"/>
                        </a:spcAft>
                        <a:buClrTx/>
                        <a:buSzTx/>
                        <a:buFontTx/>
                        <a:buNone/>
                        <a:tabLst/>
                        <a:defRPr/>
                      </a:pPr>
                      <a:r>
                        <a:rPr lang="en-US" altLang="zh-CN" sz="1800" kern="100" dirty="0">
                          <a:solidFill>
                            <a:schemeClr val="tx1"/>
                          </a:solidFill>
                          <a:effectLst/>
                          <a:latin typeface="Times New Roman" panose="02020603050405020304" pitchFamily="18" charset="0"/>
                          <a:ea typeface="+mn-ea"/>
                          <a:cs typeface="Times New Roman" panose="02020603050405020304" pitchFamily="18" charset="0"/>
                        </a:rPr>
                        <a:t>Value2</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87096869"/>
                  </a:ext>
                </a:extLst>
              </a:tr>
            </a:tbl>
          </a:graphicData>
        </a:graphic>
      </p:graphicFrame>
      <p:sp>
        <p:nvSpPr>
          <p:cNvPr id="16" name="矩形 15">
            <a:extLst>
              <a:ext uri="{FF2B5EF4-FFF2-40B4-BE49-F238E27FC236}">
                <a16:creationId xmlns:a16="http://schemas.microsoft.com/office/drawing/2014/main" id="{F41E1651-5F0B-4847-9666-D0B6646E072A}"/>
              </a:ext>
            </a:extLst>
          </p:cNvPr>
          <p:cNvSpPr/>
          <p:nvPr/>
        </p:nvSpPr>
        <p:spPr>
          <a:xfrm>
            <a:off x="501636" y="3713167"/>
            <a:ext cx="1107996"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数据表</a:t>
            </a:r>
            <a:endParaRPr lang="zh-CN" altLang="en-US" sz="2400" dirty="0"/>
          </a:p>
        </p:txBody>
      </p:sp>
      <p:grpSp>
        <p:nvGrpSpPr>
          <p:cNvPr id="22" name="组合 21">
            <a:extLst>
              <a:ext uri="{FF2B5EF4-FFF2-40B4-BE49-F238E27FC236}">
                <a16:creationId xmlns:a16="http://schemas.microsoft.com/office/drawing/2014/main" id="{CDB7E7A0-C10E-459E-8880-B015CE0AC822}"/>
              </a:ext>
            </a:extLst>
          </p:cNvPr>
          <p:cNvGrpSpPr/>
          <p:nvPr/>
        </p:nvGrpSpPr>
        <p:grpSpPr>
          <a:xfrm>
            <a:off x="8567236" y="1127217"/>
            <a:ext cx="2971800" cy="3297196"/>
            <a:chOff x="8567236" y="1127217"/>
            <a:chExt cx="2971800" cy="3297196"/>
          </a:xfrm>
        </p:grpSpPr>
        <p:sp>
          <p:nvSpPr>
            <p:cNvPr id="14" name="矩形 13">
              <a:extLst>
                <a:ext uri="{FF2B5EF4-FFF2-40B4-BE49-F238E27FC236}">
                  <a16:creationId xmlns:a16="http://schemas.microsoft.com/office/drawing/2014/main" id="{FAD7D4F8-1924-4DAD-8945-39E117B4A879}"/>
                </a:ext>
              </a:extLst>
            </p:cNvPr>
            <p:cNvSpPr/>
            <p:nvPr/>
          </p:nvSpPr>
          <p:spPr>
            <a:xfrm>
              <a:off x="8567236" y="1127217"/>
              <a:ext cx="2971800" cy="329719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29DD767E-901A-4113-ABC3-B1CFC9C5D8D7}"/>
                </a:ext>
              </a:extLst>
            </p:cNvPr>
            <p:cNvSpPr txBox="1"/>
            <p:nvPr/>
          </p:nvSpPr>
          <p:spPr>
            <a:xfrm>
              <a:off x="8772148" y="1201364"/>
              <a:ext cx="2697480" cy="2951705"/>
            </a:xfrm>
            <a:prstGeom prst="rect">
              <a:avLst/>
            </a:prstGeom>
            <a:noFill/>
            <a:effectLst>
              <a:glow rad="63500">
                <a:schemeClr val="accent1">
                  <a:satMod val="175000"/>
                  <a:alpha val="40000"/>
                </a:schemeClr>
              </a:glow>
            </a:effectLst>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：编码方案</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：矢量类型</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SR</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：空间参考</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BB</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：数据集最小包围盒</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TN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：数据集总记录数</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：数据集描述信息</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：字段描述</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3" name="组合 22">
            <a:extLst>
              <a:ext uri="{FF2B5EF4-FFF2-40B4-BE49-F238E27FC236}">
                <a16:creationId xmlns:a16="http://schemas.microsoft.com/office/drawing/2014/main" id="{ABF4254E-32BC-4BCC-8BBB-122AF3FE1152}"/>
              </a:ext>
            </a:extLst>
          </p:cNvPr>
          <p:cNvGrpSpPr/>
          <p:nvPr/>
        </p:nvGrpSpPr>
        <p:grpSpPr>
          <a:xfrm>
            <a:off x="6807724" y="4714779"/>
            <a:ext cx="5165652" cy="978806"/>
            <a:chOff x="6807724" y="4714779"/>
            <a:chExt cx="5165652" cy="978806"/>
          </a:xfrm>
        </p:grpSpPr>
        <p:sp>
          <p:nvSpPr>
            <p:cNvPr id="18" name="文本框 17">
              <a:extLst>
                <a:ext uri="{FF2B5EF4-FFF2-40B4-BE49-F238E27FC236}">
                  <a16:creationId xmlns:a16="http://schemas.microsoft.com/office/drawing/2014/main" id="{A4AFB946-17F8-4823-A3FB-239554CFCFF6}"/>
                </a:ext>
              </a:extLst>
            </p:cNvPr>
            <p:cNvSpPr txBox="1"/>
            <p:nvPr/>
          </p:nvSpPr>
          <p:spPr>
            <a:xfrm>
              <a:off x="7148008" y="4957910"/>
              <a:ext cx="4825368" cy="458715"/>
            </a:xfrm>
            <a:prstGeom prst="rect">
              <a:avLst/>
            </a:prstGeom>
            <a:noFill/>
            <a:effectLst>
              <a:glow rad="63500">
                <a:schemeClr val="accent1">
                  <a:satMod val="175000"/>
                  <a:alpha val="40000"/>
                </a:schemeClr>
              </a:glow>
            </a:effectLst>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Rowkey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既可以是对象</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ID</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，也可以是其他字段</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0A11B5A8-2C8E-4C71-ACE4-F49146443C27}"/>
                </a:ext>
              </a:extLst>
            </p:cNvPr>
            <p:cNvSpPr/>
            <p:nvPr/>
          </p:nvSpPr>
          <p:spPr>
            <a:xfrm>
              <a:off x="6807724" y="4714779"/>
              <a:ext cx="5165652" cy="97880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0" name="箭头: 右 19">
            <a:extLst>
              <a:ext uri="{FF2B5EF4-FFF2-40B4-BE49-F238E27FC236}">
                <a16:creationId xmlns:a16="http://schemas.microsoft.com/office/drawing/2014/main" id="{1A85C4F3-C7B7-4BD7-8FE8-E132890CC8A3}"/>
              </a:ext>
            </a:extLst>
          </p:cNvPr>
          <p:cNvSpPr/>
          <p:nvPr/>
        </p:nvSpPr>
        <p:spPr>
          <a:xfrm>
            <a:off x="7178905" y="2400300"/>
            <a:ext cx="857250" cy="38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428CDC66-23A5-438C-800B-C399D06CC641}"/>
              </a:ext>
            </a:extLst>
          </p:cNvPr>
          <p:cNvSpPr/>
          <p:nvPr/>
        </p:nvSpPr>
        <p:spPr>
          <a:xfrm>
            <a:off x="5907052" y="4957910"/>
            <a:ext cx="735034" cy="38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8700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anim calcmode="lin" valueType="num">
                                      <p:cBhvr>
                                        <p:cTn id="12" dur="1000" fill="hold"/>
                                        <p:tgtEl>
                                          <p:spTgt spid="22"/>
                                        </p:tgtEl>
                                        <p:attrNameLst>
                                          <p:attrName>ppt_x</p:attrName>
                                        </p:attrNameLst>
                                      </p:cBhvr>
                                      <p:tavLst>
                                        <p:tav tm="0">
                                          <p:val>
                                            <p:strVal val="#ppt_x"/>
                                          </p:val>
                                        </p:tav>
                                        <p:tav tm="100000">
                                          <p:val>
                                            <p:strVal val="#ppt_x"/>
                                          </p:val>
                                        </p:tav>
                                      </p:tavLst>
                                    </p:anim>
                                    <p:anim calcmode="lin" valueType="num">
                                      <p:cBhvr>
                                        <p:cTn id="1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7</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1" name="矩形 10">
            <a:extLst>
              <a:ext uri="{FF2B5EF4-FFF2-40B4-BE49-F238E27FC236}">
                <a16:creationId xmlns:a16="http://schemas.microsoft.com/office/drawing/2014/main" id="{32F13D7A-80A1-428F-8164-4298AF688F3E}"/>
              </a:ext>
            </a:extLst>
          </p:cNvPr>
          <p:cNvSpPr/>
          <p:nvPr/>
        </p:nvSpPr>
        <p:spPr>
          <a:xfrm>
            <a:off x="675490" y="2445675"/>
            <a:ext cx="4807620" cy="874407"/>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Ø"/>
            </a:pPr>
            <a:r>
              <a:rPr lang="zh-CN"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时间编码</a:t>
            </a:r>
            <a:endParaRPr lang="zh-CN" altLang="zh-CN" sz="1400" b="1"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spcAft>
                <a:spcPts val="0"/>
              </a:spcAft>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）粒度，</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）起点，</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）顺序</a:t>
            </a:r>
            <a:endParaRPr lang="zh-CN" alt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D691FF99-0CBF-44F5-B957-0F614CED6279}"/>
              </a:ext>
            </a:extLst>
          </p:cNvPr>
          <p:cNvSpPr/>
          <p:nvPr/>
        </p:nvSpPr>
        <p:spPr>
          <a:xfrm>
            <a:off x="656467" y="1287424"/>
            <a:ext cx="3790950" cy="874407"/>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Ø"/>
            </a:pPr>
            <a:r>
              <a:rPr lang="zh-CN" altLang="zh-CN"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空间编码</a:t>
            </a:r>
            <a:endParaRPr lang="zh-CN" altLang="zh-CN" sz="1400" b="1" kern="1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利用</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空间填充曲线</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进行编码</a:t>
            </a:r>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957198E-9FA4-42B5-A5F3-764C2DEBA1E0}"/>
              </a:ext>
            </a:extLst>
          </p:cNvPr>
          <p:cNvSpPr txBox="1"/>
          <p:nvPr/>
        </p:nvSpPr>
        <p:spPr>
          <a:xfrm>
            <a:off x="5923731" y="1083678"/>
            <a:ext cx="5225446" cy="2345322"/>
          </a:xfrm>
          <a:prstGeom prst="rect">
            <a:avLst/>
          </a:prstGeom>
          <a:noFill/>
        </p:spPr>
        <p:txBody>
          <a:bodyPr wrap="square" rtlCol="0">
            <a:spAutoFit/>
          </a:bodyPr>
          <a:lstStyle/>
          <a:p>
            <a:endParaRPr lang="en-US" altLang="zh-CN" sz="2000" dirty="0">
              <a:latin typeface="Times New Roman" panose="02020603050405020304" pitchFamily="18" charset="0"/>
              <a:cs typeface="Times New Roman" panose="02020603050405020304" pitchFamily="18" charset="0"/>
            </a:endParaRPr>
          </a:p>
          <a:p>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rPr>
              <a:t>串接方式：</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ST: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空间编码在前</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粗粒度时间编码在后的</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TS: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粗粒度时间在前</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空间编码在后</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TST: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两个</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粒度</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下的</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时间在两边，空间编码</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中间</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7" name="图片 16">
            <a:extLst>
              <a:ext uri="{FF2B5EF4-FFF2-40B4-BE49-F238E27FC236}">
                <a16:creationId xmlns:a16="http://schemas.microsoft.com/office/drawing/2014/main" id="{A039BAB6-2A6F-45CE-80B7-8FC18299F61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3671" y="3603926"/>
            <a:ext cx="7258877" cy="2511680"/>
          </a:xfrm>
          <a:prstGeom prst="rect">
            <a:avLst/>
          </a:prstGeom>
          <a:noFill/>
          <a:ln>
            <a:noFill/>
          </a:ln>
        </p:spPr>
      </p:pic>
    </p:spTree>
    <p:extLst>
      <p:ext uri="{BB962C8B-B14F-4D97-AF65-F5344CB8AC3E}">
        <p14:creationId xmlns:p14="http://schemas.microsoft.com/office/powerpoint/2010/main" val="1852456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8</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7" name="矩形 16">
            <a:extLst>
              <a:ext uri="{FF2B5EF4-FFF2-40B4-BE49-F238E27FC236}">
                <a16:creationId xmlns:a16="http://schemas.microsoft.com/office/drawing/2014/main" id="{CC93E3C2-A476-4226-8164-F13A76E021B7}"/>
              </a:ext>
            </a:extLst>
          </p:cNvPr>
          <p:cNvSpPr/>
          <p:nvPr/>
        </p:nvSpPr>
        <p:spPr>
          <a:xfrm>
            <a:off x="274638" y="992956"/>
            <a:ext cx="2271776"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编码表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点对象</a:t>
            </a:r>
            <a:r>
              <a:rPr lang="en-US" altLang="zh-CN" sz="2400" b="1" dirty="0">
                <a:latin typeface="微软雅黑" panose="020B0503020204020204" pitchFamily="34" charset="-122"/>
                <a:ea typeface="微软雅黑" panose="020B0503020204020204" pitchFamily="34" charset="-122"/>
              </a:rPr>
              <a:t>)</a:t>
            </a:r>
            <a:endParaRPr lang="zh-CN" altLang="en-US" sz="2400" dirty="0"/>
          </a:p>
        </p:txBody>
      </p:sp>
      <p:graphicFrame>
        <p:nvGraphicFramePr>
          <p:cNvPr id="11" name="表格 10">
            <a:extLst>
              <a:ext uri="{FF2B5EF4-FFF2-40B4-BE49-F238E27FC236}">
                <a16:creationId xmlns:a16="http://schemas.microsoft.com/office/drawing/2014/main" id="{130FEE53-F4EB-445C-8685-9204F6FBDD51}"/>
              </a:ext>
            </a:extLst>
          </p:cNvPr>
          <p:cNvGraphicFramePr>
            <a:graphicFrameLocks noGrp="1"/>
          </p:cNvGraphicFramePr>
          <p:nvPr>
            <p:extLst>
              <p:ext uri="{D42A27DB-BD31-4B8C-83A1-F6EECF244321}">
                <p14:modId xmlns:p14="http://schemas.microsoft.com/office/powerpoint/2010/main" val="3407097661"/>
              </p:ext>
            </p:extLst>
          </p:nvPr>
        </p:nvGraphicFramePr>
        <p:xfrm>
          <a:off x="4727894" y="1382763"/>
          <a:ext cx="7189468" cy="1504882"/>
        </p:xfrm>
        <a:graphic>
          <a:graphicData uri="http://schemas.openxmlformats.org/drawingml/2006/table">
            <a:tbl>
              <a:tblPr firstRow="1" firstCol="1" bandRow="1">
                <a:tableStyleId>{5940675A-B579-460E-94D1-54222C63F5DA}</a:tableStyleId>
              </a:tblPr>
              <a:tblGrid>
                <a:gridCol w="1367236">
                  <a:extLst>
                    <a:ext uri="{9D8B030D-6E8A-4147-A177-3AD203B41FA5}">
                      <a16:colId xmlns:a16="http://schemas.microsoft.com/office/drawing/2014/main" val="554882241"/>
                    </a:ext>
                  </a:extLst>
                </a:gridCol>
                <a:gridCol w="1424172">
                  <a:extLst>
                    <a:ext uri="{9D8B030D-6E8A-4147-A177-3AD203B41FA5}">
                      <a16:colId xmlns:a16="http://schemas.microsoft.com/office/drawing/2014/main" val="686743353"/>
                    </a:ext>
                  </a:extLst>
                </a:gridCol>
                <a:gridCol w="1185371">
                  <a:extLst>
                    <a:ext uri="{9D8B030D-6E8A-4147-A177-3AD203B41FA5}">
                      <a16:colId xmlns:a16="http://schemas.microsoft.com/office/drawing/2014/main" val="3778253640"/>
                    </a:ext>
                  </a:extLst>
                </a:gridCol>
                <a:gridCol w="1229685">
                  <a:extLst>
                    <a:ext uri="{9D8B030D-6E8A-4147-A177-3AD203B41FA5}">
                      <a16:colId xmlns:a16="http://schemas.microsoft.com/office/drawing/2014/main" val="4003517598"/>
                    </a:ext>
                  </a:extLst>
                </a:gridCol>
                <a:gridCol w="1185371">
                  <a:extLst>
                    <a:ext uri="{9D8B030D-6E8A-4147-A177-3AD203B41FA5}">
                      <a16:colId xmlns:a16="http://schemas.microsoft.com/office/drawing/2014/main" val="3184309758"/>
                    </a:ext>
                  </a:extLst>
                </a:gridCol>
                <a:gridCol w="797633">
                  <a:extLst>
                    <a:ext uri="{9D8B030D-6E8A-4147-A177-3AD203B41FA5}">
                      <a16:colId xmlns:a16="http://schemas.microsoft.com/office/drawing/2014/main" val="3015722492"/>
                    </a:ext>
                  </a:extLst>
                </a:gridCol>
              </a:tblGrid>
              <a:tr h="372369">
                <a:tc rowSpan="2">
                  <a:txBody>
                    <a:bodyPr/>
                    <a:lstStyle/>
                    <a:p>
                      <a:pPr algn="ctr">
                        <a:lnSpc>
                          <a:spcPct val="150000"/>
                        </a:lnSpc>
                        <a:spcAft>
                          <a:spcPts val="0"/>
                        </a:spcAft>
                      </a:pPr>
                      <a:r>
                        <a:rPr lang="en-US" sz="1800" kern="100" dirty="0" err="1">
                          <a:effectLst/>
                          <a:latin typeface="Times New Roman" panose="02020603050405020304" pitchFamily="18" charset="0"/>
                          <a:cs typeface="Times New Roman" panose="02020603050405020304" pitchFamily="18" charset="0"/>
                        </a:rPr>
                        <a:t>RowKey</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gridSpan="5">
                  <a:txBody>
                    <a:bodyPr/>
                    <a:lstStyle/>
                    <a:p>
                      <a:pPr indent="2540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indent="254000" algn="ctr">
                        <a:lnSpc>
                          <a:spcPct val="150000"/>
                        </a:lnSpc>
                        <a:spcAft>
                          <a:spcPts val="0"/>
                        </a:spcAft>
                      </a:pP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07527711"/>
                  </a:ext>
                </a:extLst>
              </a:tr>
              <a:tr h="372369">
                <a:tc vMerge="1">
                  <a:txBody>
                    <a:bodyPr/>
                    <a:lstStyle/>
                    <a:p>
                      <a:endParaRPr lang="zh-CN" altLang="en-US"/>
                    </a:p>
                  </a:txBody>
                  <a:tcPr/>
                </a:tc>
                <a:tc>
                  <a:txBody>
                    <a:bodyPr/>
                    <a:lstStyle/>
                    <a:p>
                      <a:pPr indent="254000" algn="ctr">
                        <a:lnSpc>
                          <a:spcPct val="100000"/>
                        </a:lnSpc>
                        <a:spcAft>
                          <a:spcPts val="0"/>
                        </a:spcAft>
                      </a:pPr>
                      <a:r>
                        <a:rPr lang="en-US" altLang="zh-CN" sz="1800" kern="100" dirty="0">
                          <a:solidFill>
                            <a:schemeClr val="tx1"/>
                          </a:solidFill>
                          <a:effectLst/>
                          <a:latin typeface="Times New Roman" panose="02020603050405020304" pitchFamily="18" charset="0"/>
                          <a:ea typeface="+mn-ea"/>
                          <a:cs typeface="Times New Roman" panose="02020603050405020304" pitchFamily="18" charset="0"/>
                        </a:rPr>
                        <a:t>ObjectID1</a:t>
                      </a:r>
                      <a:endParaRPr lang="zh-CN" altLang="en-US" sz="1800" kern="1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tc>
                <a:tc>
                  <a:txBody>
                    <a:bodyPr/>
                    <a:lstStyle/>
                    <a:p>
                      <a:pPr algn="ctr"/>
                      <a:r>
                        <a:rPr lang="en-US" altLang="zh-CN" sz="1800" kern="100" dirty="0">
                          <a:effectLst/>
                          <a:latin typeface="Times New Roman" panose="02020603050405020304" pitchFamily="18" charset="0"/>
                          <a:cs typeface="Times New Roman" panose="02020603050405020304" pitchFamily="18" charset="0"/>
                        </a:rPr>
                        <a:t>ObjectID2</a:t>
                      </a:r>
                      <a:endParaRPr lang="zh-CN" altLang="en-US" dirty="0"/>
                    </a:p>
                  </a:txBody>
                  <a:tcPr marL="68580" marR="68580" marT="0" marB="0" anchor="ctr"/>
                </a:tc>
                <a:tc>
                  <a:txBody>
                    <a:bodyPr/>
                    <a:lstStyle/>
                    <a:p>
                      <a:pPr algn="ctr"/>
                      <a:r>
                        <a:rPr lang="en-US" altLang="zh-CN" sz="1800" kern="100" dirty="0">
                          <a:effectLst/>
                          <a:latin typeface="Times New Roman" panose="02020603050405020304" pitchFamily="18" charset="0"/>
                          <a:cs typeface="Times New Roman" panose="02020603050405020304" pitchFamily="18" charset="0"/>
                        </a:rPr>
                        <a:t>ObjectID3</a:t>
                      </a:r>
                      <a:endParaRPr lang="zh-CN" altLang="en-US" dirty="0"/>
                    </a:p>
                  </a:txBody>
                  <a:tcPr marL="68580" marR="68580" marT="0" marB="0" anchor="ctr"/>
                </a:tc>
                <a:tc>
                  <a:txBody>
                    <a:bodyPr/>
                    <a:lstStyle/>
                    <a:p>
                      <a:pPr algn="ctr"/>
                      <a:r>
                        <a:rPr lang="en-US" altLang="zh-CN" sz="1800" kern="100" dirty="0">
                          <a:effectLst/>
                          <a:latin typeface="Times New Roman" panose="02020603050405020304" pitchFamily="18" charset="0"/>
                          <a:cs typeface="Times New Roman" panose="02020603050405020304" pitchFamily="18" charset="0"/>
                        </a:rPr>
                        <a:t>ObjectID4</a:t>
                      </a:r>
                      <a:endParaRPr lang="zh-CN" altLang="en-US" dirty="0"/>
                    </a:p>
                  </a:txBody>
                  <a:tcPr marL="68580" marR="68580" marT="0" marB="0" anchor="ctr"/>
                </a:tc>
                <a:tc>
                  <a:txBody>
                    <a:bodyPr/>
                    <a:lstStyle/>
                    <a:p>
                      <a:pPr algn="ctr"/>
                      <a:r>
                        <a:rPr lang="en-US" altLang="zh-CN" dirty="0"/>
                        <a:t>  …</a:t>
                      </a:r>
                      <a:endParaRPr lang="zh-CN" altLang="en-US" dirty="0"/>
                    </a:p>
                  </a:txBody>
                  <a:tcPr marL="68580" marR="68580" marT="0" marB="0" anchor="ctr"/>
                </a:tc>
                <a:extLst>
                  <a:ext uri="{0D108BD9-81ED-4DB2-BD59-A6C34878D82A}">
                    <a16:rowId xmlns:a16="http://schemas.microsoft.com/office/drawing/2014/main" val="3360386786"/>
                  </a:ext>
                </a:extLst>
              </a:tr>
              <a:tr h="380072">
                <a:tc>
                  <a:txBody>
                    <a:bodyPr/>
                    <a:lstStyle/>
                    <a:p>
                      <a:pPr indent="127000" algn="ctr">
                        <a:lnSpc>
                          <a:spcPct val="150000"/>
                        </a:lnSpc>
                        <a:spcAft>
                          <a:spcPts val="0"/>
                        </a:spcAft>
                      </a:pP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STC_1</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0"/>
                        </a:spcAft>
                      </a:pP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0"/>
                        </a:spcAft>
                      </a:pPr>
                      <a:endParaRPr lang="zh-CN" altLang="en-US" sz="18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0"/>
                        </a:spcAft>
                      </a:pP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139700" algn="ctr">
                        <a:lnSpc>
                          <a:spcPct val="150000"/>
                        </a:lnSpc>
                        <a:spcAft>
                          <a:spcPts val="0"/>
                        </a:spcAft>
                      </a:pP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Value4</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marL="0" marR="0" lvl="0" indent="139700" algn="ctr" defTabSz="914400" rtl="0" eaLnBrk="1" fontAlgn="auto" latinLnBrk="0" hangingPunct="1">
                        <a:lnSpc>
                          <a:spcPct val="150000"/>
                        </a:lnSpc>
                        <a:spcBef>
                          <a:spcPts val="0"/>
                        </a:spcBef>
                        <a:spcAft>
                          <a:spcPts val="0"/>
                        </a:spcAft>
                        <a:buClrTx/>
                        <a:buSzTx/>
                        <a:buFontTx/>
                        <a:buNone/>
                        <a:tabLst/>
                        <a:defRPr/>
                      </a:pPr>
                      <a:r>
                        <a:rPr lang="en-US" altLang="zh-CN" dirty="0"/>
                        <a:t>…</a:t>
                      </a:r>
                      <a:endParaRPr lang="zh-CN" altLang="en-US" dirty="0"/>
                    </a:p>
                  </a:txBody>
                  <a:tcPr marL="68580" marR="68580" marT="0" marB="0" anchor="ctr"/>
                </a:tc>
                <a:extLst>
                  <a:ext uri="{0D108BD9-81ED-4DB2-BD59-A6C34878D82A}">
                    <a16:rowId xmlns:a16="http://schemas.microsoft.com/office/drawing/2014/main" val="1998379954"/>
                  </a:ext>
                </a:extLst>
              </a:tr>
              <a:tr h="380072">
                <a:tc>
                  <a:txBody>
                    <a:bodyPr/>
                    <a:lstStyle/>
                    <a:p>
                      <a:pPr indent="1270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STC_2</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1270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Value1</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Value2</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Value3</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139700" algn="ctr">
                        <a:lnSpc>
                          <a:spcPct val="150000"/>
                        </a:lnSpc>
                        <a:spcAft>
                          <a:spcPts val="0"/>
                        </a:spcAft>
                      </a:pP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marL="0" marR="0" lvl="0" indent="139700" algn="ctr" defTabSz="914400" rtl="0" eaLnBrk="1" fontAlgn="auto" latinLnBrk="0" hangingPunct="1">
                        <a:lnSpc>
                          <a:spcPct val="150000"/>
                        </a:lnSpc>
                        <a:spcBef>
                          <a:spcPts val="0"/>
                        </a:spcBef>
                        <a:spcAft>
                          <a:spcPts val="0"/>
                        </a:spcAft>
                        <a:buClrTx/>
                        <a:buSzTx/>
                        <a:buFontTx/>
                        <a:buNone/>
                        <a:tabLst/>
                        <a:defRPr/>
                      </a:pPr>
                      <a:r>
                        <a:rPr lang="en-US" altLang="zh-CN" dirty="0"/>
                        <a:t>…</a:t>
                      </a:r>
                      <a:endParaRPr lang="zh-CN" altLang="en-US" dirty="0"/>
                    </a:p>
                  </a:txBody>
                  <a:tcPr marL="68580" marR="68580" marT="0" marB="0" anchor="ctr"/>
                </a:tc>
                <a:extLst>
                  <a:ext uri="{0D108BD9-81ED-4DB2-BD59-A6C34878D82A}">
                    <a16:rowId xmlns:a16="http://schemas.microsoft.com/office/drawing/2014/main" val="2648993700"/>
                  </a:ext>
                </a:extLst>
              </a:tr>
            </a:tbl>
          </a:graphicData>
        </a:graphic>
      </p:graphicFrame>
      <p:pic>
        <p:nvPicPr>
          <p:cNvPr id="12" name="图片 11">
            <a:extLst>
              <a:ext uri="{FF2B5EF4-FFF2-40B4-BE49-F238E27FC236}">
                <a16:creationId xmlns:a16="http://schemas.microsoft.com/office/drawing/2014/main" id="{BB3D92C9-9EF4-492F-A4A6-E80CC03EE9CE}"/>
              </a:ext>
            </a:extLst>
          </p:cNvPr>
          <p:cNvPicPr>
            <a:picLocks noChangeAspect="1"/>
          </p:cNvPicPr>
          <p:nvPr/>
        </p:nvPicPr>
        <p:blipFill>
          <a:blip r:embed="rId3"/>
          <a:stretch>
            <a:fillRect/>
          </a:stretch>
        </p:blipFill>
        <p:spPr>
          <a:xfrm>
            <a:off x="-69902" y="1952830"/>
            <a:ext cx="4583430" cy="3479799"/>
          </a:xfrm>
          <a:prstGeom prst="rect">
            <a:avLst/>
          </a:prstGeom>
        </p:spPr>
      </p:pic>
      <p:sp>
        <p:nvSpPr>
          <p:cNvPr id="14" name="矩形 13">
            <a:extLst>
              <a:ext uri="{FF2B5EF4-FFF2-40B4-BE49-F238E27FC236}">
                <a16:creationId xmlns:a16="http://schemas.microsoft.com/office/drawing/2014/main" id="{6E146F3D-6C9C-4C63-827E-7465CEDC178B}"/>
              </a:ext>
            </a:extLst>
          </p:cNvPr>
          <p:cNvSpPr/>
          <p:nvPr/>
        </p:nvSpPr>
        <p:spPr>
          <a:xfrm>
            <a:off x="2737131" y="5632632"/>
            <a:ext cx="7006590" cy="499624"/>
          </a:xfrm>
          <a:prstGeom prst="rect">
            <a:avLst/>
          </a:prstGeom>
        </p:spPr>
        <p:txBody>
          <a:bodyPr wrap="square">
            <a:spAutoFit/>
          </a:bodyPr>
          <a:lstStyle/>
          <a:p>
            <a:pPr>
              <a:lnSpc>
                <a:spcPct val="150000"/>
              </a:lnSpc>
            </a:pP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特点：一个点对象只包含于一个时空单元</a:t>
            </a: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按列稀疏存储</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5" name="组合 14">
            <a:extLst>
              <a:ext uri="{FF2B5EF4-FFF2-40B4-BE49-F238E27FC236}">
                <a16:creationId xmlns:a16="http://schemas.microsoft.com/office/drawing/2014/main" id="{78DF51DD-2924-4C3C-9660-CC114F8B4124}"/>
              </a:ext>
            </a:extLst>
          </p:cNvPr>
          <p:cNvGrpSpPr/>
          <p:nvPr/>
        </p:nvGrpSpPr>
        <p:grpSpPr>
          <a:xfrm>
            <a:off x="6240426" y="3727744"/>
            <a:ext cx="4388988" cy="1504882"/>
            <a:chOff x="4720722" y="3995530"/>
            <a:chExt cx="4388988" cy="1504882"/>
          </a:xfrm>
        </p:grpSpPr>
        <p:sp>
          <p:nvSpPr>
            <p:cNvPr id="13" name="文本框 12">
              <a:extLst>
                <a:ext uri="{FF2B5EF4-FFF2-40B4-BE49-F238E27FC236}">
                  <a16:creationId xmlns:a16="http://schemas.microsoft.com/office/drawing/2014/main" id="{EED0BACD-A362-4DD2-A178-F17BC67B229B}"/>
                </a:ext>
              </a:extLst>
            </p:cNvPr>
            <p:cNvSpPr txBox="1"/>
            <p:nvPr/>
          </p:nvSpPr>
          <p:spPr>
            <a:xfrm>
              <a:off x="5092329" y="4103115"/>
              <a:ext cx="3743061" cy="1289712"/>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STC: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时空单元编码</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a:p>
              <a:pPr>
                <a:lnSpc>
                  <a:spcPct val="150000"/>
                </a:lnSpc>
              </a:pP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ObjectID</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：对象唯一标识</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ID</a:t>
              </a: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Value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：仅存储矢量对象的空间信息</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099B302C-A42D-4415-A51B-591FAED1EBE2}"/>
                </a:ext>
              </a:extLst>
            </p:cNvPr>
            <p:cNvSpPr/>
            <p:nvPr/>
          </p:nvSpPr>
          <p:spPr>
            <a:xfrm>
              <a:off x="4720722" y="3995530"/>
              <a:ext cx="4388988" cy="150488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3" name="箭头: 下 22">
            <a:extLst>
              <a:ext uri="{FF2B5EF4-FFF2-40B4-BE49-F238E27FC236}">
                <a16:creationId xmlns:a16="http://schemas.microsoft.com/office/drawing/2014/main" id="{70D98B2C-B9EF-48D9-9B10-143C299DD91B}"/>
              </a:ext>
            </a:extLst>
          </p:cNvPr>
          <p:cNvSpPr/>
          <p:nvPr/>
        </p:nvSpPr>
        <p:spPr>
          <a:xfrm>
            <a:off x="8322628" y="3058058"/>
            <a:ext cx="365760" cy="4992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6702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9</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7" name="矩形 16">
            <a:extLst>
              <a:ext uri="{FF2B5EF4-FFF2-40B4-BE49-F238E27FC236}">
                <a16:creationId xmlns:a16="http://schemas.microsoft.com/office/drawing/2014/main" id="{CC93E3C2-A476-4226-8164-F13A76E021B7}"/>
              </a:ext>
            </a:extLst>
          </p:cNvPr>
          <p:cNvSpPr/>
          <p:nvPr/>
        </p:nvSpPr>
        <p:spPr>
          <a:xfrm>
            <a:off x="274638" y="992956"/>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编码表（线面对象）</a:t>
            </a:r>
            <a:endParaRPr lang="zh-CN" altLang="en-US" sz="2400" dirty="0"/>
          </a:p>
        </p:txBody>
      </p:sp>
      <p:pic>
        <p:nvPicPr>
          <p:cNvPr id="20" name="图片 19" descr="C:\Users\xc\Documents\Tencent Files\928057013\Image\C2C\Y0NQY1TA`G2PWL$I4GOVZL0.jpg">
            <a:extLst>
              <a:ext uri="{FF2B5EF4-FFF2-40B4-BE49-F238E27FC236}">
                <a16:creationId xmlns:a16="http://schemas.microsoft.com/office/drawing/2014/main" id="{21E9C2BD-2636-4718-A6A5-5CE0A523309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050" y="1791153"/>
            <a:ext cx="4009039" cy="3858960"/>
          </a:xfrm>
          <a:prstGeom prst="rect">
            <a:avLst/>
          </a:prstGeom>
          <a:noFill/>
          <a:ln>
            <a:noFill/>
          </a:ln>
        </p:spPr>
      </p:pic>
      <p:pic>
        <p:nvPicPr>
          <p:cNvPr id="21" name="图片 20" descr="C:\Users\xc\Documents\Tencent Files\928057013\Image\C2C\@S_(]2IY_EXY4G6UWJ%}@BG.jpg">
            <a:extLst>
              <a:ext uri="{FF2B5EF4-FFF2-40B4-BE49-F238E27FC236}">
                <a16:creationId xmlns:a16="http://schemas.microsoft.com/office/drawing/2014/main" id="{B4522083-08DD-4472-A33B-781577724E4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7803" y="1791152"/>
            <a:ext cx="4010400" cy="3858954"/>
          </a:xfrm>
          <a:prstGeom prst="rect">
            <a:avLst/>
          </a:prstGeom>
          <a:noFill/>
          <a:ln>
            <a:noFill/>
          </a:ln>
        </p:spPr>
      </p:pic>
      <p:sp>
        <p:nvSpPr>
          <p:cNvPr id="18" name="箭头: 右 17">
            <a:extLst>
              <a:ext uri="{FF2B5EF4-FFF2-40B4-BE49-F238E27FC236}">
                <a16:creationId xmlns:a16="http://schemas.microsoft.com/office/drawing/2014/main" id="{13396833-E70C-489C-8C28-6FB6D488B2FA}"/>
              </a:ext>
            </a:extLst>
          </p:cNvPr>
          <p:cNvSpPr/>
          <p:nvPr/>
        </p:nvSpPr>
        <p:spPr>
          <a:xfrm>
            <a:off x="4831116" y="3429000"/>
            <a:ext cx="1975006" cy="762557"/>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冗余备份</a:t>
            </a:r>
          </a:p>
        </p:txBody>
      </p:sp>
    </p:spTree>
    <p:extLst>
      <p:ext uri="{BB962C8B-B14F-4D97-AF65-F5344CB8AC3E}">
        <p14:creationId xmlns:p14="http://schemas.microsoft.com/office/powerpoint/2010/main" val="309305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10</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2 </a:t>
                </a:r>
                <a:r>
                  <a:rPr lang="zh-CN" altLang="en-US" sz="2400" b="1" dirty="0">
                    <a:latin typeface="微软雅黑" panose="020B0503020204020204" pitchFamily="34" charset="-122"/>
                    <a:ea typeface="微软雅黑" panose="020B0503020204020204" pitchFamily="34" charset="-122"/>
                  </a:rPr>
                  <a:t>时空索引设计及存储</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7" name="矩形 16">
            <a:extLst>
              <a:ext uri="{FF2B5EF4-FFF2-40B4-BE49-F238E27FC236}">
                <a16:creationId xmlns:a16="http://schemas.microsoft.com/office/drawing/2014/main" id="{CC93E3C2-A476-4226-8164-F13A76E021B7}"/>
              </a:ext>
            </a:extLst>
          </p:cNvPr>
          <p:cNvSpPr/>
          <p:nvPr/>
        </p:nvSpPr>
        <p:spPr>
          <a:xfrm>
            <a:off x="274638" y="992956"/>
            <a:ext cx="295465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编码表（线面对象）</a:t>
            </a:r>
            <a:endParaRPr lang="zh-CN" altLang="en-US" sz="2400" dirty="0"/>
          </a:p>
        </p:txBody>
      </p:sp>
      <p:graphicFrame>
        <p:nvGraphicFramePr>
          <p:cNvPr id="13" name="表格 12">
            <a:extLst>
              <a:ext uri="{FF2B5EF4-FFF2-40B4-BE49-F238E27FC236}">
                <a16:creationId xmlns:a16="http://schemas.microsoft.com/office/drawing/2014/main" id="{D132CA27-2500-48FE-A08C-C1B69AD19793}"/>
              </a:ext>
            </a:extLst>
          </p:cNvPr>
          <p:cNvGraphicFramePr>
            <a:graphicFrameLocks noGrp="1"/>
          </p:cNvGraphicFramePr>
          <p:nvPr>
            <p:extLst>
              <p:ext uri="{D42A27DB-BD31-4B8C-83A1-F6EECF244321}">
                <p14:modId xmlns:p14="http://schemas.microsoft.com/office/powerpoint/2010/main" val="1025109632"/>
              </p:ext>
            </p:extLst>
          </p:nvPr>
        </p:nvGraphicFramePr>
        <p:xfrm>
          <a:off x="4302789" y="1967039"/>
          <a:ext cx="6766378" cy="2535428"/>
        </p:xfrm>
        <a:graphic>
          <a:graphicData uri="http://schemas.openxmlformats.org/drawingml/2006/table">
            <a:tbl>
              <a:tblPr firstRow="1" firstCol="1" bandRow="1">
                <a:tableStyleId>{5940675A-B579-460E-94D1-54222C63F5DA}</a:tableStyleId>
              </a:tblPr>
              <a:tblGrid>
                <a:gridCol w="1734234">
                  <a:extLst>
                    <a:ext uri="{9D8B030D-6E8A-4147-A177-3AD203B41FA5}">
                      <a16:colId xmlns:a16="http://schemas.microsoft.com/office/drawing/2014/main" val="2523672341"/>
                    </a:ext>
                  </a:extLst>
                </a:gridCol>
                <a:gridCol w="1258036">
                  <a:extLst>
                    <a:ext uri="{9D8B030D-6E8A-4147-A177-3AD203B41FA5}">
                      <a16:colId xmlns:a16="http://schemas.microsoft.com/office/drawing/2014/main" val="1823749700"/>
                    </a:ext>
                  </a:extLst>
                </a:gridCol>
                <a:gridCol w="1258036">
                  <a:extLst>
                    <a:ext uri="{9D8B030D-6E8A-4147-A177-3AD203B41FA5}">
                      <a16:colId xmlns:a16="http://schemas.microsoft.com/office/drawing/2014/main" val="4166702601"/>
                    </a:ext>
                  </a:extLst>
                </a:gridCol>
                <a:gridCol w="1258036">
                  <a:extLst>
                    <a:ext uri="{9D8B030D-6E8A-4147-A177-3AD203B41FA5}">
                      <a16:colId xmlns:a16="http://schemas.microsoft.com/office/drawing/2014/main" val="1177881634"/>
                    </a:ext>
                  </a:extLst>
                </a:gridCol>
                <a:gridCol w="1258036">
                  <a:extLst>
                    <a:ext uri="{9D8B030D-6E8A-4147-A177-3AD203B41FA5}">
                      <a16:colId xmlns:a16="http://schemas.microsoft.com/office/drawing/2014/main" val="307195574"/>
                    </a:ext>
                  </a:extLst>
                </a:gridCol>
              </a:tblGrid>
              <a:tr h="144145">
                <a:tc rowSpan="2">
                  <a:txBody>
                    <a:bodyPr/>
                    <a:lstStyle/>
                    <a:p>
                      <a:pPr algn="ctr">
                        <a:lnSpc>
                          <a:spcPct val="150000"/>
                        </a:lnSpc>
                        <a:spcAft>
                          <a:spcPts val="0"/>
                        </a:spcAft>
                      </a:pPr>
                      <a:r>
                        <a:rPr lang="en-US" sz="1800" kern="100" dirty="0" err="1">
                          <a:effectLst/>
                          <a:latin typeface="Times New Roman" panose="02020603050405020304" pitchFamily="18" charset="0"/>
                          <a:cs typeface="Times New Roman" panose="02020603050405020304" pitchFamily="18" charset="0"/>
                        </a:rPr>
                        <a:t>RowKey</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gridSpan="4">
                  <a:txBody>
                    <a:bodyPr/>
                    <a:lstStyle/>
                    <a:p>
                      <a:pPr indent="304800" algn="ctr">
                        <a:lnSpc>
                          <a:spcPct val="150000"/>
                        </a:lnSpc>
                        <a:spcAft>
                          <a:spcPts val="0"/>
                        </a:spcAft>
                      </a:pPr>
                      <a:r>
                        <a:rPr lang="en-US" sz="1800" kern="10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38413704"/>
                  </a:ext>
                </a:extLst>
              </a:tr>
              <a:tr h="144145">
                <a:tc vMerge="1">
                  <a:txBody>
                    <a:bodyPr/>
                    <a:lstStyle/>
                    <a:p>
                      <a:endParaRPr lang="zh-CN" altLang="en-US"/>
                    </a:p>
                  </a:txBody>
                  <a:tcPr/>
                </a:tc>
                <a:tc>
                  <a:txBody>
                    <a:bodyPr/>
                    <a:lstStyle/>
                    <a:p>
                      <a:pPr indent="1524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ObjectID1</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1524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ObjectID2</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1524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ObjectID3</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26387156"/>
                  </a:ext>
                </a:extLst>
              </a:tr>
              <a:tr h="144145">
                <a:tc>
                  <a:txBody>
                    <a:bodyPr/>
                    <a:lstStyle/>
                    <a:p>
                      <a:pPr indent="3048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L_STC_1</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Value1</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 </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 </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 </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29646437"/>
                  </a:ext>
                </a:extLst>
              </a:tr>
              <a:tr h="144145">
                <a:tc>
                  <a:txBody>
                    <a:bodyPr/>
                    <a:lstStyle/>
                    <a:p>
                      <a:pPr indent="3048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L_STC_2</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Value1</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Value2</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 </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 </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20439726"/>
                  </a:ext>
                </a:extLst>
              </a:tr>
              <a:tr h="144145">
                <a:tc>
                  <a:txBody>
                    <a:bodyPr/>
                    <a:lstStyle/>
                    <a:p>
                      <a:pPr indent="3048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L_STC_3</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Value1</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Value2</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Value3</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 </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85354699"/>
                  </a:ext>
                </a:extLst>
              </a:tr>
              <a:tr h="144145">
                <a:tc>
                  <a:txBody>
                    <a:bodyPr/>
                    <a:lstStyle/>
                    <a:p>
                      <a:pPr indent="304800" algn="ctr">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L_STC_4</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Value1</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Value2</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Value3</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 </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92387520"/>
                  </a:ext>
                </a:extLst>
              </a:tr>
              <a:tr h="144145">
                <a:tc>
                  <a:txBody>
                    <a:bodyPr/>
                    <a:lstStyle/>
                    <a:p>
                      <a:pPr indent="304800" algn="ctr">
                        <a:lnSpc>
                          <a:spcPct val="150000"/>
                        </a:lnSpc>
                        <a:spcAft>
                          <a:spcPts val="0"/>
                        </a:spcAft>
                      </a:pPr>
                      <a:r>
                        <a:rPr lang="en-US" sz="1800" kern="100">
                          <a:effectLst/>
                          <a:latin typeface="Times New Roman" panose="02020603050405020304" pitchFamily="18" charset="0"/>
                          <a:cs typeface="Times New Roman" panose="02020603050405020304" pitchFamily="18" charset="0"/>
                        </a:rPr>
                        <a: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 </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 </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a:effectLst/>
                          <a:latin typeface="Times New Roman" panose="02020603050405020304" pitchFamily="18" charset="0"/>
                          <a:cs typeface="Times New Roman" panose="02020603050405020304" pitchFamily="18" charset="0"/>
                        </a:rPr>
                        <a:t> </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latin typeface="Times New Roman" panose="02020603050405020304" pitchFamily="18" charset="0"/>
                          <a:cs typeface="Times New Roman" panose="02020603050405020304" pitchFamily="18" charset="0"/>
                        </a:rPr>
                        <a:t> </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65114106"/>
                  </a:ext>
                </a:extLst>
              </a:tr>
            </a:tbl>
          </a:graphicData>
        </a:graphic>
      </p:graphicFrame>
      <p:pic>
        <p:nvPicPr>
          <p:cNvPr id="15" name="图片 14">
            <a:extLst>
              <a:ext uri="{FF2B5EF4-FFF2-40B4-BE49-F238E27FC236}">
                <a16:creationId xmlns:a16="http://schemas.microsoft.com/office/drawing/2014/main" id="{2673A0C4-2FFC-473A-BA0A-332478131071}"/>
              </a:ext>
            </a:extLst>
          </p:cNvPr>
          <p:cNvPicPr/>
          <p:nvPr/>
        </p:nvPicPr>
        <p:blipFill>
          <a:blip r:embed="rId3"/>
          <a:stretch>
            <a:fillRect/>
          </a:stretch>
        </p:blipFill>
        <p:spPr>
          <a:xfrm>
            <a:off x="527050" y="1790004"/>
            <a:ext cx="3043221" cy="2991222"/>
          </a:xfrm>
          <a:prstGeom prst="rect">
            <a:avLst/>
          </a:prstGeom>
        </p:spPr>
      </p:pic>
      <p:sp>
        <p:nvSpPr>
          <p:cNvPr id="16" name="矩形 15">
            <a:extLst>
              <a:ext uri="{FF2B5EF4-FFF2-40B4-BE49-F238E27FC236}">
                <a16:creationId xmlns:a16="http://schemas.microsoft.com/office/drawing/2014/main" id="{27E7A3A8-2A60-4251-B329-2A56FC29583C}"/>
              </a:ext>
            </a:extLst>
          </p:cNvPr>
          <p:cNvSpPr/>
          <p:nvPr/>
        </p:nvSpPr>
        <p:spPr>
          <a:xfrm>
            <a:off x="3516571" y="5067996"/>
            <a:ext cx="4873049" cy="499624"/>
          </a:xfrm>
          <a:prstGeom prst="rect">
            <a:avLst/>
          </a:prstGeom>
        </p:spPr>
        <p:txBody>
          <a:bodyPr wrap="square">
            <a:spAutoFit/>
          </a:bodyPr>
          <a:lstStyle/>
          <a:p>
            <a:pPr>
              <a:lnSpc>
                <a:spcPct val="150000"/>
              </a:lnSpc>
            </a:pP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特点：冗余存储、但最多不超过</a:t>
            </a:r>
            <a:r>
              <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份冗余</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79327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64159"/>
        </a:solidFill>
        <a:effectLst/>
      </p:bgPr>
    </p:bg>
    <p:spTree>
      <p:nvGrpSpPr>
        <p:cNvPr id="1" name=""/>
        <p:cNvGrpSpPr/>
        <p:nvPr/>
      </p:nvGrpSpPr>
      <p:grpSpPr>
        <a:xfrm>
          <a:off x="0" y="0"/>
          <a:ext cx="0" cy="0"/>
          <a:chOff x="0" y="0"/>
          <a:chExt cx="0" cy="0"/>
        </a:xfrm>
      </p:grpSpPr>
      <p:grpSp>
        <p:nvGrpSpPr>
          <p:cNvPr id="112" name="组合 17">
            <a:extLst>
              <a:ext uri="{FF2B5EF4-FFF2-40B4-BE49-F238E27FC236}">
                <a16:creationId xmlns:a16="http://schemas.microsoft.com/office/drawing/2014/main" id="{38D18476-863B-4DF7-ADF0-1F89E5C38871}"/>
              </a:ext>
            </a:extLst>
          </p:cNvPr>
          <p:cNvGrpSpPr>
            <a:grpSpLocks/>
          </p:cNvGrpSpPr>
          <p:nvPr/>
        </p:nvGrpSpPr>
        <p:grpSpPr bwMode="auto">
          <a:xfrm>
            <a:off x="2409825" y="2787463"/>
            <a:ext cx="842963" cy="781050"/>
            <a:chOff x="0" y="0"/>
            <a:chExt cx="730541" cy="759532"/>
          </a:xfrm>
        </p:grpSpPr>
        <p:sp>
          <p:nvSpPr>
            <p:cNvPr id="113" name="矩形​​ 3">
              <a:extLst>
                <a:ext uri="{FF2B5EF4-FFF2-40B4-BE49-F238E27FC236}">
                  <a16:creationId xmlns:a16="http://schemas.microsoft.com/office/drawing/2014/main" id="{1DC09535-BFD4-4E4A-9E49-295B5C1CE383}"/>
                </a:ext>
              </a:extLst>
            </p:cNvPr>
            <p:cNvSpPr>
              <a:spLocks noChangeArrowheads="1"/>
            </p:cNvSpPr>
            <p:nvPr/>
          </p:nvSpPr>
          <p:spPr bwMode="auto">
            <a:xfrm>
              <a:off x="0" y="22421"/>
              <a:ext cx="730541" cy="737111"/>
            </a:xfrm>
            <a:custGeom>
              <a:avLst/>
              <a:gdLst>
                <a:gd name="T0" fmla="*/ 0 w 1152128"/>
                <a:gd name="T1" fmla="*/ 0 h 936104"/>
                <a:gd name="T2" fmla="*/ 499 w 1152128"/>
                <a:gd name="T3" fmla="*/ 0 h 936104"/>
                <a:gd name="T4" fmla="*/ 499 w 1152128"/>
                <a:gd name="T5" fmla="*/ 13625 h 936104"/>
                <a:gd name="T6" fmla="*/ 311 w 1152128"/>
                <a:gd name="T7" fmla="*/ 13625 h 936104"/>
                <a:gd name="T8" fmla="*/ 249 w 1152128"/>
                <a:gd name="T9" fmla="*/ 16101 h 936104"/>
                <a:gd name="T10" fmla="*/ 187 w 1152128"/>
                <a:gd name="T11" fmla="*/ 13625 h 936104"/>
                <a:gd name="T12" fmla="*/ 0 w 1152128"/>
                <a:gd name="T13" fmla="*/ 13625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4" name="TextBox 120">
              <a:extLst>
                <a:ext uri="{FF2B5EF4-FFF2-40B4-BE49-F238E27FC236}">
                  <a16:creationId xmlns:a16="http://schemas.microsoft.com/office/drawing/2014/main" id="{17557EB4-4F91-417A-A5E0-349DE5F2FDE1}"/>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2</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15" name="组合 20">
            <a:extLst>
              <a:ext uri="{FF2B5EF4-FFF2-40B4-BE49-F238E27FC236}">
                <a16:creationId xmlns:a16="http://schemas.microsoft.com/office/drawing/2014/main" id="{82157FCB-4D2D-4C27-995F-E8883F06F80B}"/>
              </a:ext>
            </a:extLst>
          </p:cNvPr>
          <p:cNvGrpSpPr>
            <a:grpSpLocks/>
          </p:cNvGrpSpPr>
          <p:nvPr/>
        </p:nvGrpSpPr>
        <p:grpSpPr bwMode="auto">
          <a:xfrm>
            <a:off x="2409825" y="3688406"/>
            <a:ext cx="842963" cy="784225"/>
            <a:chOff x="0" y="0"/>
            <a:chExt cx="730541" cy="760784"/>
          </a:xfrm>
        </p:grpSpPr>
        <p:sp>
          <p:nvSpPr>
            <p:cNvPr id="116" name="矩形​​ 3">
              <a:extLst>
                <a:ext uri="{FF2B5EF4-FFF2-40B4-BE49-F238E27FC236}">
                  <a16:creationId xmlns:a16="http://schemas.microsoft.com/office/drawing/2014/main" id="{CC1D141D-87B8-45CC-8B6E-AA69F97034D9}"/>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7" name="TextBox 123">
              <a:extLst>
                <a:ext uri="{FF2B5EF4-FFF2-40B4-BE49-F238E27FC236}">
                  <a16:creationId xmlns:a16="http://schemas.microsoft.com/office/drawing/2014/main" id="{8459AE70-419C-4FD9-9D7A-2A497EEBF7F9}"/>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3</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18" name="矩形​​ 9">
            <a:extLst>
              <a:ext uri="{FF2B5EF4-FFF2-40B4-BE49-F238E27FC236}">
                <a16:creationId xmlns:a16="http://schemas.microsoft.com/office/drawing/2014/main" id="{E16838FE-33C9-4C35-8C5E-A3C18AE50E01}"/>
              </a:ext>
            </a:extLst>
          </p:cNvPr>
          <p:cNvSpPr>
            <a:spLocks noChangeArrowheads="1"/>
          </p:cNvSpPr>
          <p:nvPr/>
        </p:nvSpPr>
        <p:spPr bwMode="auto">
          <a:xfrm>
            <a:off x="3790950" y="1910332"/>
            <a:ext cx="5953125" cy="693738"/>
          </a:xfrm>
          <a:prstGeom prst="rect">
            <a:avLst/>
          </a:prstGeom>
          <a:gradFill rotWithShape="1">
            <a:gsLst>
              <a:gs pos="0">
                <a:schemeClr val="bg1"/>
              </a:gs>
              <a:gs pos="50000">
                <a:srgbClr val="D4D4D4"/>
              </a:gs>
              <a:gs pos="100000">
                <a:srgbClr val="FFFFFF"/>
              </a:gs>
            </a:gsLst>
            <a:path path="rect">
              <a:fillToRect l="100000" t="100000"/>
            </a:path>
          </a:gra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19" name="矩形​​ 10">
            <a:extLst>
              <a:ext uri="{FF2B5EF4-FFF2-40B4-BE49-F238E27FC236}">
                <a16:creationId xmlns:a16="http://schemas.microsoft.com/office/drawing/2014/main" id="{541DD504-0D9B-4C81-83EA-71CADAEB3CA1}"/>
              </a:ext>
            </a:extLst>
          </p:cNvPr>
          <p:cNvSpPr>
            <a:spLocks noChangeArrowheads="1"/>
          </p:cNvSpPr>
          <p:nvPr/>
        </p:nvSpPr>
        <p:spPr bwMode="auto">
          <a:xfrm>
            <a:off x="3790950" y="2808498"/>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0" name="矩形​​ 11">
            <a:extLst>
              <a:ext uri="{FF2B5EF4-FFF2-40B4-BE49-F238E27FC236}">
                <a16:creationId xmlns:a16="http://schemas.microsoft.com/office/drawing/2014/main" id="{4B60AE5C-CCEF-4BB6-946A-5B3A81F67272}"/>
              </a:ext>
            </a:extLst>
          </p:cNvPr>
          <p:cNvSpPr>
            <a:spLocks noChangeArrowheads="1"/>
          </p:cNvSpPr>
          <p:nvPr/>
        </p:nvSpPr>
        <p:spPr bwMode="auto">
          <a:xfrm>
            <a:off x="3790950" y="3708251"/>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1" name="TextBox 132">
            <a:extLst>
              <a:ext uri="{FF2B5EF4-FFF2-40B4-BE49-F238E27FC236}">
                <a16:creationId xmlns:a16="http://schemas.microsoft.com/office/drawing/2014/main" id="{BACA0B10-7119-470A-B9EC-A12CAFD5CD4A}"/>
              </a:ext>
            </a:extLst>
          </p:cNvPr>
          <p:cNvSpPr>
            <a:spLocks noChangeArrowheads="1"/>
          </p:cNvSpPr>
          <p:nvPr/>
        </p:nvSpPr>
        <p:spPr bwMode="auto">
          <a:xfrm>
            <a:off x="4367213" y="1999232"/>
            <a:ext cx="4721369"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研究背景及国内外研究现状</a:t>
            </a:r>
          </a:p>
        </p:txBody>
      </p:sp>
      <p:sp>
        <p:nvSpPr>
          <p:cNvPr id="122" name="TextBox 133">
            <a:extLst>
              <a:ext uri="{FF2B5EF4-FFF2-40B4-BE49-F238E27FC236}">
                <a16:creationId xmlns:a16="http://schemas.microsoft.com/office/drawing/2014/main" id="{215A29CD-7CE1-43DA-A7E9-D185BA95AD4F}"/>
              </a:ext>
            </a:extLst>
          </p:cNvPr>
          <p:cNvSpPr>
            <a:spLocks noChangeArrowheads="1"/>
          </p:cNvSpPr>
          <p:nvPr/>
        </p:nvSpPr>
        <p:spPr bwMode="auto">
          <a:xfrm>
            <a:off x="4367213" y="2898191"/>
            <a:ext cx="5029711" cy="98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存储方案及时空索引设计</a:t>
            </a:r>
          </a:p>
          <a:p>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123" name="TextBox 134">
            <a:extLst>
              <a:ext uri="{FF2B5EF4-FFF2-40B4-BE49-F238E27FC236}">
                <a16:creationId xmlns:a16="http://schemas.microsoft.com/office/drawing/2014/main" id="{FF70EC35-0F45-4F4F-B119-A1FF75641ED2}"/>
              </a:ext>
            </a:extLst>
          </p:cNvPr>
          <p:cNvSpPr>
            <a:spLocks noChangeArrowheads="1"/>
          </p:cNvSpPr>
          <p:nvPr/>
        </p:nvSpPr>
        <p:spPr bwMode="auto">
          <a:xfrm>
            <a:off x="4367213" y="3797150"/>
            <a:ext cx="5012688"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92D050"/>
                </a:solidFill>
                <a:latin typeface="微软雅黑" panose="020B0503020204020204" pitchFamily="34" charset="-122"/>
                <a:ea typeface="微软雅黑" panose="020B0503020204020204" pitchFamily="34" charset="-122"/>
                <a:sym typeface="微软雅黑" panose="020B0503020204020204" pitchFamily="34" charset="-122"/>
              </a:rPr>
              <a:t>时空查询算法设计</a:t>
            </a:r>
            <a:endParaRPr lang="zh-CN" altLang="en-US" sz="2800" b="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124" name="组合 14">
            <a:extLst>
              <a:ext uri="{FF2B5EF4-FFF2-40B4-BE49-F238E27FC236}">
                <a16:creationId xmlns:a16="http://schemas.microsoft.com/office/drawing/2014/main" id="{4C14C88A-F445-40AE-97A7-4BB199081F01}"/>
              </a:ext>
            </a:extLst>
          </p:cNvPr>
          <p:cNvGrpSpPr>
            <a:grpSpLocks/>
          </p:cNvGrpSpPr>
          <p:nvPr/>
        </p:nvGrpSpPr>
        <p:grpSpPr bwMode="auto">
          <a:xfrm>
            <a:off x="2409825" y="1872232"/>
            <a:ext cx="842963" cy="795338"/>
            <a:chOff x="0" y="0"/>
            <a:chExt cx="730541" cy="773013"/>
          </a:xfrm>
        </p:grpSpPr>
        <p:sp>
          <p:nvSpPr>
            <p:cNvPr id="125" name="矩形​​ 3">
              <a:extLst>
                <a:ext uri="{FF2B5EF4-FFF2-40B4-BE49-F238E27FC236}">
                  <a16:creationId xmlns:a16="http://schemas.microsoft.com/office/drawing/2014/main" id="{2D95A302-C4EE-4A06-8610-1A7BF5FC68A2}"/>
                </a:ext>
              </a:extLst>
            </p:cNvPr>
            <p:cNvSpPr>
              <a:spLocks noChangeArrowheads="1"/>
            </p:cNvSpPr>
            <p:nvPr/>
          </p:nvSpPr>
          <p:spPr bwMode="auto">
            <a:xfrm>
              <a:off x="0" y="34650"/>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26" name="TextBox 17">
              <a:extLst>
                <a:ext uri="{FF2B5EF4-FFF2-40B4-BE49-F238E27FC236}">
                  <a16:creationId xmlns:a16="http://schemas.microsoft.com/office/drawing/2014/main" id="{253A7B79-CDCA-401A-86B5-6D27F64C435B}"/>
                </a:ext>
              </a:extLst>
            </p:cNvPr>
            <p:cNvSpPr>
              <a:spLocks noChangeArrowheads="1"/>
            </p:cNvSpPr>
            <p:nvPr/>
          </p:nvSpPr>
          <p:spPr bwMode="auto">
            <a:xfrm>
              <a:off x="150641"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1</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27" name="组合 16">
            <a:extLst>
              <a:ext uri="{FF2B5EF4-FFF2-40B4-BE49-F238E27FC236}">
                <a16:creationId xmlns:a16="http://schemas.microsoft.com/office/drawing/2014/main" id="{8C39F07B-23D1-4F47-B07B-D9CAD4217582}"/>
              </a:ext>
            </a:extLst>
          </p:cNvPr>
          <p:cNvGrpSpPr>
            <a:grpSpLocks/>
          </p:cNvGrpSpPr>
          <p:nvPr/>
        </p:nvGrpSpPr>
        <p:grpSpPr bwMode="auto">
          <a:xfrm>
            <a:off x="1308100" y="702754"/>
            <a:ext cx="3200400" cy="1065212"/>
            <a:chOff x="1435540" y="774700"/>
            <a:chExt cx="3679385" cy="1327150"/>
          </a:xfrm>
        </p:grpSpPr>
        <p:sp>
          <p:nvSpPr>
            <p:cNvPr id="128" name="标题 24">
              <a:extLst>
                <a:ext uri="{FF2B5EF4-FFF2-40B4-BE49-F238E27FC236}">
                  <a16:creationId xmlns:a16="http://schemas.microsoft.com/office/drawing/2014/main" id="{1111E0C1-A04C-4BB4-8B07-B12882080E19}"/>
                </a:ext>
              </a:extLst>
            </p:cNvPr>
            <p:cNvSpPr>
              <a:spLocks noChangeArrowheads="1"/>
            </p:cNvSpPr>
            <p:nvPr/>
          </p:nvSpPr>
          <p:spPr bwMode="auto">
            <a:xfrm>
              <a:off x="2230438" y="774700"/>
              <a:ext cx="288448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 录 </a:t>
              </a:r>
              <a:r>
                <a:rPr lang="en-US" alt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ONTENTS</a:t>
              </a:r>
              <a:endPar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标题 24">
              <a:extLst>
                <a:ext uri="{FF2B5EF4-FFF2-40B4-BE49-F238E27FC236}">
                  <a16:creationId xmlns:a16="http://schemas.microsoft.com/office/drawing/2014/main" id="{541B6201-AA1A-4929-BC86-8BA20E076ED1}"/>
                </a:ext>
              </a:extLst>
            </p:cNvPr>
            <p:cNvSpPr>
              <a:spLocks noChangeArrowheads="1"/>
            </p:cNvSpPr>
            <p:nvPr/>
          </p:nvSpPr>
          <p:spPr bwMode="auto">
            <a:xfrm>
              <a:off x="1435540" y="1102047"/>
              <a:ext cx="895351"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0" name="组合 23">
            <a:extLst>
              <a:ext uri="{FF2B5EF4-FFF2-40B4-BE49-F238E27FC236}">
                <a16:creationId xmlns:a16="http://schemas.microsoft.com/office/drawing/2014/main" id="{16F0A8BE-D773-4A4E-AA73-6A17059B4F74}"/>
              </a:ext>
            </a:extLst>
          </p:cNvPr>
          <p:cNvGrpSpPr>
            <a:grpSpLocks/>
          </p:cNvGrpSpPr>
          <p:nvPr/>
        </p:nvGrpSpPr>
        <p:grpSpPr bwMode="auto">
          <a:xfrm>
            <a:off x="2416175" y="5496644"/>
            <a:ext cx="823913" cy="738664"/>
            <a:chOff x="0" y="0"/>
            <a:chExt cx="713411" cy="717127"/>
          </a:xfrm>
        </p:grpSpPr>
        <p:sp>
          <p:nvSpPr>
            <p:cNvPr id="131" name="矩形​​ 8">
              <a:extLst>
                <a:ext uri="{FF2B5EF4-FFF2-40B4-BE49-F238E27FC236}">
                  <a16:creationId xmlns:a16="http://schemas.microsoft.com/office/drawing/2014/main" id="{2BB80197-32A8-4B32-83B6-A70BE7F29327}"/>
                </a:ext>
              </a:extLst>
            </p:cNvPr>
            <p:cNvSpPr>
              <a:spLocks noChangeArrowheads="1"/>
            </p:cNvSpPr>
            <p:nvPr/>
          </p:nvSpPr>
          <p:spPr bwMode="auto">
            <a:xfrm>
              <a:off x="0" y="22422"/>
              <a:ext cx="713411" cy="624479"/>
            </a:xfrm>
            <a:prstGeom prst="rect">
              <a:avLst/>
            </a:prstGeom>
            <a:solidFill>
              <a:srgbClr val="1B2153"/>
            </a:solidFill>
            <a:ln w="3175">
              <a:solidFill>
                <a:srgbClr val="BFBFBF"/>
              </a:solidFill>
              <a:bevel/>
              <a:headEnd/>
              <a:tailEnd/>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2" name="TextBox 21">
              <a:extLst>
                <a:ext uri="{FF2B5EF4-FFF2-40B4-BE49-F238E27FC236}">
                  <a16:creationId xmlns:a16="http://schemas.microsoft.com/office/drawing/2014/main" id="{B475BF6F-CAFA-4BCC-B40F-B46140BD7A38}"/>
                </a:ext>
              </a:extLst>
            </p:cNvPr>
            <p:cNvSpPr>
              <a:spLocks noChangeArrowheads="1"/>
            </p:cNvSpPr>
            <p:nvPr/>
          </p:nvSpPr>
          <p:spPr bwMode="auto">
            <a:xfrm>
              <a:off x="160536" y="0"/>
              <a:ext cx="419457" cy="717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5</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3" name="矩形​​ 12">
            <a:extLst>
              <a:ext uri="{FF2B5EF4-FFF2-40B4-BE49-F238E27FC236}">
                <a16:creationId xmlns:a16="http://schemas.microsoft.com/office/drawing/2014/main" id="{8B29A40B-4B7D-4AEB-967F-0B3662894783}"/>
              </a:ext>
            </a:extLst>
          </p:cNvPr>
          <p:cNvSpPr>
            <a:spLocks noChangeArrowheads="1"/>
          </p:cNvSpPr>
          <p:nvPr/>
        </p:nvSpPr>
        <p:spPr bwMode="auto">
          <a:xfrm>
            <a:off x="3806825" y="5507757"/>
            <a:ext cx="5953125" cy="693737"/>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4" name="TextBox 135">
            <a:extLst>
              <a:ext uri="{FF2B5EF4-FFF2-40B4-BE49-F238E27FC236}">
                <a16:creationId xmlns:a16="http://schemas.microsoft.com/office/drawing/2014/main" id="{D4CAC222-599C-4E36-935D-DB6EA487EDAA}"/>
              </a:ext>
            </a:extLst>
          </p:cNvPr>
          <p:cNvSpPr>
            <a:spLocks noChangeArrowheads="1"/>
          </p:cNvSpPr>
          <p:nvPr/>
        </p:nvSpPr>
        <p:spPr bwMode="auto">
          <a:xfrm>
            <a:off x="4367213" y="559506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总结与展望</a:t>
            </a:r>
          </a:p>
        </p:txBody>
      </p:sp>
      <p:grpSp>
        <p:nvGrpSpPr>
          <p:cNvPr id="135" name="组合 20">
            <a:extLst>
              <a:ext uri="{FF2B5EF4-FFF2-40B4-BE49-F238E27FC236}">
                <a16:creationId xmlns:a16="http://schemas.microsoft.com/office/drawing/2014/main" id="{D042E1E8-4C8B-452F-B592-0B2DCFD5D95E}"/>
              </a:ext>
            </a:extLst>
          </p:cNvPr>
          <p:cNvGrpSpPr>
            <a:grpSpLocks/>
          </p:cNvGrpSpPr>
          <p:nvPr/>
        </p:nvGrpSpPr>
        <p:grpSpPr bwMode="auto">
          <a:xfrm>
            <a:off x="2395081" y="4592524"/>
            <a:ext cx="842963" cy="784225"/>
            <a:chOff x="0" y="0"/>
            <a:chExt cx="730541" cy="760784"/>
          </a:xfrm>
        </p:grpSpPr>
        <p:sp>
          <p:nvSpPr>
            <p:cNvPr id="136" name="矩形​​ 3">
              <a:extLst>
                <a:ext uri="{FF2B5EF4-FFF2-40B4-BE49-F238E27FC236}">
                  <a16:creationId xmlns:a16="http://schemas.microsoft.com/office/drawing/2014/main" id="{14A5D130-D1A6-42BC-A83D-649C739B0870}"/>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37" name="TextBox 123">
              <a:extLst>
                <a:ext uri="{FF2B5EF4-FFF2-40B4-BE49-F238E27FC236}">
                  <a16:creationId xmlns:a16="http://schemas.microsoft.com/office/drawing/2014/main" id="{C89DE082-B059-4C9D-9638-977F4659934D}"/>
                </a:ext>
              </a:extLst>
            </p:cNvPr>
            <p:cNvSpPr>
              <a:spLocks noChangeArrowheads="1"/>
            </p:cNvSpPr>
            <p:nvPr/>
          </p:nvSpPr>
          <p:spPr bwMode="auto">
            <a:xfrm>
              <a:off x="153486" y="0"/>
              <a:ext cx="419822" cy="71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4</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8" name="矩形​​ 11">
            <a:extLst>
              <a:ext uri="{FF2B5EF4-FFF2-40B4-BE49-F238E27FC236}">
                <a16:creationId xmlns:a16="http://schemas.microsoft.com/office/drawing/2014/main" id="{051C4B68-44D7-4186-9B4C-88B7FFBFE789}"/>
              </a:ext>
            </a:extLst>
          </p:cNvPr>
          <p:cNvSpPr>
            <a:spLocks noChangeArrowheads="1"/>
          </p:cNvSpPr>
          <p:nvPr/>
        </p:nvSpPr>
        <p:spPr bwMode="auto">
          <a:xfrm>
            <a:off x="3776206" y="4608004"/>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9" name="TextBox 134">
            <a:extLst>
              <a:ext uri="{FF2B5EF4-FFF2-40B4-BE49-F238E27FC236}">
                <a16:creationId xmlns:a16="http://schemas.microsoft.com/office/drawing/2014/main" id="{7C5E5D53-5A79-4133-B848-73BC83876351}"/>
              </a:ext>
            </a:extLst>
          </p:cNvPr>
          <p:cNvSpPr>
            <a:spLocks noChangeArrowheads="1"/>
          </p:cNvSpPr>
          <p:nvPr/>
        </p:nvSpPr>
        <p:spPr bwMode="auto">
          <a:xfrm>
            <a:off x="4352469" y="469610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实验结果与分析</a:t>
            </a:r>
          </a:p>
        </p:txBody>
      </p:sp>
      <p:sp>
        <p:nvSpPr>
          <p:cNvPr id="140" name="平行四边形 12">
            <a:extLst>
              <a:ext uri="{FF2B5EF4-FFF2-40B4-BE49-F238E27FC236}">
                <a16:creationId xmlns:a16="http://schemas.microsoft.com/office/drawing/2014/main" id="{F79BBCDD-C7A2-4972-A742-D0B74AEB869C}"/>
              </a:ext>
            </a:extLst>
          </p:cNvPr>
          <p:cNvSpPr>
            <a:spLocks noChangeArrowheads="1"/>
          </p:cNvSpPr>
          <p:nvPr/>
        </p:nvSpPr>
        <p:spPr bwMode="auto">
          <a:xfrm>
            <a:off x="1368425" y="384175"/>
            <a:ext cx="1108075" cy="165100"/>
          </a:xfrm>
          <a:prstGeom prst="parallelogram">
            <a:avLst>
              <a:gd name="adj" fmla="val 24889"/>
            </a:avLst>
          </a:prstGeom>
          <a:solidFill>
            <a:srgbClr val="92D050"/>
          </a:soli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sp>
        <p:nvSpPr>
          <p:cNvPr id="141" name="平行四边形 13">
            <a:extLst>
              <a:ext uri="{FF2B5EF4-FFF2-40B4-BE49-F238E27FC236}">
                <a16:creationId xmlns:a16="http://schemas.microsoft.com/office/drawing/2014/main" id="{816B0470-7DBE-4B95-9EA3-EFC76E994079}"/>
              </a:ext>
            </a:extLst>
          </p:cNvPr>
          <p:cNvSpPr>
            <a:spLocks noChangeArrowheads="1"/>
          </p:cNvSpPr>
          <p:nvPr/>
        </p:nvSpPr>
        <p:spPr bwMode="auto">
          <a:xfrm>
            <a:off x="239713"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nvGrpSpPr>
          <p:cNvPr id="142" name="组合 13">
            <a:extLst>
              <a:ext uri="{FF2B5EF4-FFF2-40B4-BE49-F238E27FC236}">
                <a16:creationId xmlns:a16="http://schemas.microsoft.com/office/drawing/2014/main" id="{1C951E32-616E-46F4-86AC-EC7F16BC7996}"/>
              </a:ext>
            </a:extLst>
          </p:cNvPr>
          <p:cNvGrpSpPr>
            <a:grpSpLocks/>
          </p:cNvGrpSpPr>
          <p:nvPr/>
        </p:nvGrpSpPr>
        <p:grpSpPr bwMode="auto">
          <a:xfrm>
            <a:off x="4763" y="6542088"/>
            <a:ext cx="12192000" cy="320675"/>
            <a:chOff x="4763" y="6500813"/>
            <a:chExt cx="12192000" cy="357187"/>
          </a:xfrm>
        </p:grpSpPr>
        <p:sp>
          <p:nvSpPr>
            <p:cNvPr id="143" name="任意多边形 11">
              <a:extLst>
                <a:ext uri="{FF2B5EF4-FFF2-40B4-BE49-F238E27FC236}">
                  <a16:creationId xmlns:a16="http://schemas.microsoft.com/office/drawing/2014/main" id="{02779C6C-01F3-46E9-AC75-22A362922613}"/>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144" name="平行四边形 13">
              <a:extLst>
                <a:ext uri="{FF2B5EF4-FFF2-40B4-BE49-F238E27FC236}">
                  <a16:creationId xmlns:a16="http://schemas.microsoft.com/office/drawing/2014/main" id="{69CCC94A-4E16-43C7-B464-CBC1366807CD}"/>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2674794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11</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3 </a:t>
                </a:r>
                <a:r>
                  <a:rPr lang="zh-CN" altLang="en-US" sz="2400" b="1" dirty="0">
                    <a:latin typeface="微软雅黑" panose="020B0503020204020204" pitchFamily="34" charset="-122"/>
                    <a:ea typeface="微软雅黑" panose="020B0503020204020204" pitchFamily="34" charset="-122"/>
                  </a:rPr>
                  <a:t>时空查询算法设计</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1" name="矩形 10">
            <a:extLst>
              <a:ext uri="{FF2B5EF4-FFF2-40B4-BE49-F238E27FC236}">
                <a16:creationId xmlns:a16="http://schemas.microsoft.com/office/drawing/2014/main" id="{AC862501-C486-4E1E-ABF0-34336BC1CD2C}"/>
              </a:ext>
            </a:extLst>
          </p:cNvPr>
          <p:cNvSpPr/>
          <p:nvPr/>
        </p:nvSpPr>
        <p:spPr>
          <a:xfrm>
            <a:off x="650314" y="940866"/>
            <a:ext cx="2612852" cy="505908"/>
          </a:xfrm>
          <a:prstGeom prst="rect">
            <a:avLst/>
          </a:prstGeom>
        </p:spPr>
        <p:txBody>
          <a:bodyPr wrap="square">
            <a:spAutoFit/>
          </a:bodyPr>
          <a:lstStyle/>
          <a:p>
            <a:pPr algn="just">
              <a:lnSpc>
                <a:spcPct val="173000"/>
              </a:lnSpc>
              <a:spcBef>
                <a:spcPts val="1300"/>
              </a:spcBef>
              <a:spcAft>
                <a:spcPts val="1300"/>
              </a:spcAft>
            </a:pP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空间填充曲线查询算法</a:t>
            </a:r>
            <a:r>
              <a:rPr lang="en-US" altLang="zh-CN" sz="1100" kern="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b="1" kern="100" dirty="0">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12FF17D8-3CE0-4B11-842F-12EDA8C6E24B}"/>
              </a:ext>
            </a:extLst>
          </p:cNvPr>
          <p:cNvSpPr txBox="1"/>
          <p:nvPr/>
        </p:nvSpPr>
        <p:spPr>
          <a:xfrm>
            <a:off x="1353217" y="5196700"/>
            <a:ext cx="9485565" cy="874407"/>
          </a:xfrm>
          <a:prstGeom prst="rect">
            <a:avLst/>
          </a:prstGeom>
          <a:noFill/>
        </p:spPr>
        <p:txBody>
          <a:bodyPr wrap="square" rtlCol="0">
            <a:spAutoFit/>
          </a:bodyPr>
          <a:lstStyle/>
          <a:p>
            <a:pPr algn="ctr">
              <a:lnSpc>
                <a:spcPct val="150000"/>
              </a:lnSpc>
            </a:pP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若最大递归次数过小，则会产生大量的假真值</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若最大</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递归</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次数过大，结果集生成的查询</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Range</a:t>
            </a:r>
            <a:r>
              <a:rPr lang="zh-CN" altLang="zh-CN" b="1" dirty="0">
                <a:latin typeface="微软雅黑" panose="020B0503020204020204" pitchFamily="34" charset="-122"/>
                <a:ea typeface="微软雅黑" panose="020B0503020204020204" pitchFamily="34" charset="-122"/>
                <a:cs typeface="Times New Roman" panose="02020603050405020304" pitchFamily="18" charset="0"/>
              </a:rPr>
              <a:t>数将会过多，则会严重影响范围查询的效率</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13" name="图片 12">
            <a:extLst>
              <a:ext uri="{FF2B5EF4-FFF2-40B4-BE49-F238E27FC236}">
                <a16:creationId xmlns:a16="http://schemas.microsoft.com/office/drawing/2014/main" id="{CA7CCD2B-E147-464E-A72B-41383F5E246D}"/>
              </a:ext>
            </a:extLst>
          </p:cNvPr>
          <p:cNvPicPr>
            <a:picLocks noChangeAspect="1"/>
          </p:cNvPicPr>
          <p:nvPr/>
        </p:nvPicPr>
        <p:blipFill>
          <a:blip r:embed="rId3"/>
          <a:stretch>
            <a:fillRect/>
          </a:stretch>
        </p:blipFill>
        <p:spPr>
          <a:xfrm>
            <a:off x="689594" y="1517546"/>
            <a:ext cx="11439525" cy="3585526"/>
          </a:xfrm>
          <a:prstGeom prst="rect">
            <a:avLst/>
          </a:prstGeom>
        </p:spPr>
      </p:pic>
    </p:spTree>
    <p:extLst>
      <p:ext uri="{BB962C8B-B14F-4D97-AF65-F5344CB8AC3E}">
        <p14:creationId xmlns:p14="http://schemas.microsoft.com/office/powerpoint/2010/main" val="3931428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12</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3 </a:t>
                </a:r>
                <a:r>
                  <a:rPr lang="zh-CN" altLang="en-US" sz="2400" b="1" dirty="0">
                    <a:latin typeface="微软雅黑" panose="020B0503020204020204" pitchFamily="34" charset="-122"/>
                    <a:ea typeface="微软雅黑" panose="020B0503020204020204" pitchFamily="34" charset="-122"/>
                  </a:rPr>
                  <a:t>时空查询算法设计</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5" name="矩形 14">
            <a:extLst>
              <a:ext uri="{FF2B5EF4-FFF2-40B4-BE49-F238E27FC236}">
                <a16:creationId xmlns:a16="http://schemas.microsoft.com/office/drawing/2014/main" id="{138F3C29-2122-421F-B62B-124AC41EA223}"/>
              </a:ext>
            </a:extLst>
          </p:cNvPr>
          <p:cNvSpPr/>
          <p:nvPr/>
        </p:nvSpPr>
        <p:spPr>
          <a:xfrm>
            <a:off x="227240" y="1123059"/>
            <a:ext cx="2031325" cy="458908"/>
          </a:xfrm>
          <a:prstGeom prst="rect">
            <a:avLst/>
          </a:prstGeom>
        </p:spPr>
        <p:txBody>
          <a:bodyPr wrap="none">
            <a:spAutoFit/>
          </a:bodyPr>
          <a:lstStyle/>
          <a:p>
            <a:pPr algn="ctr">
              <a:lnSpc>
                <a:spcPct val="150000"/>
              </a:lnSpc>
            </a:pPr>
            <a:r>
              <a:rPr lang="zh-CN" altLang="en-US" b="1" dirty="0">
                <a:latin typeface="微软雅黑" panose="020B0503020204020204" pitchFamily="34" charset="-122"/>
                <a:ea typeface="微软雅黑" panose="020B0503020204020204" pitchFamily="34" charset="-122"/>
              </a:rPr>
              <a:t>点对象查询步骤：</a:t>
            </a:r>
            <a:endParaRPr lang="en-US" altLang="zh-CN" b="1"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8257D85A-B644-4790-9040-1DA38C10269E}"/>
              </a:ext>
            </a:extLst>
          </p:cNvPr>
          <p:cNvPicPr>
            <a:picLocks noChangeAspect="1"/>
          </p:cNvPicPr>
          <p:nvPr/>
        </p:nvPicPr>
        <p:blipFill>
          <a:blip r:embed="rId3"/>
          <a:stretch>
            <a:fillRect/>
          </a:stretch>
        </p:blipFill>
        <p:spPr>
          <a:xfrm>
            <a:off x="227240" y="1845647"/>
            <a:ext cx="11737520" cy="3434339"/>
          </a:xfrm>
          <a:prstGeom prst="rect">
            <a:avLst/>
          </a:prstGeom>
        </p:spPr>
      </p:pic>
    </p:spTree>
    <p:extLst>
      <p:ext uri="{BB962C8B-B14F-4D97-AF65-F5344CB8AC3E}">
        <p14:creationId xmlns:p14="http://schemas.microsoft.com/office/powerpoint/2010/main" val="17178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13</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3 </a:t>
                </a:r>
                <a:r>
                  <a:rPr lang="zh-CN" altLang="en-US" sz="2400" b="1" dirty="0">
                    <a:latin typeface="微软雅黑" panose="020B0503020204020204" pitchFamily="34" charset="-122"/>
                    <a:ea typeface="微软雅黑" panose="020B0503020204020204" pitchFamily="34" charset="-122"/>
                  </a:rPr>
                  <a:t>时空查询算法设计</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4" name="矩形 13">
            <a:extLst>
              <a:ext uri="{FF2B5EF4-FFF2-40B4-BE49-F238E27FC236}">
                <a16:creationId xmlns:a16="http://schemas.microsoft.com/office/drawing/2014/main" id="{8D3DF42E-4542-4F97-AD35-7737A768E8A1}"/>
              </a:ext>
            </a:extLst>
          </p:cNvPr>
          <p:cNvSpPr/>
          <p:nvPr/>
        </p:nvSpPr>
        <p:spPr>
          <a:xfrm>
            <a:off x="333984" y="5112874"/>
            <a:ext cx="11651935" cy="879664"/>
          </a:xfrm>
          <a:prstGeom prst="rect">
            <a:avLst/>
          </a:prstGeom>
        </p:spPr>
        <p:txBody>
          <a:bodyPr wrap="square">
            <a:spAutoFit/>
          </a:bodyPr>
          <a:lstStyle/>
          <a:p>
            <a:pPr indent="304800" algn="just">
              <a:lnSpc>
                <a:spcPct val="150000"/>
              </a:lnSpc>
            </a:pPr>
            <a:r>
              <a:rPr lang="zh-CN" altLang="en-US"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本研究中时空查询算法采取的</a:t>
            </a:r>
            <a:r>
              <a:rPr lang="zh-CN" altLang="zh-CN"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优化策略是利用协处理器来执行精过滤的操作，即在服务器端进行精过滤，并将精查结果返回给客户端进一步处理。</a:t>
            </a:r>
            <a:endParaRPr lang="zh-CN" altLang="en-US" b="1" dirty="0">
              <a:solidFill>
                <a:srgbClr val="FF0000"/>
              </a:solidFill>
            </a:endParaRPr>
          </a:p>
        </p:txBody>
      </p:sp>
      <p:sp>
        <p:nvSpPr>
          <p:cNvPr id="15" name="文本框 14">
            <a:extLst>
              <a:ext uri="{FF2B5EF4-FFF2-40B4-BE49-F238E27FC236}">
                <a16:creationId xmlns:a16="http://schemas.microsoft.com/office/drawing/2014/main" id="{DFCF032D-F6DA-4478-BFD2-EFC8A7B42F98}"/>
              </a:ext>
            </a:extLst>
          </p:cNvPr>
          <p:cNvSpPr txBox="1"/>
          <p:nvPr/>
        </p:nvSpPr>
        <p:spPr>
          <a:xfrm>
            <a:off x="688171" y="999964"/>
            <a:ext cx="9941243" cy="3844450"/>
          </a:xfrm>
          <a:prstGeom prst="rect">
            <a:avLst/>
          </a:prstGeom>
          <a:noFill/>
        </p:spPr>
        <p:txBody>
          <a:bodyPr wrap="square" rtlCol="0">
            <a:spAutoFit/>
          </a:bodyPr>
          <a:lstStyle/>
          <a:p>
            <a:pPr>
              <a:lnSpc>
                <a:spcPct val="20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线面对象查询步骤：</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20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查询时间范围离散化。</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20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将查询空间范围转化为一维</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Range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20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u="sng" dirty="0">
                <a:latin typeface="Times New Roman" panose="02020603050405020304" pitchFamily="18" charset="0"/>
                <a:ea typeface="微软雅黑" panose="020B0503020204020204" pitchFamily="34" charset="-122"/>
                <a:cs typeface="Times New Roman" panose="02020603050405020304" pitchFamily="18" charset="0"/>
              </a:rPr>
              <a:t> 根据查询空间范围，找到其“合适”的层级</a:t>
            </a:r>
            <a:r>
              <a:rPr lang="en-US" altLang="zh-CN" u="sng"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u="sng"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u="sng"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20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分别将离散化的时间与各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Range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按照编码方式组合，再将结果与层级从</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至最大层级逐层拼接，</a:t>
            </a:r>
            <a:r>
              <a:rPr lang="zh-CN" altLang="en-US" dirty="0">
                <a:latin typeface="微软雅黑" panose="020B0503020204020204" pitchFamily="34" charset="-122"/>
                <a:ea typeface="微软雅黑" panose="020B0503020204020204" pitchFamily="34" charset="-122"/>
              </a:rPr>
              <a:t>利用</a:t>
            </a:r>
            <a:r>
              <a:rPr lang="en-US" altLang="zh-CN" dirty="0">
                <a:latin typeface="微软雅黑" panose="020B0503020204020204" pitchFamily="34" charset="-122"/>
                <a:ea typeface="微软雅黑" panose="020B0503020204020204" pitchFamily="34" charset="-122"/>
              </a:rPr>
              <a:t>HBase Scan</a:t>
            </a:r>
            <a:r>
              <a:rPr lang="zh-CN" altLang="en-US" dirty="0">
                <a:latin typeface="微软雅黑" panose="020B0503020204020204" pitchFamily="34" charset="-122"/>
                <a:ea typeface="微软雅黑" panose="020B0503020204020204" pitchFamily="34" charset="-122"/>
              </a:rPr>
              <a:t>操作，  得到粗查结果。</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 利用查询条件进行过滤，得到最终查询结果。</a:t>
            </a:r>
          </a:p>
        </p:txBody>
      </p:sp>
    </p:spTree>
    <p:extLst>
      <p:ext uri="{BB962C8B-B14F-4D97-AF65-F5344CB8AC3E}">
        <p14:creationId xmlns:p14="http://schemas.microsoft.com/office/powerpoint/2010/main" val="4235698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14</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3 </a:t>
                </a:r>
                <a:r>
                  <a:rPr lang="zh-CN" altLang="en-US" sz="2400" b="1" dirty="0">
                    <a:latin typeface="微软雅黑" panose="020B0503020204020204" pitchFamily="34" charset="-122"/>
                    <a:ea typeface="微软雅黑" panose="020B0503020204020204" pitchFamily="34" charset="-122"/>
                  </a:rPr>
                  <a:t>时空查询算法设计</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pic>
        <p:nvPicPr>
          <p:cNvPr id="14" name="图片 13">
            <a:extLst>
              <a:ext uri="{FF2B5EF4-FFF2-40B4-BE49-F238E27FC236}">
                <a16:creationId xmlns:a16="http://schemas.microsoft.com/office/drawing/2014/main" id="{85415312-60F9-41BA-ACA5-86B2980C93C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94644" y="2016600"/>
            <a:ext cx="5349256" cy="4013021"/>
          </a:xfrm>
          <a:prstGeom prst="rect">
            <a:avLst/>
          </a:prstGeom>
          <a:noFill/>
          <a:ln>
            <a:noFill/>
          </a:ln>
        </p:spPr>
      </p:pic>
      <p:sp>
        <p:nvSpPr>
          <p:cNvPr id="18" name="矩形 17">
            <a:extLst>
              <a:ext uri="{FF2B5EF4-FFF2-40B4-BE49-F238E27FC236}">
                <a16:creationId xmlns:a16="http://schemas.microsoft.com/office/drawing/2014/main" id="{115ED618-0C9A-489B-AF61-B3A0037D3CBE}"/>
              </a:ext>
            </a:extLst>
          </p:cNvPr>
          <p:cNvSpPr/>
          <p:nvPr/>
        </p:nvSpPr>
        <p:spPr>
          <a:xfrm>
            <a:off x="725700" y="1261604"/>
            <a:ext cx="9561674" cy="369332"/>
          </a:xfrm>
          <a:prstGeom prst="rect">
            <a:avLst/>
          </a:prstGeom>
        </p:spPr>
        <p:txBody>
          <a:bodyPr wrap="square">
            <a:spAutoFit/>
          </a:bodyPr>
          <a:lstStyle/>
          <a:p>
            <a:r>
              <a:rPr lang="zh-CN"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时空最邻近查询</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可以描述为给定坐标和参数</a:t>
            </a:r>
            <a:r>
              <a:rPr lang="en-US" altLang="zh-CN" dirty="0">
                <a:solidFill>
                  <a:srgbClr val="000000"/>
                </a:solidFill>
                <a:latin typeface="微软雅黑" panose="020B0503020204020204" pitchFamily="34" charset="-122"/>
                <a:ea typeface="微软雅黑" panose="020B0503020204020204" pitchFamily="34" charset="-122"/>
              </a:rPr>
              <a:t>k</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，返回查询时间范围内</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最近</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dirty="0">
                <a:solidFill>
                  <a:srgbClr val="000000"/>
                </a:solidFill>
                <a:latin typeface="微软雅黑" panose="020B0503020204020204" pitchFamily="34" charset="-122"/>
                <a:ea typeface="微软雅黑" panose="020B0503020204020204" pitchFamily="34" charset="-122"/>
              </a:rPr>
              <a:t>k</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个对象</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3079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14</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3 </a:t>
                </a:r>
                <a:r>
                  <a:rPr lang="zh-CN" altLang="en-US" sz="2400" b="1" dirty="0">
                    <a:latin typeface="微软雅黑" panose="020B0503020204020204" pitchFamily="34" charset="-122"/>
                    <a:ea typeface="微软雅黑" panose="020B0503020204020204" pitchFamily="34" charset="-122"/>
                  </a:rPr>
                  <a:t>时空查询算法设计</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graphicFrame>
        <p:nvGraphicFramePr>
          <p:cNvPr id="13" name="对象 12">
            <a:extLst>
              <a:ext uri="{FF2B5EF4-FFF2-40B4-BE49-F238E27FC236}">
                <a16:creationId xmlns:a16="http://schemas.microsoft.com/office/drawing/2014/main" id="{B6BDAAE6-17EA-49A8-B627-1F140F8D530B}"/>
              </a:ext>
            </a:extLst>
          </p:cNvPr>
          <p:cNvGraphicFramePr>
            <a:graphicFrameLocks noChangeAspect="1"/>
          </p:cNvGraphicFramePr>
          <p:nvPr>
            <p:extLst>
              <p:ext uri="{D42A27DB-BD31-4B8C-83A1-F6EECF244321}">
                <p14:modId xmlns:p14="http://schemas.microsoft.com/office/powerpoint/2010/main" val="3052475190"/>
              </p:ext>
            </p:extLst>
          </p:nvPr>
        </p:nvGraphicFramePr>
        <p:xfrm>
          <a:off x="2515550" y="1030291"/>
          <a:ext cx="6606138" cy="2676710"/>
        </p:xfrm>
        <a:graphic>
          <a:graphicData uri="http://schemas.openxmlformats.org/presentationml/2006/ole">
            <mc:AlternateContent xmlns:mc="http://schemas.openxmlformats.org/markup-compatibility/2006">
              <mc:Choice xmlns:v="urn:schemas-microsoft-com:vml" Requires="v">
                <p:oleObj spid="_x0000_s5140" name="Visio" r:id="rId4" imgW="32087785" imgH="12999799" progId="Visio.Drawing.15">
                  <p:embed/>
                </p:oleObj>
              </mc:Choice>
              <mc:Fallback>
                <p:oleObj name="Visio" r:id="rId4" imgW="32087785" imgH="12999799" progId="Visio.Drawing.15">
                  <p:embed/>
                  <p:pic>
                    <p:nvPicPr>
                      <p:cNvPr id="15" name="对象 14">
                        <a:extLst>
                          <a:ext uri="{FF2B5EF4-FFF2-40B4-BE49-F238E27FC236}">
                            <a16:creationId xmlns:a16="http://schemas.microsoft.com/office/drawing/2014/main" id="{AF9B9832-5E12-435A-AED8-00FBBEB141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550" y="1030291"/>
                        <a:ext cx="6606138" cy="2676710"/>
                      </a:xfrm>
                      <a:prstGeom prst="rect">
                        <a:avLst/>
                      </a:prstGeom>
                      <a:noFill/>
                    </p:spPr>
                  </p:pic>
                </p:oleObj>
              </mc:Fallback>
            </mc:AlternateContent>
          </a:graphicData>
        </a:graphic>
      </p:graphicFrame>
      <p:sp>
        <p:nvSpPr>
          <p:cNvPr id="11" name="矩形 10">
            <a:extLst>
              <a:ext uri="{FF2B5EF4-FFF2-40B4-BE49-F238E27FC236}">
                <a16:creationId xmlns:a16="http://schemas.microsoft.com/office/drawing/2014/main" id="{3E42E5D8-DECD-497A-8F10-41D3E82CC865}"/>
              </a:ext>
            </a:extLst>
          </p:cNvPr>
          <p:cNvSpPr/>
          <p:nvPr/>
        </p:nvSpPr>
        <p:spPr>
          <a:xfrm>
            <a:off x="1396378" y="3908912"/>
            <a:ext cx="10209816" cy="2120709"/>
          </a:xfrm>
          <a:prstGeom prst="rect">
            <a:avLst/>
          </a:prstGeom>
        </p:spPr>
        <p:txBody>
          <a:bodyPr wrap="square">
            <a:spAutoFit/>
          </a:bodyPr>
          <a:lstStyle/>
          <a:p>
            <a:pPr lvl="0" algn="just">
              <a:lnSpc>
                <a:spcPct val="15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设定初始网格，找到中心坐标对应的网格，以及其八邻域的网格。</a:t>
            </a:r>
            <a:endPar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15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利用协处理器，快速得到中心网格及其周围八邻域的数据总计数</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15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与用户参数</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比较，此处设置</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比例因子</a:t>
            </a:r>
            <a:r>
              <a:rPr lang="zh-CN"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，用于</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比较，若</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count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小于</a:t>
            </a:r>
            <a:r>
              <a:rPr lang="zh-CN"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乘以</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，则可认为中心坐标所处的区域属于数据稀疏区域</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并重新执行步骤</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）；否则则认为数据可以直接使用当前的网格大小进行搜索查询。</a:t>
            </a:r>
            <a:endPar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46383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64159"/>
        </a:solidFill>
        <a:effectLst/>
      </p:bgPr>
    </p:bg>
    <p:spTree>
      <p:nvGrpSpPr>
        <p:cNvPr id="1" name=""/>
        <p:cNvGrpSpPr/>
        <p:nvPr/>
      </p:nvGrpSpPr>
      <p:grpSpPr>
        <a:xfrm>
          <a:off x="0" y="0"/>
          <a:ext cx="0" cy="0"/>
          <a:chOff x="0" y="0"/>
          <a:chExt cx="0" cy="0"/>
        </a:xfrm>
      </p:grpSpPr>
      <p:grpSp>
        <p:nvGrpSpPr>
          <p:cNvPr id="112" name="组合 17">
            <a:extLst>
              <a:ext uri="{FF2B5EF4-FFF2-40B4-BE49-F238E27FC236}">
                <a16:creationId xmlns:a16="http://schemas.microsoft.com/office/drawing/2014/main" id="{38D18476-863B-4DF7-ADF0-1F89E5C38871}"/>
              </a:ext>
            </a:extLst>
          </p:cNvPr>
          <p:cNvGrpSpPr>
            <a:grpSpLocks/>
          </p:cNvGrpSpPr>
          <p:nvPr/>
        </p:nvGrpSpPr>
        <p:grpSpPr bwMode="auto">
          <a:xfrm>
            <a:off x="2409825" y="2787463"/>
            <a:ext cx="842963" cy="781050"/>
            <a:chOff x="0" y="0"/>
            <a:chExt cx="730541" cy="759532"/>
          </a:xfrm>
        </p:grpSpPr>
        <p:sp>
          <p:nvSpPr>
            <p:cNvPr id="113" name="矩形​​ 3">
              <a:extLst>
                <a:ext uri="{FF2B5EF4-FFF2-40B4-BE49-F238E27FC236}">
                  <a16:creationId xmlns:a16="http://schemas.microsoft.com/office/drawing/2014/main" id="{1DC09535-BFD4-4E4A-9E49-295B5C1CE383}"/>
                </a:ext>
              </a:extLst>
            </p:cNvPr>
            <p:cNvSpPr>
              <a:spLocks noChangeArrowheads="1"/>
            </p:cNvSpPr>
            <p:nvPr/>
          </p:nvSpPr>
          <p:spPr bwMode="auto">
            <a:xfrm>
              <a:off x="0" y="22421"/>
              <a:ext cx="730541" cy="737111"/>
            </a:xfrm>
            <a:custGeom>
              <a:avLst/>
              <a:gdLst>
                <a:gd name="T0" fmla="*/ 0 w 1152128"/>
                <a:gd name="T1" fmla="*/ 0 h 936104"/>
                <a:gd name="T2" fmla="*/ 499 w 1152128"/>
                <a:gd name="T3" fmla="*/ 0 h 936104"/>
                <a:gd name="T4" fmla="*/ 499 w 1152128"/>
                <a:gd name="T5" fmla="*/ 13625 h 936104"/>
                <a:gd name="T6" fmla="*/ 311 w 1152128"/>
                <a:gd name="T7" fmla="*/ 13625 h 936104"/>
                <a:gd name="T8" fmla="*/ 249 w 1152128"/>
                <a:gd name="T9" fmla="*/ 16101 h 936104"/>
                <a:gd name="T10" fmla="*/ 187 w 1152128"/>
                <a:gd name="T11" fmla="*/ 13625 h 936104"/>
                <a:gd name="T12" fmla="*/ 0 w 1152128"/>
                <a:gd name="T13" fmla="*/ 13625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4" name="TextBox 120">
              <a:extLst>
                <a:ext uri="{FF2B5EF4-FFF2-40B4-BE49-F238E27FC236}">
                  <a16:creationId xmlns:a16="http://schemas.microsoft.com/office/drawing/2014/main" id="{17557EB4-4F91-417A-A5E0-349DE5F2FDE1}"/>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2</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15" name="组合 20">
            <a:extLst>
              <a:ext uri="{FF2B5EF4-FFF2-40B4-BE49-F238E27FC236}">
                <a16:creationId xmlns:a16="http://schemas.microsoft.com/office/drawing/2014/main" id="{82157FCB-4D2D-4C27-995F-E8883F06F80B}"/>
              </a:ext>
            </a:extLst>
          </p:cNvPr>
          <p:cNvGrpSpPr>
            <a:grpSpLocks/>
          </p:cNvGrpSpPr>
          <p:nvPr/>
        </p:nvGrpSpPr>
        <p:grpSpPr bwMode="auto">
          <a:xfrm>
            <a:off x="2409825" y="3688406"/>
            <a:ext cx="842963" cy="784225"/>
            <a:chOff x="0" y="0"/>
            <a:chExt cx="730541" cy="760784"/>
          </a:xfrm>
        </p:grpSpPr>
        <p:sp>
          <p:nvSpPr>
            <p:cNvPr id="116" name="矩形​​ 3">
              <a:extLst>
                <a:ext uri="{FF2B5EF4-FFF2-40B4-BE49-F238E27FC236}">
                  <a16:creationId xmlns:a16="http://schemas.microsoft.com/office/drawing/2014/main" id="{CC1D141D-87B8-45CC-8B6E-AA69F97034D9}"/>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7" name="TextBox 123">
              <a:extLst>
                <a:ext uri="{FF2B5EF4-FFF2-40B4-BE49-F238E27FC236}">
                  <a16:creationId xmlns:a16="http://schemas.microsoft.com/office/drawing/2014/main" id="{8459AE70-419C-4FD9-9D7A-2A497EEBF7F9}"/>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3</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18" name="矩形​​ 9">
            <a:extLst>
              <a:ext uri="{FF2B5EF4-FFF2-40B4-BE49-F238E27FC236}">
                <a16:creationId xmlns:a16="http://schemas.microsoft.com/office/drawing/2014/main" id="{E16838FE-33C9-4C35-8C5E-A3C18AE50E01}"/>
              </a:ext>
            </a:extLst>
          </p:cNvPr>
          <p:cNvSpPr>
            <a:spLocks noChangeArrowheads="1"/>
          </p:cNvSpPr>
          <p:nvPr/>
        </p:nvSpPr>
        <p:spPr bwMode="auto">
          <a:xfrm>
            <a:off x="3790950" y="1910332"/>
            <a:ext cx="5953125" cy="693738"/>
          </a:xfrm>
          <a:prstGeom prst="rect">
            <a:avLst/>
          </a:prstGeom>
          <a:gradFill rotWithShape="1">
            <a:gsLst>
              <a:gs pos="0">
                <a:schemeClr val="bg1"/>
              </a:gs>
              <a:gs pos="50000">
                <a:srgbClr val="D4D4D4"/>
              </a:gs>
              <a:gs pos="100000">
                <a:srgbClr val="FFFFFF"/>
              </a:gs>
            </a:gsLst>
            <a:path path="rect">
              <a:fillToRect l="100000" t="100000"/>
            </a:path>
          </a:gra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19" name="矩形​​ 10">
            <a:extLst>
              <a:ext uri="{FF2B5EF4-FFF2-40B4-BE49-F238E27FC236}">
                <a16:creationId xmlns:a16="http://schemas.microsoft.com/office/drawing/2014/main" id="{541DD504-0D9B-4C81-83EA-71CADAEB3CA1}"/>
              </a:ext>
            </a:extLst>
          </p:cNvPr>
          <p:cNvSpPr>
            <a:spLocks noChangeArrowheads="1"/>
          </p:cNvSpPr>
          <p:nvPr/>
        </p:nvSpPr>
        <p:spPr bwMode="auto">
          <a:xfrm>
            <a:off x="3790950" y="2808498"/>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0" name="矩形​​ 11">
            <a:extLst>
              <a:ext uri="{FF2B5EF4-FFF2-40B4-BE49-F238E27FC236}">
                <a16:creationId xmlns:a16="http://schemas.microsoft.com/office/drawing/2014/main" id="{4B60AE5C-CCEF-4BB6-946A-5B3A81F67272}"/>
              </a:ext>
            </a:extLst>
          </p:cNvPr>
          <p:cNvSpPr>
            <a:spLocks noChangeArrowheads="1"/>
          </p:cNvSpPr>
          <p:nvPr/>
        </p:nvSpPr>
        <p:spPr bwMode="auto">
          <a:xfrm>
            <a:off x="3790950" y="3708251"/>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1" name="TextBox 132">
            <a:extLst>
              <a:ext uri="{FF2B5EF4-FFF2-40B4-BE49-F238E27FC236}">
                <a16:creationId xmlns:a16="http://schemas.microsoft.com/office/drawing/2014/main" id="{BACA0B10-7119-470A-B9EC-A12CAFD5CD4A}"/>
              </a:ext>
            </a:extLst>
          </p:cNvPr>
          <p:cNvSpPr>
            <a:spLocks noChangeArrowheads="1"/>
          </p:cNvSpPr>
          <p:nvPr/>
        </p:nvSpPr>
        <p:spPr bwMode="auto">
          <a:xfrm>
            <a:off x="4367213" y="1999232"/>
            <a:ext cx="4721369"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研究背景及国内外研究现状</a:t>
            </a:r>
          </a:p>
        </p:txBody>
      </p:sp>
      <p:sp>
        <p:nvSpPr>
          <p:cNvPr id="122" name="TextBox 133">
            <a:extLst>
              <a:ext uri="{FF2B5EF4-FFF2-40B4-BE49-F238E27FC236}">
                <a16:creationId xmlns:a16="http://schemas.microsoft.com/office/drawing/2014/main" id="{215A29CD-7CE1-43DA-A7E9-D185BA95AD4F}"/>
              </a:ext>
            </a:extLst>
          </p:cNvPr>
          <p:cNvSpPr>
            <a:spLocks noChangeArrowheads="1"/>
          </p:cNvSpPr>
          <p:nvPr/>
        </p:nvSpPr>
        <p:spPr bwMode="auto">
          <a:xfrm>
            <a:off x="4367213" y="2898191"/>
            <a:ext cx="5029711"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时空索引设计及存储</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123" name="TextBox 134">
            <a:extLst>
              <a:ext uri="{FF2B5EF4-FFF2-40B4-BE49-F238E27FC236}">
                <a16:creationId xmlns:a16="http://schemas.microsoft.com/office/drawing/2014/main" id="{FF70EC35-0F45-4F4F-B119-A1FF75641ED2}"/>
              </a:ext>
            </a:extLst>
          </p:cNvPr>
          <p:cNvSpPr>
            <a:spLocks noChangeArrowheads="1"/>
          </p:cNvSpPr>
          <p:nvPr/>
        </p:nvSpPr>
        <p:spPr bwMode="auto">
          <a:xfrm>
            <a:off x="4367213" y="3797150"/>
            <a:ext cx="5012688"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时空查询算法设计</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124" name="组合 14">
            <a:extLst>
              <a:ext uri="{FF2B5EF4-FFF2-40B4-BE49-F238E27FC236}">
                <a16:creationId xmlns:a16="http://schemas.microsoft.com/office/drawing/2014/main" id="{4C14C88A-F445-40AE-97A7-4BB199081F01}"/>
              </a:ext>
            </a:extLst>
          </p:cNvPr>
          <p:cNvGrpSpPr>
            <a:grpSpLocks/>
          </p:cNvGrpSpPr>
          <p:nvPr/>
        </p:nvGrpSpPr>
        <p:grpSpPr bwMode="auto">
          <a:xfrm>
            <a:off x="2409825" y="1872232"/>
            <a:ext cx="842963" cy="795338"/>
            <a:chOff x="0" y="0"/>
            <a:chExt cx="730541" cy="773013"/>
          </a:xfrm>
        </p:grpSpPr>
        <p:sp>
          <p:nvSpPr>
            <p:cNvPr id="125" name="矩形​​ 3">
              <a:extLst>
                <a:ext uri="{FF2B5EF4-FFF2-40B4-BE49-F238E27FC236}">
                  <a16:creationId xmlns:a16="http://schemas.microsoft.com/office/drawing/2014/main" id="{2D95A302-C4EE-4A06-8610-1A7BF5FC68A2}"/>
                </a:ext>
              </a:extLst>
            </p:cNvPr>
            <p:cNvSpPr>
              <a:spLocks noChangeArrowheads="1"/>
            </p:cNvSpPr>
            <p:nvPr/>
          </p:nvSpPr>
          <p:spPr bwMode="auto">
            <a:xfrm>
              <a:off x="0" y="34650"/>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26" name="TextBox 17">
              <a:extLst>
                <a:ext uri="{FF2B5EF4-FFF2-40B4-BE49-F238E27FC236}">
                  <a16:creationId xmlns:a16="http://schemas.microsoft.com/office/drawing/2014/main" id="{253A7B79-CDCA-401A-86B5-6D27F64C435B}"/>
                </a:ext>
              </a:extLst>
            </p:cNvPr>
            <p:cNvSpPr>
              <a:spLocks noChangeArrowheads="1"/>
            </p:cNvSpPr>
            <p:nvPr/>
          </p:nvSpPr>
          <p:spPr bwMode="auto">
            <a:xfrm>
              <a:off x="150641"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1</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27" name="组合 16">
            <a:extLst>
              <a:ext uri="{FF2B5EF4-FFF2-40B4-BE49-F238E27FC236}">
                <a16:creationId xmlns:a16="http://schemas.microsoft.com/office/drawing/2014/main" id="{8C39F07B-23D1-4F47-B07B-D9CAD4217582}"/>
              </a:ext>
            </a:extLst>
          </p:cNvPr>
          <p:cNvGrpSpPr>
            <a:grpSpLocks/>
          </p:cNvGrpSpPr>
          <p:nvPr/>
        </p:nvGrpSpPr>
        <p:grpSpPr bwMode="auto">
          <a:xfrm>
            <a:off x="1308100" y="702754"/>
            <a:ext cx="3200400" cy="1065212"/>
            <a:chOff x="1435540" y="774700"/>
            <a:chExt cx="3679385" cy="1327150"/>
          </a:xfrm>
        </p:grpSpPr>
        <p:sp>
          <p:nvSpPr>
            <p:cNvPr id="128" name="标题 24">
              <a:extLst>
                <a:ext uri="{FF2B5EF4-FFF2-40B4-BE49-F238E27FC236}">
                  <a16:creationId xmlns:a16="http://schemas.microsoft.com/office/drawing/2014/main" id="{1111E0C1-A04C-4BB4-8B07-B12882080E19}"/>
                </a:ext>
              </a:extLst>
            </p:cNvPr>
            <p:cNvSpPr>
              <a:spLocks noChangeArrowheads="1"/>
            </p:cNvSpPr>
            <p:nvPr/>
          </p:nvSpPr>
          <p:spPr bwMode="auto">
            <a:xfrm>
              <a:off x="2230438" y="774700"/>
              <a:ext cx="288448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 录 </a:t>
              </a:r>
              <a:r>
                <a:rPr lang="en-US" alt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ONTENTS</a:t>
              </a:r>
              <a:endPar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标题 24">
              <a:extLst>
                <a:ext uri="{FF2B5EF4-FFF2-40B4-BE49-F238E27FC236}">
                  <a16:creationId xmlns:a16="http://schemas.microsoft.com/office/drawing/2014/main" id="{541B6201-AA1A-4929-BC86-8BA20E076ED1}"/>
                </a:ext>
              </a:extLst>
            </p:cNvPr>
            <p:cNvSpPr>
              <a:spLocks noChangeArrowheads="1"/>
            </p:cNvSpPr>
            <p:nvPr/>
          </p:nvSpPr>
          <p:spPr bwMode="auto">
            <a:xfrm>
              <a:off x="1435540" y="1102047"/>
              <a:ext cx="895351"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0" name="组合 23">
            <a:extLst>
              <a:ext uri="{FF2B5EF4-FFF2-40B4-BE49-F238E27FC236}">
                <a16:creationId xmlns:a16="http://schemas.microsoft.com/office/drawing/2014/main" id="{16F0A8BE-D773-4A4E-AA73-6A17059B4F74}"/>
              </a:ext>
            </a:extLst>
          </p:cNvPr>
          <p:cNvGrpSpPr>
            <a:grpSpLocks/>
          </p:cNvGrpSpPr>
          <p:nvPr/>
        </p:nvGrpSpPr>
        <p:grpSpPr bwMode="auto">
          <a:xfrm>
            <a:off x="2416175" y="5496644"/>
            <a:ext cx="823913" cy="738664"/>
            <a:chOff x="0" y="0"/>
            <a:chExt cx="713411" cy="717127"/>
          </a:xfrm>
        </p:grpSpPr>
        <p:sp>
          <p:nvSpPr>
            <p:cNvPr id="131" name="矩形​​ 8">
              <a:extLst>
                <a:ext uri="{FF2B5EF4-FFF2-40B4-BE49-F238E27FC236}">
                  <a16:creationId xmlns:a16="http://schemas.microsoft.com/office/drawing/2014/main" id="{2BB80197-32A8-4B32-83B6-A70BE7F29327}"/>
                </a:ext>
              </a:extLst>
            </p:cNvPr>
            <p:cNvSpPr>
              <a:spLocks noChangeArrowheads="1"/>
            </p:cNvSpPr>
            <p:nvPr/>
          </p:nvSpPr>
          <p:spPr bwMode="auto">
            <a:xfrm>
              <a:off x="0" y="22422"/>
              <a:ext cx="713411" cy="624479"/>
            </a:xfrm>
            <a:prstGeom prst="rect">
              <a:avLst/>
            </a:prstGeom>
            <a:solidFill>
              <a:srgbClr val="1B2153"/>
            </a:solidFill>
            <a:ln w="3175">
              <a:solidFill>
                <a:srgbClr val="BFBFBF"/>
              </a:solidFill>
              <a:bevel/>
              <a:headEnd/>
              <a:tailEnd/>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2" name="TextBox 21">
              <a:extLst>
                <a:ext uri="{FF2B5EF4-FFF2-40B4-BE49-F238E27FC236}">
                  <a16:creationId xmlns:a16="http://schemas.microsoft.com/office/drawing/2014/main" id="{B475BF6F-CAFA-4BCC-B40F-B46140BD7A38}"/>
                </a:ext>
              </a:extLst>
            </p:cNvPr>
            <p:cNvSpPr>
              <a:spLocks noChangeArrowheads="1"/>
            </p:cNvSpPr>
            <p:nvPr/>
          </p:nvSpPr>
          <p:spPr bwMode="auto">
            <a:xfrm>
              <a:off x="160536" y="0"/>
              <a:ext cx="419457" cy="717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5</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3" name="矩形​​ 12">
            <a:extLst>
              <a:ext uri="{FF2B5EF4-FFF2-40B4-BE49-F238E27FC236}">
                <a16:creationId xmlns:a16="http://schemas.microsoft.com/office/drawing/2014/main" id="{8B29A40B-4B7D-4AEB-967F-0B3662894783}"/>
              </a:ext>
            </a:extLst>
          </p:cNvPr>
          <p:cNvSpPr>
            <a:spLocks noChangeArrowheads="1"/>
          </p:cNvSpPr>
          <p:nvPr/>
        </p:nvSpPr>
        <p:spPr bwMode="auto">
          <a:xfrm>
            <a:off x="3806825" y="5507757"/>
            <a:ext cx="5953125" cy="693737"/>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4" name="TextBox 135">
            <a:extLst>
              <a:ext uri="{FF2B5EF4-FFF2-40B4-BE49-F238E27FC236}">
                <a16:creationId xmlns:a16="http://schemas.microsoft.com/office/drawing/2014/main" id="{D4CAC222-599C-4E36-935D-DB6EA487EDAA}"/>
              </a:ext>
            </a:extLst>
          </p:cNvPr>
          <p:cNvSpPr>
            <a:spLocks noChangeArrowheads="1"/>
          </p:cNvSpPr>
          <p:nvPr/>
        </p:nvSpPr>
        <p:spPr bwMode="auto">
          <a:xfrm>
            <a:off x="4367213" y="559506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sym typeface="微软雅黑" panose="020B0503020204020204" pitchFamily="34" charset="-122"/>
              </a:rPr>
              <a:t>总结与展望</a:t>
            </a:r>
          </a:p>
        </p:txBody>
      </p:sp>
      <p:grpSp>
        <p:nvGrpSpPr>
          <p:cNvPr id="135" name="组合 20">
            <a:extLst>
              <a:ext uri="{FF2B5EF4-FFF2-40B4-BE49-F238E27FC236}">
                <a16:creationId xmlns:a16="http://schemas.microsoft.com/office/drawing/2014/main" id="{D042E1E8-4C8B-452F-B592-0B2DCFD5D95E}"/>
              </a:ext>
            </a:extLst>
          </p:cNvPr>
          <p:cNvGrpSpPr>
            <a:grpSpLocks/>
          </p:cNvGrpSpPr>
          <p:nvPr/>
        </p:nvGrpSpPr>
        <p:grpSpPr bwMode="auto">
          <a:xfrm>
            <a:off x="2395081" y="4592524"/>
            <a:ext cx="842963" cy="784225"/>
            <a:chOff x="0" y="0"/>
            <a:chExt cx="730541" cy="760784"/>
          </a:xfrm>
        </p:grpSpPr>
        <p:sp>
          <p:nvSpPr>
            <p:cNvPr id="136" name="矩形​​ 3">
              <a:extLst>
                <a:ext uri="{FF2B5EF4-FFF2-40B4-BE49-F238E27FC236}">
                  <a16:creationId xmlns:a16="http://schemas.microsoft.com/office/drawing/2014/main" id="{14A5D130-D1A6-42BC-A83D-649C739B0870}"/>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37" name="TextBox 123">
              <a:extLst>
                <a:ext uri="{FF2B5EF4-FFF2-40B4-BE49-F238E27FC236}">
                  <a16:creationId xmlns:a16="http://schemas.microsoft.com/office/drawing/2014/main" id="{C89DE082-B059-4C9D-9638-977F4659934D}"/>
                </a:ext>
              </a:extLst>
            </p:cNvPr>
            <p:cNvSpPr>
              <a:spLocks noChangeArrowheads="1"/>
            </p:cNvSpPr>
            <p:nvPr/>
          </p:nvSpPr>
          <p:spPr bwMode="auto">
            <a:xfrm>
              <a:off x="153486" y="0"/>
              <a:ext cx="419822" cy="71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4</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8" name="矩形​​ 11">
            <a:extLst>
              <a:ext uri="{FF2B5EF4-FFF2-40B4-BE49-F238E27FC236}">
                <a16:creationId xmlns:a16="http://schemas.microsoft.com/office/drawing/2014/main" id="{051C4B68-44D7-4186-9B4C-88B7FFBFE789}"/>
              </a:ext>
            </a:extLst>
          </p:cNvPr>
          <p:cNvSpPr>
            <a:spLocks noChangeArrowheads="1"/>
          </p:cNvSpPr>
          <p:nvPr/>
        </p:nvSpPr>
        <p:spPr bwMode="auto">
          <a:xfrm>
            <a:off x="3776206" y="4608004"/>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9" name="TextBox 134">
            <a:extLst>
              <a:ext uri="{FF2B5EF4-FFF2-40B4-BE49-F238E27FC236}">
                <a16:creationId xmlns:a16="http://schemas.microsoft.com/office/drawing/2014/main" id="{7C5E5D53-5A79-4133-B848-73BC83876351}"/>
              </a:ext>
            </a:extLst>
          </p:cNvPr>
          <p:cNvSpPr>
            <a:spLocks noChangeArrowheads="1"/>
          </p:cNvSpPr>
          <p:nvPr/>
        </p:nvSpPr>
        <p:spPr bwMode="auto">
          <a:xfrm>
            <a:off x="4352469" y="469610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92D050"/>
                </a:solidFill>
                <a:latin typeface="微软雅黑" panose="020B0503020204020204" pitchFamily="34" charset="-122"/>
                <a:ea typeface="微软雅黑" panose="020B0503020204020204" pitchFamily="34" charset="-122"/>
                <a:sym typeface="微软雅黑" panose="020B0503020204020204" pitchFamily="34" charset="-122"/>
              </a:rPr>
              <a:t>实验结果与分析</a:t>
            </a:r>
          </a:p>
        </p:txBody>
      </p:sp>
      <p:sp>
        <p:nvSpPr>
          <p:cNvPr id="140" name="平行四边形 12">
            <a:extLst>
              <a:ext uri="{FF2B5EF4-FFF2-40B4-BE49-F238E27FC236}">
                <a16:creationId xmlns:a16="http://schemas.microsoft.com/office/drawing/2014/main" id="{F79BBCDD-C7A2-4972-A742-D0B74AEB869C}"/>
              </a:ext>
            </a:extLst>
          </p:cNvPr>
          <p:cNvSpPr>
            <a:spLocks noChangeArrowheads="1"/>
          </p:cNvSpPr>
          <p:nvPr/>
        </p:nvSpPr>
        <p:spPr bwMode="auto">
          <a:xfrm>
            <a:off x="1368425" y="384175"/>
            <a:ext cx="1108075" cy="165100"/>
          </a:xfrm>
          <a:prstGeom prst="parallelogram">
            <a:avLst>
              <a:gd name="adj" fmla="val 24889"/>
            </a:avLst>
          </a:prstGeom>
          <a:solidFill>
            <a:srgbClr val="92D050"/>
          </a:soli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sp>
        <p:nvSpPr>
          <p:cNvPr id="141" name="平行四边形 13">
            <a:extLst>
              <a:ext uri="{FF2B5EF4-FFF2-40B4-BE49-F238E27FC236}">
                <a16:creationId xmlns:a16="http://schemas.microsoft.com/office/drawing/2014/main" id="{816B0470-7DBE-4B95-9EA3-EFC76E994079}"/>
              </a:ext>
            </a:extLst>
          </p:cNvPr>
          <p:cNvSpPr>
            <a:spLocks noChangeArrowheads="1"/>
          </p:cNvSpPr>
          <p:nvPr/>
        </p:nvSpPr>
        <p:spPr bwMode="auto">
          <a:xfrm>
            <a:off x="239713"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nvGrpSpPr>
          <p:cNvPr id="142" name="组合 13">
            <a:extLst>
              <a:ext uri="{FF2B5EF4-FFF2-40B4-BE49-F238E27FC236}">
                <a16:creationId xmlns:a16="http://schemas.microsoft.com/office/drawing/2014/main" id="{1C951E32-616E-46F4-86AC-EC7F16BC7996}"/>
              </a:ext>
            </a:extLst>
          </p:cNvPr>
          <p:cNvGrpSpPr>
            <a:grpSpLocks/>
          </p:cNvGrpSpPr>
          <p:nvPr/>
        </p:nvGrpSpPr>
        <p:grpSpPr bwMode="auto">
          <a:xfrm>
            <a:off x="4763" y="6542088"/>
            <a:ext cx="12192000" cy="320675"/>
            <a:chOff x="4763" y="6500813"/>
            <a:chExt cx="12192000" cy="357187"/>
          </a:xfrm>
        </p:grpSpPr>
        <p:sp>
          <p:nvSpPr>
            <p:cNvPr id="143" name="任意多边形 11">
              <a:extLst>
                <a:ext uri="{FF2B5EF4-FFF2-40B4-BE49-F238E27FC236}">
                  <a16:creationId xmlns:a16="http://schemas.microsoft.com/office/drawing/2014/main" id="{02779C6C-01F3-46E9-AC75-22A362922613}"/>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144" name="平行四边形 13">
              <a:extLst>
                <a:ext uri="{FF2B5EF4-FFF2-40B4-BE49-F238E27FC236}">
                  <a16:creationId xmlns:a16="http://schemas.microsoft.com/office/drawing/2014/main" id="{69CCC94A-4E16-43C7-B464-CBC1366807CD}"/>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3928635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15</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4 </a:t>
                </a:r>
                <a:r>
                  <a:rPr lang="zh-CN" altLang="en-US" sz="2400" b="1" dirty="0">
                    <a:latin typeface="微软雅黑" panose="020B0503020204020204" pitchFamily="34" charset="-122"/>
                    <a:ea typeface="微软雅黑" panose="020B0503020204020204" pitchFamily="34" charset="-122"/>
                  </a:rPr>
                  <a:t>实验结果与分析</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2" name="文本框 11">
            <a:extLst>
              <a:ext uri="{FF2B5EF4-FFF2-40B4-BE49-F238E27FC236}">
                <a16:creationId xmlns:a16="http://schemas.microsoft.com/office/drawing/2014/main" id="{C84AE9F8-9F73-4382-AC37-FFFC8DF5FF4D}"/>
              </a:ext>
            </a:extLst>
          </p:cNvPr>
          <p:cNvSpPr txBox="1"/>
          <p:nvPr/>
        </p:nvSpPr>
        <p:spPr>
          <a:xfrm>
            <a:off x="1260845" y="998208"/>
            <a:ext cx="3419475"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系统软硬件环境及实验数据</a:t>
            </a:r>
            <a:endParaRPr lang="en-US" altLang="zh-CN" sz="2000" b="1" dirty="0">
              <a:latin typeface="微软雅黑" panose="020B0503020204020204" pitchFamily="34" charset="-122"/>
              <a:ea typeface="微软雅黑" panose="020B0503020204020204" pitchFamily="34" charset="-122"/>
            </a:endParaRPr>
          </a:p>
        </p:txBody>
      </p:sp>
      <p:graphicFrame>
        <p:nvGraphicFramePr>
          <p:cNvPr id="13" name="表格 12">
            <a:extLst>
              <a:ext uri="{FF2B5EF4-FFF2-40B4-BE49-F238E27FC236}">
                <a16:creationId xmlns:a16="http://schemas.microsoft.com/office/drawing/2014/main" id="{E9D4D464-9680-41DC-B949-B49A0E08BA5D}"/>
              </a:ext>
            </a:extLst>
          </p:cNvPr>
          <p:cNvGraphicFramePr>
            <a:graphicFrameLocks noGrp="1"/>
          </p:cNvGraphicFramePr>
          <p:nvPr>
            <p:extLst>
              <p:ext uri="{D42A27DB-BD31-4B8C-83A1-F6EECF244321}">
                <p14:modId xmlns:p14="http://schemas.microsoft.com/office/powerpoint/2010/main" val="3266884850"/>
              </p:ext>
            </p:extLst>
          </p:nvPr>
        </p:nvGraphicFramePr>
        <p:xfrm>
          <a:off x="1662774" y="1627769"/>
          <a:ext cx="8311690" cy="3111706"/>
        </p:xfrm>
        <a:graphic>
          <a:graphicData uri="http://schemas.openxmlformats.org/drawingml/2006/table">
            <a:tbl>
              <a:tblPr firstRow="1" bandRow="1">
                <a:tableStyleId>{3B4B98B0-60AC-42C2-AFA5-B58CD77FA1E5}</a:tableStyleId>
              </a:tblPr>
              <a:tblGrid>
                <a:gridCol w="2988604">
                  <a:extLst>
                    <a:ext uri="{9D8B030D-6E8A-4147-A177-3AD203B41FA5}">
                      <a16:colId xmlns:a16="http://schemas.microsoft.com/office/drawing/2014/main" val="1221189754"/>
                    </a:ext>
                  </a:extLst>
                </a:gridCol>
                <a:gridCol w="5323086">
                  <a:extLst>
                    <a:ext uri="{9D8B030D-6E8A-4147-A177-3AD203B41FA5}">
                      <a16:colId xmlns:a16="http://schemas.microsoft.com/office/drawing/2014/main" val="2722650706"/>
                    </a:ext>
                  </a:extLst>
                </a:gridCol>
              </a:tblGrid>
              <a:tr h="392278">
                <a:tc>
                  <a:txBody>
                    <a:bodyPr/>
                    <a:lstStyle/>
                    <a:p>
                      <a:pPr algn="ctr"/>
                      <a:r>
                        <a:rPr lang="zh-CN" altLang="en-US" b="1" dirty="0">
                          <a:latin typeface="微软雅黑" panose="020B0503020204020204" pitchFamily="34" charset="-122"/>
                          <a:ea typeface="微软雅黑" panose="020B0503020204020204" pitchFamily="34" charset="-122"/>
                        </a:rPr>
                        <a:t>属性</a:t>
                      </a:r>
                    </a:p>
                  </a:txBody>
                  <a:tcPr/>
                </a:tc>
                <a:tc>
                  <a:txBody>
                    <a:bodyPr/>
                    <a:lstStyle/>
                    <a:p>
                      <a:pPr algn="ctr"/>
                      <a:r>
                        <a:rPr lang="zh-CN" altLang="en-US" b="1" dirty="0">
                          <a:latin typeface="微软雅黑" panose="020B0503020204020204" pitchFamily="34" charset="-122"/>
                          <a:ea typeface="微软雅黑" panose="020B0503020204020204" pitchFamily="34" charset="-122"/>
                        </a:rPr>
                        <a:t>配置信息</a:t>
                      </a:r>
                    </a:p>
                  </a:txBody>
                  <a:tcPr/>
                </a:tc>
                <a:extLst>
                  <a:ext uri="{0D108BD9-81ED-4DB2-BD59-A6C34878D82A}">
                    <a16:rowId xmlns:a16="http://schemas.microsoft.com/office/drawing/2014/main" val="3218330880"/>
                  </a:ext>
                </a:extLst>
              </a:tr>
              <a:tr h="357605">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CPU</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1800" kern="12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800" kern="12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路</a:t>
                      </a:r>
                      <a:r>
                        <a:rPr lang="en-US" altLang="zh-CN" sz="1800" kern="12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4 Core i7-7700 CPU@3.60GHz</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600538924"/>
                  </a:ext>
                </a:extLst>
              </a:tr>
              <a:tr h="392278">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Memory</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32G</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291120138"/>
                  </a:ext>
                </a:extLst>
              </a:tr>
              <a:tr h="392278">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OS</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CentOS7 64bit</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067750132"/>
                  </a:ext>
                </a:extLst>
              </a:tr>
              <a:tr h="392278">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JVM Version</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JVM 1.8.0</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344627628"/>
                  </a:ext>
                </a:extLst>
              </a:tr>
              <a:tr h="392278">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Hadoop Version</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Hadoop 2.7.5</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3911292397"/>
                  </a:ext>
                </a:extLst>
              </a:tr>
              <a:tr h="392278">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HBase Version</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HBase 1.4.9</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969041230"/>
                  </a:ext>
                </a:extLst>
              </a:tr>
              <a:tr h="392278">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Zookeeper Version</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Zookeeper 3.4.5</a:t>
                      </a:r>
                      <a:endParaRPr lang="zh-CN" altLang="en-US" b="0" dirty="0">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3129218056"/>
                  </a:ext>
                </a:extLst>
              </a:tr>
            </a:tbl>
          </a:graphicData>
        </a:graphic>
      </p:graphicFrame>
      <p:sp>
        <p:nvSpPr>
          <p:cNvPr id="14" name="矩形 13">
            <a:extLst>
              <a:ext uri="{FF2B5EF4-FFF2-40B4-BE49-F238E27FC236}">
                <a16:creationId xmlns:a16="http://schemas.microsoft.com/office/drawing/2014/main" id="{C115B796-D21A-4C26-BF5B-8ECDBCDCA0F1}"/>
              </a:ext>
            </a:extLst>
          </p:cNvPr>
          <p:cNvSpPr/>
          <p:nvPr/>
        </p:nvSpPr>
        <p:spPr>
          <a:xfrm>
            <a:off x="1445715" y="5099128"/>
            <a:ext cx="9839061" cy="881139"/>
          </a:xfrm>
          <a:prstGeom prst="rect">
            <a:avLst/>
          </a:prstGeom>
        </p:spPr>
        <p:txBody>
          <a:bodyPr wrap="square">
            <a:spAutoFit/>
          </a:bodyPr>
          <a:lstStyle/>
          <a:p>
            <a:pPr>
              <a:lnSpc>
                <a:spcPct val="150000"/>
              </a:lnSpc>
            </a:pPr>
            <a:r>
              <a:rPr lang="zh-CN" altLang="zh-CN" b="1" dirty="0">
                <a:solidFill>
                  <a:srgbClr val="C00000"/>
                </a:solidFill>
                <a:latin typeface="微软雅黑" panose="020B0503020204020204" pitchFamily="34" charset="-122"/>
                <a:ea typeface="微软雅黑" panose="020B0503020204020204" pitchFamily="34" charset="-122"/>
              </a:rPr>
              <a:t>纽约曼哈顿区的出租车数据，该数据集记录了</a:t>
            </a:r>
            <a:r>
              <a:rPr lang="en-US" altLang="zh-CN" b="1" dirty="0">
                <a:solidFill>
                  <a:srgbClr val="C00000"/>
                </a:solidFill>
                <a:latin typeface="微软雅黑" panose="020B0503020204020204" pitchFamily="34" charset="-122"/>
                <a:ea typeface="微软雅黑" panose="020B0503020204020204" pitchFamily="34" charset="-122"/>
              </a:rPr>
              <a:t>2009</a:t>
            </a:r>
            <a:r>
              <a:rPr lang="zh-CN" altLang="zh-CN" b="1" dirty="0">
                <a:solidFill>
                  <a:srgbClr val="C00000"/>
                </a:solidFill>
                <a:latin typeface="微软雅黑" panose="020B0503020204020204" pitchFamily="34" charset="-122"/>
                <a:ea typeface="微软雅黑" panose="020B0503020204020204" pitchFamily="34" charset="-122"/>
              </a:rPr>
              <a:t>年至</a:t>
            </a:r>
            <a:r>
              <a:rPr lang="en-US" altLang="zh-CN" b="1" dirty="0">
                <a:solidFill>
                  <a:srgbClr val="C00000"/>
                </a:solidFill>
                <a:latin typeface="微软雅黑" panose="020B0503020204020204" pitchFamily="34" charset="-122"/>
                <a:ea typeface="微软雅黑" panose="020B0503020204020204" pitchFamily="34" charset="-122"/>
              </a:rPr>
              <a:t>2016</a:t>
            </a:r>
            <a:r>
              <a:rPr lang="zh-CN" altLang="zh-CN" b="1" dirty="0">
                <a:solidFill>
                  <a:srgbClr val="C00000"/>
                </a:solidFill>
                <a:latin typeface="微软雅黑" panose="020B0503020204020204" pitchFamily="34" charset="-122"/>
                <a:ea typeface="微软雅黑" panose="020B0503020204020204" pitchFamily="34" charset="-122"/>
              </a:rPr>
              <a:t>年八年的出租车信息，共计数据约</a:t>
            </a:r>
            <a:r>
              <a:rPr lang="en-US" altLang="zh-CN" b="1" dirty="0">
                <a:solidFill>
                  <a:srgbClr val="C00000"/>
                </a:solidFill>
                <a:latin typeface="微软雅黑" panose="020B0503020204020204" pitchFamily="34" charset="-122"/>
                <a:ea typeface="微软雅黑" panose="020B0503020204020204" pitchFamily="34" charset="-122"/>
              </a:rPr>
              <a:t>12</a:t>
            </a:r>
            <a:r>
              <a:rPr lang="zh-CN" altLang="zh-CN" b="1" dirty="0">
                <a:solidFill>
                  <a:srgbClr val="C00000"/>
                </a:solidFill>
                <a:latin typeface="微软雅黑" panose="020B0503020204020204" pitchFamily="34" charset="-122"/>
                <a:ea typeface="微软雅黑" panose="020B0503020204020204" pitchFamily="34" charset="-122"/>
              </a:rPr>
              <a:t>亿条记录</a:t>
            </a:r>
            <a:r>
              <a:rPr lang="zh-CN" altLang="en-US" b="1" dirty="0">
                <a:solidFill>
                  <a:srgbClr val="C00000"/>
                </a:solidFill>
                <a:latin typeface="微软雅黑" panose="020B0503020204020204" pitchFamily="34" charset="-122"/>
                <a:ea typeface="微软雅黑" panose="020B0503020204020204" pitchFamily="34" charset="-122"/>
              </a:rPr>
              <a:t>，单条记录包含出租车乘客的上下车空间位置和乘客支付方式等其他信息</a:t>
            </a:r>
            <a:endParaRPr lang="zh-CN" altLang="zh-CN"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2238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16</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4 </a:t>
                </a:r>
                <a:r>
                  <a:rPr lang="zh-CN" altLang="en-US" sz="2400" b="1" dirty="0">
                    <a:latin typeface="微软雅黑" panose="020B0503020204020204" pitchFamily="34" charset="-122"/>
                    <a:ea typeface="微软雅黑" panose="020B0503020204020204" pitchFamily="34" charset="-122"/>
                  </a:rPr>
                  <a:t>实验结果与分析</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1" name="矩形 10">
            <a:extLst>
              <a:ext uri="{FF2B5EF4-FFF2-40B4-BE49-F238E27FC236}">
                <a16:creationId xmlns:a16="http://schemas.microsoft.com/office/drawing/2014/main" id="{F65FBEE1-B9E1-4624-9900-A87C53BAF880}"/>
              </a:ext>
            </a:extLst>
          </p:cNvPr>
          <p:cNvSpPr/>
          <p:nvPr/>
        </p:nvSpPr>
        <p:spPr>
          <a:xfrm>
            <a:off x="1055634" y="978500"/>
            <a:ext cx="1569660"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编码对比实验</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a:extLst>
              <a:ext uri="{FF2B5EF4-FFF2-40B4-BE49-F238E27FC236}">
                <a16:creationId xmlns:a16="http://schemas.microsoft.com/office/drawing/2014/main" id="{F00B885C-9F33-4E99-AC62-C04AB606165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6231" y="1532141"/>
            <a:ext cx="5223258" cy="3597520"/>
          </a:xfrm>
          <a:prstGeom prst="rect">
            <a:avLst/>
          </a:prstGeom>
          <a:noFill/>
          <a:ln>
            <a:noFill/>
          </a:ln>
        </p:spPr>
      </p:pic>
      <p:sp>
        <p:nvSpPr>
          <p:cNvPr id="14" name="矩形 13">
            <a:extLst>
              <a:ext uri="{FF2B5EF4-FFF2-40B4-BE49-F238E27FC236}">
                <a16:creationId xmlns:a16="http://schemas.microsoft.com/office/drawing/2014/main" id="{AC1402AB-7325-4BB3-B2CA-19DAC7CE6697}"/>
              </a:ext>
            </a:extLst>
          </p:cNvPr>
          <p:cNvSpPr/>
          <p:nvPr/>
        </p:nvSpPr>
        <p:spPr>
          <a:xfrm>
            <a:off x="905600" y="5054443"/>
            <a:ext cx="10541005" cy="874214"/>
          </a:xfrm>
          <a:prstGeom prst="rect">
            <a:avLst/>
          </a:prstGeom>
        </p:spPr>
        <p:txBody>
          <a:bodyPr wrap="square">
            <a:spAutoFit/>
          </a:bodyPr>
          <a:lstStyle/>
          <a:p>
            <a:pPr lvl="0">
              <a:lnSpc>
                <a:spcPct val="150000"/>
              </a:lnSpc>
              <a:defRPr/>
            </a:pP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当空间查询范围较小</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而无论</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查询时间</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范围较小</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或较大</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ST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编码与</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TS</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TST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编码查询效率</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几乎</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相近</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 而在空间范围较大时，</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TS</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TST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编码效果更好</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b="1"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ECEC7EB4-BA7C-47FC-94E7-06075C1026FA}"/>
              </a:ext>
            </a:extLst>
          </p:cNvPr>
          <p:cNvGraphicFramePr>
            <a:graphicFrameLocks noGrp="1"/>
          </p:cNvGraphicFramePr>
          <p:nvPr>
            <p:extLst>
              <p:ext uri="{D42A27DB-BD31-4B8C-83A1-F6EECF244321}">
                <p14:modId xmlns:p14="http://schemas.microsoft.com/office/powerpoint/2010/main" val="1298369468"/>
              </p:ext>
            </p:extLst>
          </p:nvPr>
        </p:nvGraphicFramePr>
        <p:xfrm>
          <a:off x="5609488" y="1532141"/>
          <a:ext cx="6196281" cy="3120384"/>
        </p:xfrm>
        <a:graphic>
          <a:graphicData uri="http://schemas.openxmlformats.org/drawingml/2006/table">
            <a:tbl>
              <a:tblPr firstRow="1" firstCol="1" bandRow="1">
                <a:tableStyleId>{2D5ABB26-0587-4C30-8999-92F81FD0307C}</a:tableStyleId>
              </a:tblPr>
              <a:tblGrid>
                <a:gridCol w="1012688">
                  <a:extLst>
                    <a:ext uri="{9D8B030D-6E8A-4147-A177-3AD203B41FA5}">
                      <a16:colId xmlns:a16="http://schemas.microsoft.com/office/drawing/2014/main" val="2048979705"/>
                    </a:ext>
                  </a:extLst>
                </a:gridCol>
                <a:gridCol w="2177321">
                  <a:extLst>
                    <a:ext uri="{9D8B030D-6E8A-4147-A177-3AD203B41FA5}">
                      <a16:colId xmlns:a16="http://schemas.microsoft.com/office/drawing/2014/main" val="4149321022"/>
                    </a:ext>
                  </a:extLst>
                </a:gridCol>
                <a:gridCol w="1602100">
                  <a:extLst>
                    <a:ext uri="{9D8B030D-6E8A-4147-A177-3AD203B41FA5}">
                      <a16:colId xmlns:a16="http://schemas.microsoft.com/office/drawing/2014/main" val="3981253397"/>
                    </a:ext>
                  </a:extLst>
                </a:gridCol>
                <a:gridCol w="1404172">
                  <a:extLst>
                    <a:ext uri="{9D8B030D-6E8A-4147-A177-3AD203B41FA5}">
                      <a16:colId xmlns:a16="http://schemas.microsoft.com/office/drawing/2014/main" val="1439894772"/>
                    </a:ext>
                  </a:extLst>
                </a:gridCol>
              </a:tblGrid>
              <a:tr h="558796">
                <a:tc>
                  <a:txBody>
                    <a:bodyPr/>
                    <a:lstStyle/>
                    <a:p>
                      <a:pPr algn="ctr">
                        <a:lnSpc>
                          <a:spcPts val="2000"/>
                        </a:lnSpc>
                        <a:spcAft>
                          <a:spcPts val="0"/>
                        </a:spcAft>
                      </a:pPr>
                      <a:r>
                        <a:rPr 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查询场景</a:t>
                      </a: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起止时间</a:t>
                      </a: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zh-CN" sz="1400" kern="100">
                          <a:effectLst/>
                          <a:latin typeface="Times New Roman" panose="02020603050405020304" pitchFamily="18" charset="0"/>
                          <a:ea typeface="微软雅黑" panose="020B0503020204020204" pitchFamily="34" charset="-122"/>
                          <a:cs typeface="Times New Roman" panose="02020603050405020304" pitchFamily="18" charset="0"/>
                        </a:rPr>
                        <a:t>经度范围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zh-CN" sz="1400" kern="100">
                          <a:effectLst/>
                          <a:latin typeface="Times New Roman" panose="02020603050405020304" pitchFamily="18" charset="0"/>
                          <a:ea typeface="微软雅黑" panose="020B0503020204020204" pitchFamily="34" charset="-122"/>
                          <a:cs typeface="Times New Roman" panose="02020603050405020304" pitchFamily="18" charset="0"/>
                        </a:rPr>
                        <a:t>纬度范围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2819668"/>
                  </a:ext>
                </a:extLst>
              </a:tr>
              <a:tr h="640397">
                <a:tc>
                  <a:txBody>
                    <a:bodyPr/>
                    <a:lstStyle/>
                    <a:p>
                      <a:pPr algn="ctr">
                        <a:lnSpc>
                          <a:spcPts val="2000"/>
                        </a:lnSpc>
                        <a:spcAft>
                          <a:spcPts val="0"/>
                        </a:spcAft>
                      </a:pPr>
                      <a:r>
                        <a:rPr lang="zh-CN" sz="1400" kern="100">
                          <a:effectLst/>
                          <a:latin typeface="Times New Roman" panose="02020603050405020304" pitchFamily="18" charset="0"/>
                          <a:ea typeface="微软雅黑" panose="020B0503020204020204" pitchFamily="34" charset="-122"/>
                          <a:cs typeface="Times New Roman" panose="02020603050405020304" pitchFamily="18" charset="0"/>
                        </a:rPr>
                        <a:t>小时间小空间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2016.2.1 - 2016.2.15</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 [ -73.90, -73.895 ]</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[40.75,40.755]</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52207593"/>
                  </a:ext>
                </a:extLst>
              </a:tr>
              <a:tr h="640397">
                <a:tc>
                  <a:txBody>
                    <a:bodyPr/>
                    <a:lstStyle/>
                    <a:p>
                      <a:pPr algn="ctr">
                        <a:lnSpc>
                          <a:spcPts val="2000"/>
                        </a:lnSpc>
                        <a:spcAft>
                          <a:spcPts val="0"/>
                        </a:spcAft>
                      </a:pPr>
                      <a:r>
                        <a:rPr lang="zh-CN" sz="1400" kern="100">
                          <a:effectLst/>
                          <a:latin typeface="Times New Roman" panose="02020603050405020304" pitchFamily="18" charset="0"/>
                          <a:ea typeface="微软雅黑" panose="020B0503020204020204" pitchFamily="34" charset="-122"/>
                          <a:cs typeface="Times New Roman" panose="02020603050405020304" pitchFamily="18" charset="0"/>
                        </a:rPr>
                        <a:t>小时间大空间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2016.2.1 - 2016.2.15</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 -73.90, -73.85 ]</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[40.75,40.80]</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0196018"/>
                  </a:ext>
                </a:extLst>
              </a:tr>
              <a:tr h="640397">
                <a:tc>
                  <a:txBody>
                    <a:bodyPr/>
                    <a:lstStyle/>
                    <a:p>
                      <a:pPr algn="ctr">
                        <a:lnSpc>
                          <a:spcPts val="2000"/>
                        </a:lnSpc>
                        <a:spcAft>
                          <a:spcPts val="0"/>
                        </a:spcAft>
                      </a:pPr>
                      <a:r>
                        <a:rPr lang="zh-CN" sz="1400" kern="100">
                          <a:effectLst/>
                          <a:latin typeface="Times New Roman" panose="02020603050405020304" pitchFamily="18" charset="0"/>
                          <a:ea typeface="微软雅黑" panose="020B0503020204020204" pitchFamily="34" charset="-122"/>
                          <a:cs typeface="Times New Roman" panose="02020603050405020304" pitchFamily="18" charset="0"/>
                        </a:rPr>
                        <a:t>大时间小空间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2016.1.1 - 2016.3.30</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 [ -73.90, -73.895 ]</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a:effectLst/>
                          <a:latin typeface="Times New Roman" panose="02020603050405020304" pitchFamily="18" charset="0"/>
                          <a:ea typeface="微软雅黑" panose="020B0503020204020204" pitchFamily="34" charset="-122"/>
                          <a:cs typeface="Times New Roman" panose="02020603050405020304" pitchFamily="18" charset="0"/>
                        </a:rPr>
                        <a:t>[40.75,40.755]</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5089940"/>
                  </a:ext>
                </a:extLst>
              </a:tr>
              <a:tr h="640397">
                <a:tc>
                  <a:txBody>
                    <a:bodyPr/>
                    <a:lstStyle/>
                    <a:p>
                      <a:pPr algn="ctr">
                        <a:lnSpc>
                          <a:spcPts val="2000"/>
                        </a:lnSpc>
                        <a:spcAft>
                          <a:spcPts val="0"/>
                        </a:spcAft>
                      </a:pPr>
                      <a:r>
                        <a:rPr lang="zh-CN" sz="1400" kern="100">
                          <a:effectLst/>
                          <a:latin typeface="Times New Roman" panose="02020603050405020304" pitchFamily="18" charset="0"/>
                          <a:ea typeface="微软雅黑" panose="020B0503020204020204" pitchFamily="34" charset="-122"/>
                          <a:cs typeface="Times New Roman" panose="02020603050405020304" pitchFamily="18" charset="0"/>
                        </a:rPr>
                        <a:t>大时间大空间</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2016.1.1 - 2016.3.30</a:t>
                      </a: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 -73.90, -73.85 ]</a:t>
                      </a: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000"/>
                        </a:lnSpc>
                        <a:spcAft>
                          <a:spcPts val="0"/>
                        </a:spcAft>
                      </a:pPr>
                      <a:r>
                        <a:rPr 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[40.75,40.80]</a:t>
                      </a:r>
                      <a:endPar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8279858"/>
                  </a:ext>
                </a:extLst>
              </a:tr>
            </a:tbl>
          </a:graphicData>
        </a:graphic>
      </p:graphicFrame>
    </p:spTree>
    <p:extLst>
      <p:ext uri="{BB962C8B-B14F-4D97-AF65-F5344CB8AC3E}">
        <p14:creationId xmlns:p14="http://schemas.microsoft.com/office/powerpoint/2010/main" val="10656518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17</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4 </a:t>
                </a:r>
                <a:r>
                  <a:rPr lang="zh-CN" altLang="en-US" sz="2400" b="1" dirty="0">
                    <a:latin typeface="微软雅黑" panose="020B0503020204020204" pitchFamily="34" charset="-122"/>
                    <a:ea typeface="微软雅黑" panose="020B0503020204020204" pitchFamily="34" charset="-122"/>
                  </a:rPr>
                  <a:t>实验结果与分析</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1" name="矩形 10">
            <a:extLst>
              <a:ext uri="{FF2B5EF4-FFF2-40B4-BE49-F238E27FC236}">
                <a16:creationId xmlns:a16="http://schemas.microsoft.com/office/drawing/2014/main" id="{F65FBEE1-B9E1-4624-9900-A87C53BAF880}"/>
              </a:ext>
            </a:extLst>
          </p:cNvPr>
          <p:cNvSpPr/>
          <p:nvPr/>
        </p:nvSpPr>
        <p:spPr>
          <a:xfrm>
            <a:off x="1055634" y="978500"/>
            <a:ext cx="2492990"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最大递归次数对比实验</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174CE559-EF0E-4BC5-BC9B-06167BE38CF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05600" y="1891135"/>
            <a:ext cx="5041500" cy="3518827"/>
          </a:xfrm>
          <a:prstGeom prst="rect">
            <a:avLst/>
          </a:prstGeom>
        </p:spPr>
      </p:pic>
      <p:pic>
        <p:nvPicPr>
          <p:cNvPr id="16" name="图片 15">
            <a:extLst>
              <a:ext uri="{FF2B5EF4-FFF2-40B4-BE49-F238E27FC236}">
                <a16:creationId xmlns:a16="http://schemas.microsoft.com/office/drawing/2014/main" id="{F544B158-D23E-473A-84BA-92830EFBFDD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559317" y="2233888"/>
            <a:ext cx="4595124" cy="3207672"/>
          </a:xfrm>
          <a:prstGeom prst="rect">
            <a:avLst/>
          </a:prstGeom>
        </p:spPr>
      </p:pic>
      <p:sp>
        <p:nvSpPr>
          <p:cNvPr id="12" name="矩形 11">
            <a:extLst>
              <a:ext uri="{FF2B5EF4-FFF2-40B4-BE49-F238E27FC236}">
                <a16:creationId xmlns:a16="http://schemas.microsoft.com/office/drawing/2014/main" id="{77ECF53D-F7D6-4163-8679-AA2E4977361F}"/>
              </a:ext>
            </a:extLst>
          </p:cNvPr>
          <p:cNvSpPr/>
          <p:nvPr/>
        </p:nvSpPr>
        <p:spPr>
          <a:xfrm>
            <a:off x="3086820" y="1569401"/>
            <a:ext cx="1581943" cy="463973"/>
          </a:xfrm>
          <a:prstGeom prst="rect">
            <a:avLst/>
          </a:prstGeom>
        </p:spPr>
        <p:txBody>
          <a:bodyPr wrap="square">
            <a:spAutoFit/>
          </a:bodyPr>
          <a:lstStyle/>
          <a:p>
            <a:pPr>
              <a:lnSpc>
                <a:spcPct val="150000"/>
              </a:lnSpc>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TS</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编码</a:t>
            </a:r>
            <a:endParaRPr lang="zh-CN" altLang="en-US" dirty="0"/>
          </a:p>
        </p:txBody>
      </p:sp>
      <p:pic>
        <p:nvPicPr>
          <p:cNvPr id="18" name="图片 17">
            <a:extLst>
              <a:ext uri="{FF2B5EF4-FFF2-40B4-BE49-F238E27FC236}">
                <a16:creationId xmlns:a16="http://schemas.microsoft.com/office/drawing/2014/main" id="{A7505AD8-1AE1-47A4-85C5-89C9D70DD19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6623817" y="1962651"/>
            <a:ext cx="4595124" cy="3207672"/>
          </a:xfrm>
          <a:prstGeom prst="rect">
            <a:avLst/>
          </a:prstGeom>
        </p:spPr>
      </p:pic>
      <p:sp>
        <p:nvSpPr>
          <p:cNvPr id="19" name="矩形 18">
            <a:extLst>
              <a:ext uri="{FF2B5EF4-FFF2-40B4-BE49-F238E27FC236}">
                <a16:creationId xmlns:a16="http://schemas.microsoft.com/office/drawing/2014/main" id="{B9BDB514-8699-45A0-B845-A4AEE2D5E4F1}"/>
              </a:ext>
            </a:extLst>
          </p:cNvPr>
          <p:cNvSpPr/>
          <p:nvPr/>
        </p:nvSpPr>
        <p:spPr>
          <a:xfrm>
            <a:off x="8921379" y="1498678"/>
            <a:ext cx="1365621" cy="463973"/>
          </a:xfrm>
          <a:prstGeom prst="rect">
            <a:avLst/>
          </a:prstGeom>
        </p:spPr>
        <p:txBody>
          <a:bodyPr wrap="square">
            <a:spAutoFit/>
          </a:bodyPr>
          <a:lstStyle/>
          <a:p>
            <a:pPr>
              <a:lnSpc>
                <a:spcPct val="150000"/>
              </a:lnSpc>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编码</a:t>
            </a:r>
            <a:endParaRPr lang="zh-CN" altLang="en-US" dirty="0"/>
          </a:p>
        </p:txBody>
      </p:sp>
    </p:spTree>
    <p:extLst>
      <p:ext uri="{BB962C8B-B14F-4D97-AF65-F5344CB8AC3E}">
        <p14:creationId xmlns:p14="http://schemas.microsoft.com/office/powerpoint/2010/main" val="3614244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18</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4 </a:t>
                </a:r>
                <a:r>
                  <a:rPr lang="zh-CN" altLang="en-US" sz="2400" b="1" dirty="0">
                    <a:latin typeface="微软雅黑" panose="020B0503020204020204" pitchFamily="34" charset="-122"/>
                    <a:ea typeface="微软雅黑" panose="020B0503020204020204" pitchFamily="34" charset="-122"/>
                  </a:rPr>
                  <a:t>实验结果与分析</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1" name="矩形 10">
            <a:extLst>
              <a:ext uri="{FF2B5EF4-FFF2-40B4-BE49-F238E27FC236}">
                <a16:creationId xmlns:a16="http://schemas.microsoft.com/office/drawing/2014/main" id="{F65FBEE1-B9E1-4624-9900-A87C53BAF880}"/>
              </a:ext>
            </a:extLst>
          </p:cNvPr>
          <p:cNvSpPr/>
          <p:nvPr/>
        </p:nvSpPr>
        <p:spPr>
          <a:xfrm>
            <a:off x="381264" y="992549"/>
            <a:ext cx="1620957" cy="369332"/>
          </a:xfrm>
          <a:prstGeom prst="rect">
            <a:avLst/>
          </a:prstGeom>
        </p:spPr>
        <p:txBody>
          <a:bodyPr wrap="none">
            <a:spAutoFit/>
          </a:bodyPr>
          <a:lstStyle/>
          <a:p>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-NN</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查询实验</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6" name="图片 15">
            <a:extLst>
              <a:ext uri="{FF2B5EF4-FFF2-40B4-BE49-F238E27FC236}">
                <a16:creationId xmlns:a16="http://schemas.microsoft.com/office/drawing/2014/main" id="{5669136A-82EE-43EA-84CC-6382C2A16D0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588" y="1464969"/>
            <a:ext cx="4384913" cy="4630223"/>
          </a:xfrm>
          <a:prstGeom prst="rect">
            <a:avLst/>
          </a:prstGeom>
          <a:noFill/>
          <a:ln>
            <a:noFill/>
          </a:ln>
        </p:spPr>
      </p:pic>
      <p:graphicFrame>
        <p:nvGraphicFramePr>
          <p:cNvPr id="13" name="表格 12">
            <a:extLst>
              <a:ext uri="{FF2B5EF4-FFF2-40B4-BE49-F238E27FC236}">
                <a16:creationId xmlns:a16="http://schemas.microsoft.com/office/drawing/2014/main" id="{20FCACD7-5010-4B4C-8BA4-92F04DC4B714}"/>
              </a:ext>
            </a:extLst>
          </p:cNvPr>
          <p:cNvGraphicFramePr>
            <a:graphicFrameLocks noGrp="1"/>
          </p:cNvGraphicFramePr>
          <p:nvPr>
            <p:extLst>
              <p:ext uri="{D42A27DB-BD31-4B8C-83A1-F6EECF244321}">
                <p14:modId xmlns:p14="http://schemas.microsoft.com/office/powerpoint/2010/main" val="3278934457"/>
              </p:ext>
            </p:extLst>
          </p:nvPr>
        </p:nvGraphicFramePr>
        <p:xfrm>
          <a:off x="4932419" y="1464969"/>
          <a:ext cx="7135204" cy="2526678"/>
        </p:xfrm>
        <a:graphic>
          <a:graphicData uri="http://schemas.openxmlformats.org/drawingml/2006/table">
            <a:tbl>
              <a:tblPr firstRow="1" firstCol="1" bandRow="1">
                <a:tableStyleId>{2D5ABB26-0587-4C30-8999-92F81FD0307C}</a:tableStyleId>
              </a:tblPr>
              <a:tblGrid>
                <a:gridCol w="1207022">
                  <a:extLst>
                    <a:ext uri="{9D8B030D-6E8A-4147-A177-3AD203B41FA5}">
                      <a16:colId xmlns:a16="http://schemas.microsoft.com/office/drawing/2014/main" val="120176241"/>
                    </a:ext>
                  </a:extLst>
                </a:gridCol>
                <a:gridCol w="634450">
                  <a:extLst>
                    <a:ext uri="{9D8B030D-6E8A-4147-A177-3AD203B41FA5}">
                      <a16:colId xmlns:a16="http://schemas.microsoft.com/office/drawing/2014/main" val="3952667786"/>
                    </a:ext>
                  </a:extLst>
                </a:gridCol>
                <a:gridCol w="931704">
                  <a:extLst>
                    <a:ext uri="{9D8B030D-6E8A-4147-A177-3AD203B41FA5}">
                      <a16:colId xmlns:a16="http://schemas.microsoft.com/office/drawing/2014/main" val="1527260820"/>
                    </a:ext>
                  </a:extLst>
                </a:gridCol>
                <a:gridCol w="1025929">
                  <a:extLst>
                    <a:ext uri="{9D8B030D-6E8A-4147-A177-3AD203B41FA5}">
                      <a16:colId xmlns:a16="http://schemas.microsoft.com/office/drawing/2014/main" val="1398672709"/>
                    </a:ext>
                  </a:extLst>
                </a:gridCol>
                <a:gridCol w="1151836">
                  <a:extLst>
                    <a:ext uri="{9D8B030D-6E8A-4147-A177-3AD203B41FA5}">
                      <a16:colId xmlns:a16="http://schemas.microsoft.com/office/drawing/2014/main" val="1568665098"/>
                    </a:ext>
                  </a:extLst>
                </a:gridCol>
                <a:gridCol w="1151836">
                  <a:extLst>
                    <a:ext uri="{9D8B030D-6E8A-4147-A177-3AD203B41FA5}">
                      <a16:colId xmlns:a16="http://schemas.microsoft.com/office/drawing/2014/main" val="295210139"/>
                    </a:ext>
                  </a:extLst>
                </a:gridCol>
                <a:gridCol w="1032427">
                  <a:extLst>
                    <a:ext uri="{9D8B030D-6E8A-4147-A177-3AD203B41FA5}">
                      <a16:colId xmlns:a16="http://schemas.microsoft.com/office/drawing/2014/main" val="145980102"/>
                    </a:ext>
                  </a:extLst>
                </a:gridCol>
              </a:tblGrid>
              <a:tr h="328772">
                <a:tc rowSpan="2">
                  <a:txBody>
                    <a:bodyPr/>
                    <a:lstStyle/>
                    <a:p>
                      <a:pPr algn="ctr">
                        <a:spcAft>
                          <a:spcPts val="0"/>
                        </a:spcAft>
                      </a:pPr>
                      <a:r>
                        <a:rPr lang="en-US" altLang="zh-CN" sz="17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rPr>
                        <a:t>数据分布</a:t>
                      </a:r>
                    </a:p>
                  </a:txBody>
                  <a:tcPr marL="104647" marR="104647" marT="52324" marB="5232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rowSpan="2">
                  <a:txBody>
                    <a:bodyPr/>
                    <a:lstStyle/>
                    <a:p>
                      <a:pPr algn="ctr">
                        <a:spcAft>
                          <a:spcPts val="0"/>
                        </a:spcAft>
                      </a:pPr>
                      <a:r>
                        <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rPr>
                        <a:t>序号</a:t>
                      </a:r>
                    </a:p>
                  </a:txBody>
                  <a:tcPr marL="104647" marR="104647" marT="52324" marB="5232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5">
                  <a:txBody>
                    <a:bodyPr/>
                    <a:lstStyle/>
                    <a:p>
                      <a:pPr algn="ctr">
                        <a:spcAft>
                          <a:spcPts val="0"/>
                        </a:spcAft>
                      </a:pPr>
                      <a:r>
                        <a:rPr lang="zh-CN" sz="1700" kern="100">
                          <a:effectLst/>
                          <a:latin typeface="Times New Roman" panose="02020603050405020304" pitchFamily="18" charset="0"/>
                          <a:ea typeface="微软雅黑" panose="020B0503020204020204" pitchFamily="34" charset="-122"/>
                          <a:cs typeface="Times New Roman" panose="02020603050405020304" pitchFamily="18" charset="0"/>
                        </a:rPr>
                        <a:t>查询时间（</a:t>
                      </a: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ms</a:t>
                      </a:r>
                      <a:r>
                        <a:rPr lang="zh-CN" sz="1700" kern="10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104647" marR="104647" marT="52324" marB="5232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87107790"/>
                  </a:ext>
                </a:extLst>
              </a:tr>
              <a:tr h="309666">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700" i="1" kern="100" dirty="0">
                          <a:effectLst/>
                          <a:latin typeface="Times New Roman" panose="02020603050405020304" pitchFamily="18" charset="0"/>
                          <a:ea typeface="微软雅黑" panose="020B0503020204020204" pitchFamily="34" charset="-122"/>
                          <a:cs typeface="Times New Roman" panose="02020603050405020304" pitchFamily="18" charset="0"/>
                        </a:rPr>
                        <a:t>k</a:t>
                      </a: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=100</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i="1" kern="100" dirty="0">
                          <a:effectLst/>
                          <a:latin typeface="Times New Roman" panose="02020603050405020304" pitchFamily="18" charset="0"/>
                          <a:ea typeface="微软雅黑" panose="020B0503020204020204" pitchFamily="34" charset="-122"/>
                          <a:cs typeface="Times New Roman" panose="02020603050405020304" pitchFamily="18" charset="0"/>
                        </a:rPr>
                        <a:t>k</a:t>
                      </a: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=200</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i="1" kern="100" dirty="0">
                          <a:effectLst/>
                          <a:latin typeface="Times New Roman" panose="02020603050405020304" pitchFamily="18" charset="0"/>
                          <a:ea typeface="微软雅黑" panose="020B0503020204020204" pitchFamily="34" charset="-122"/>
                          <a:cs typeface="Times New Roman" panose="02020603050405020304" pitchFamily="18" charset="0"/>
                        </a:rPr>
                        <a:t>k</a:t>
                      </a: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=500</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i="1" kern="100" dirty="0">
                          <a:effectLst/>
                          <a:latin typeface="Times New Roman" panose="02020603050405020304" pitchFamily="18" charset="0"/>
                          <a:ea typeface="微软雅黑" panose="020B0503020204020204" pitchFamily="34" charset="-122"/>
                          <a:cs typeface="Times New Roman" panose="02020603050405020304" pitchFamily="18" charset="0"/>
                        </a:rPr>
                        <a:t>k</a:t>
                      </a: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=1000</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i="1" u="sng" kern="100" dirty="0">
                          <a:effectLst/>
                          <a:latin typeface="Times New Roman" panose="02020603050405020304" pitchFamily="18" charset="0"/>
                          <a:ea typeface="微软雅黑" panose="020B0503020204020204" pitchFamily="34" charset="-122"/>
                          <a:cs typeface="Times New Roman" panose="02020603050405020304" pitchFamily="18" charset="0"/>
                        </a:rPr>
                        <a:t>k</a:t>
                      </a: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=5000</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1854968"/>
                  </a:ext>
                </a:extLst>
              </a:tr>
              <a:tr h="287982">
                <a:tc rowSpan="3">
                  <a:txBody>
                    <a:bodyPr/>
                    <a:lstStyle/>
                    <a:p>
                      <a:pPr indent="133350" algn="dist">
                        <a:spcAft>
                          <a:spcPts val="0"/>
                        </a:spcAft>
                      </a:pPr>
                      <a:r>
                        <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rPr>
                        <a:t>数据密集</a:t>
                      </a:r>
                    </a:p>
                  </a:txBody>
                  <a:tcPr marL="104647" marR="104647" marT="52324" marB="5232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indent="133350"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115</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136</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946</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310</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1233</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314562"/>
                  </a:ext>
                </a:extLst>
              </a:tr>
              <a:tr h="287982">
                <a:tc vMerge="1">
                  <a:txBody>
                    <a:bodyPr/>
                    <a:lstStyle/>
                    <a:p>
                      <a:endParaRPr lang="zh-CN" altLang="en-US"/>
                    </a:p>
                  </a:txBody>
                  <a:tcPr/>
                </a:tc>
                <a:tc>
                  <a:txBody>
                    <a:bodyPr/>
                    <a:lstStyle/>
                    <a:p>
                      <a:pPr indent="133350"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2</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177</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461</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269</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851</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2594</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826669"/>
                  </a:ext>
                </a:extLst>
              </a:tr>
              <a:tr h="359842">
                <a:tc vMerge="1">
                  <a:txBody>
                    <a:bodyPr/>
                    <a:lstStyle/>
                    <a:p>
                      <a:endParaRPr lang="zh-CN" altLang="en-US"/>
                    </a:p>
                  </a:txBody>
                  <a:tcPr/>
                </a:tc>
                <a:tc>
                  <a:txBody>
                    <a:bodyPr/>
                    <a:lstStyle/>
                    <a:p>
                      <a:pPr algn="ctr">
                        <a:spcAft>
                          <a:spcPts val="0"/>
                        </a:spcAft>
                      </a:pP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  3</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398</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615</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1165</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2215</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4323</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271951"/>
                  </a:ext>
                </a:extLst>
              </a:tr>
              <a:tr h="341514">
                <a:tc rowSpan="3">
                  <a:txBody>
                    <a:bodyPr/>
                    <a:lstStyle/>
                    <a:p>
                      <a:pPr indent="133350" algn="ctr">
                        <a:spcAft>
                          <a:spcPts val="0"/>
                        </a:spcAft>
                      </a:pPr>
                      <a:r>
                        <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rPr>
                        <a:t>数据稀疏</a:t>
                      </a:r>
                    </a:p>
                  </a:txBody>
                  <a:tcPr marL="104647" marR="104647" marT="52324" marB="52324"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indent="133350"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4</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indent="133350" algn="just">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3303</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3724</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4421</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7658</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62341</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703642"/>
                  </a:ext>
                </a:extLst>
              </a:tr>
              <a:tr h="287982">
                <a:tc vMerge="1">
                  <a:txBody>
                    <a:bodyPr/>
                    <a:lstStyle/>
                    <a:p>
                      <a:endParaRPr lang="zh-CN" altLang="en-US"/>
                    </a:p>
                  </a:txBody>
                  <a:tcPr/>
                </a:tc>
                <a:tc>
                  <a:txBody>
                    <a:bodyPr/>
                    <a:lstStyle/>
                    <a:p>
                      <a:pPr indent="133350"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5</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1816</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3527</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9800</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18497</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96623</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625143"/>
                  </a:ext>
                </a:extLst>
              </a:tr>
              <a:tr h="287982">
                <a:tc vMerge="1">
                  <a:txBody>
                    <a:bodyPr/>
                    <a:lstStyle/>
                    <a:p>
                      <a:endParaRPr lang="zh-CN" altLang="en-US"/>
                    </a:p>
                  </a:txBody>
                  <a:tcPr/>
                </a:tc>
                <a:tc>
                  <a:txBody>
                    <a:bodyPr/>
                    <a:lstStyle/>
                    <a:p>
                      <a:pPr indent="133350"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6</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6766</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7884</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13433</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a:effectLst/>
                          <a:latin typeface="Times New Roman" panose="02020603050405020304" pitchFamily="18" charset="0"/>
                          <a:ea typeface="微软雅黑" panose="020B0503020204020204" pitchFamily="34" charset="-122"/>
                          <a:cs typeface="Times New Roman" panose="02020603050405020304" pitchFamily="18" charset="0"/>
                        </a:rPr>
                        <a:t>23259</a:t>
                      </a:r>
                      <a:endParaRPr lang="zh-CN" sz="17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1700" kern="100" dirty="0">
                          <a:effectLst/>
                          <a:latin typeface="Times New Roman" panose="02020603050405020304" pitchFamily="18" charset="0"/>
                          <a:ea typeface="微软雅黑" panose="020B0503020204020204" pitchFamily="34" charset="-122"/>
                          <a:cs typeface="Times New Roman" panose="02020603050405020304" pitchFamily="18" charset="0"/>
                        </a:rPr>
                        <a:t>52467</a:t>
                      </a:r>
                      <a:endParaRPr lang="zh-CN" sz="17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106411" marR="106411"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1005382"/>
                  </a:ext>
                </a:extLst>
              </a:tr>
            </a:tbl>
          </a:graphicData>
        </a:graphic>
      </p:graphicFrame>
      <p:sp>
        <p:nvSpPr>
          <p:cNvPr id="12" name="矩形 11">
            <a:extLst>
              <a:ext uri="{FF2B5EF4-FFF2-40B4-BE49-F238E27FC236}">
                <a16:creationId xmlns:a16="http://schemas.microsoft.com/office/drawing/2014/main" id="{8A82260D-B497-4AC8-8756-89F85A3EF43E}"/>
              </a:ext>
            </a:extLst>
          </p:cNvPr>
          <p:cNvSpPr/>
          <p:nvPr/>
        </p:nvSpPr>
        <p:spPr>
          <a:xfrm>
            <a:off x="5046903" y="4443581"/>
            <a:ext cx="6906236" cy="1291957"/>
          </a:xfrm>
          <a:prstGeom prst="rect">
            <a:avLst/>
          </a:prstGeom>
        </p:spPr>
        <p:txBody>
          <a:bodyPr wrap="square">
            <a:spAutoFit/>
          </a:bodyPr>
          <a:lstStyle/>
          <a:p>
            <a:pPr indent="304800" algn="just">
              <a:lnSpc>
                <a:spcPct val="150000"/>
              </a:lnSpc>
              <a:spcAft>
                <a:spcPts val="0"/>
              </a:spcAft>
            </a:pP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横向比较来看，随着</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的不断增加，</a:t>
            </a:r>
            <a:r>
              <a:rPr lang="en-US" altLang="zh-CN" b="1" i="1" kern="100"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查询所消耗的时间同样不断增加，且在数据密集区域</a:t>
            </a:r>
            <a:r>
              <a:rPr lang="en-US" altLang="zh-CN" b="1" i="1" kern="100"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查询时间更为稳定，而在数据稀疏区域</a:t>
            </a:r>
            <a:r>
              <a:rPr lang="en-US" altLang="zh-CN" b="1" i="1" kern="100"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查询时间会呈明显的线性增长</a:t>
            </a:r>
            <a:endParaRPr lang="zh-CN" altLang="zh-CN" sz="1400" b="1"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500299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19</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4 </a:t>
                </a:r>
                <a:r>
                  <a:rPr lang="zh-CN" altLang="en-US" sz="2400" b="1" dirty="0">
                    <a:latin typeface="微软雅黑" panose="020B0503020204020204" pitchFamily="34" charset="-122"/>
                    <a:ea typeface="微软雅黑" panose="020B0503020204020204" pitchFamily="34" charset="-122"/>
                  </a:rPr>
                  <a:t>实验结果与分析</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pic>
        <p:nvPicPr>
          <p:cNvPr id="15" name="图片 14">
            <a:extLst>
              <a:ext uri="{FF2B5EF4-FFF2-40B4-BE49-F238E27FC236}">
                <a16:creationId xmlns:a16="http://schemas.microsoft.com/office/drawing/2014/main" id="{108DA0D6-5750-4240-AA13-6B1112F75E4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9553" y="1461194"/>
            <a:ext cx="4226470" cy="2901113"/>
          </a:xfrm>
          <a:prstGeom prst="rect">
            <a:avLst/>
          </a:prstGeom>
          <a:noFill/>
          <a:ln>
            <a:noFill/>
          </a:ln>
        </p:spPr>
      </p:pic>
      <p:pic>
        <p:nvPicPr>
          <p:cNvPr id="16" name="图片 15">
            <a:extLst>
              <a:ext uri="{FF2B5EF4-FFF2-40B4-BE49-F238E27FC236}">
                <a16:creationId xmlns:a16="http://schemas.microsoft.com/office/drawing/2014/main" id="{4C94EFA3-EE3D-4378-B936-C57A36535A3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3817" y="1461194"/>
            <a:ext cx="4227017" cy="2901100"/>
          </a:xfrm>
          <a:prstGeom prst="rect">
            <a:avLst/>
          </a:prstGeom>
          <a:noFill/>
          <a:ln>
            <a:noFill/>
          </a:ln>
        </p:spPr>
      </p:pic>
      <p:sp>
        <p:nvSpPr>
          <p:cNvPr id="12" name="文本框 11">
            <a:extLst>
              <a:ext uri="{FF2B5EF4-FFF2-40B4-BE49-F238E27FC236}">
                <a16:creationId xmlns:a16="http://schemas.microsoft.com/office/drawing/2014/main" id="{C2503987-5572-4B57-B3C6-16A589C73C3C}"/>
              </a:ext>
            </a:extLst>
          </p:cNvPr>
          <p:cNvSpPr txBox="1"/>
          <p:nvPr/>
        </p:nvSpPr>
        <p:spPr>
          <a:xfrm>
            <a:off x="1977059" y="4362294"/>
            <a:ext cx="2468880" cy="369332"/>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编号</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对比实验</a:t>
            </a:r>
          </a:p>
        </p:txBody>
      </p:sp>
      <p:sp>
        <p:nvSpPr>
          <p:cNvPr id="17" name="文本框 16">
            <a:extLst>
              <a:ext uri="{FF2B5EF4-FFF2-40B4-BE49-F238E27FC236}">
                <a16:creationId xmlns:a16="http://schemas.microsoft.com/office/drawing/2014/main" id="{88302618-6B79-4B70-9704-C73F054C06EB}"/>
              </a:ext>
            </a:extLst>
          </p:cNvPr>
          <p:cNvSpPr txBox="1"/>
          <p:nvPr/>
        </p:nvSpPr>
        <p:spPr>
          <a:xfrm>
            <a:off x="8081432" y="4362294"/>
            <a:ext cx="2468880" cy="369332"/>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编号</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对比实验</a:t>
            </a:r>
          </a:p>
        </p:txBody>
      </p:sp>
      <p:sp>
        <p:nvSpPr>
          <p:cNvPr id="11" name="矩形 10">
            <a:extLst>
              <a:ext uri="{FF2B5EF4-FFF2-40B4-BE49-F238E27FC236}">
                <a16:creationId xmlns:a16="http://schemas.microsoft.com/office/drawing/2014/main" id="{D34B2AB3-0D51-487E-8798-D7460CD38422}"/>
              </a:ext>
            </a:extLst>
          </p:cNvPr>
          <p:cNvSpPr/>
          <p:nvPr/>
        </p:nvSpPr>
        <p:spPr>
          <a:xfrm>
            <a:off x="1343023" y="5135626"/>
            <a:ext cx="9633857" cy="881139"/>
          </a:xfrm>
          <a:prstGeom prst="rect">
            <a:avLst/>
          </a:prstGeom>
        </p:spPr>
        <p:txBody>
          <a:bodyPr wrap="square">
            <a:spAutoFit/>
          </a:bodyPr>
          <a:lstStyle/>
          <a:p>
            <a:pPr lvl="0">
              <a:lnSpc>
                <a:spcPct val="150000"/>
              </a:lnSpc>
              <a:defRPr/>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根据数据分布</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选择合适的网格边长再进行搜索，优化过后的</a:t>
            </a:r>
            <a:r>
              <a:rPr lang="en-US" altLang="zh-CN" b="1"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算法查询效率有大幅度的提升，且在数据稀疏区域有更显著的效果。</a:t>
            </a:r>
          </a:p>
        </p:txBody>
      </p:sp>
    </p:spTree>
    <p:extLst>
      <p:ext uri="{BB962C8B-B14F-4D97-AF65-F5344CB8AC3E}">
        <p14:creationId xmlns:p14="http://schemas.microsoft.com/office/powerpoint/2010/main" val="2592447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64159"/>
        </a:solidFill>
        <a:effectLst/>
      </p:bgPr>
    </p:bg>
    <p:spTree>
      <p:nvGrpSpPr>
        <p:cNvPr id="1" name=""/>
        <p:cNvGrpSpPr/>
        <p:nvPr/>
      </p:nvGrpSpPr>
      <p:grpSpPr>
        <a:xfrm>
          <a:off x="0" y="0"/>
          <a:ext cx="0" cy="0"/>
          <a:chOff x="0" y="0"/>
          <a:chExt cx="0" cy="0"/>
        </a:xfrm>
      </p:grpSpPr>
      <p:grpSp>
        <p:nvGrpSpPr>
          <p:cNvPr id="112" name="组合 17">
            <a:extLst>
              <a:ext uri="{FF2B5EF4-FFF2-40B4-BE49-F238E27FC236}">
                <a16:creationId xmlns:a16="http://schemas.microsoft.com/office/drawing/2014/main" id="{38D18476-863B-4DF7-ADF0-1F89E5C38871}"/>
              </a:ext>
            </a:extLst>
          </p:cNvPr>
          <p:cNvGrpSpPr>
            <a:grpSpLocks/>
          </p:cNvGrpSpPr>
          <p:nvPr/>
        </p:nvGrpSpPr>
        <p:grpSpPr bwMode="auto">
          <a:xfrm>
            <a:off x="2409825" y="2787463"/>
            <a:ext cx="842963" cy="781050"/>
            <a:chOff x="0" y="0"/>
            <a:chExt cx="730541" cy="759532"/>
          </a:xfrm>
        </p:grpSpPr>
        <p:sp>
          <p:nvSpPr>
            <p:cNvPr id="113" name="矩形​​ 3">
              <a:extLst>
                <a:ext uri="{FF2B5EF4-FFF2-40B4-BE49-F238E27FC236}">
                  <a16:creationId xmlns:a16="http://schemas.microsoft.com/office/drawing/2014/main" id="{1DC09535-BFD4-4E4A-9E49-295B5C1CE383}"/>
                </a:ext>
              </a:extLst>
            </p:cNvPr>
            <p:cNvSpPr>
              <a:spLocks noChangeArrowheads="1"/>
            </p:cNvSpPr>
            <p:nvPr/>
          </p:nvSpPr>
          <p:spPr bwMode="auto">
            <a:xfrm>
              <a:off x="0" y="22421"/>
              <a:ext cx="730541" cy="737111"/>
            </a:xfrm>
            <a:custGeom>
              <a:avLst/>
              <a:gdLst>
                <a:gd name="T0" fmla="*/ 0 w 1152128"/>
                <a:gd name="T1" fmla="*/ 0 h 936104"/>
                <a:gd name="T2" fmla="*/ 499 w 1152128"/>
                <a:gd name="T3" fmla="*/ 0 h 936104"/>
                <a:gd name="T4" fmla="*/ 499 w 1152128"/>
                <a:gd name="T5" fmla="*/ 13625 h 936104"/>
                <a:gd name="T6" fmla="*/ 311 w 1152128"/>
                <a:gd name="T7" fmla="*/ 13625 h 936104"/>
                <a:gd name="T8" fmla="*/ 249 w 1152128"/>
                <a:gd name="T9" fmla="*/ 16101 h 936104"/>
                <a:gd name="T10" fmla="*/ 187 w 1152128"/>
                <a:gd name="T11" fmla="*/ 13625 h 936104"/>
                <a:gd name="T12" fmla="*/ 0 w 1152128"/>
                <a:gd name="T13" fmla="*/ 13625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4" name="TextBox 120">
              <a:extLst>
                <a:ext uri="{FF2B5EF4-FFF2-40B4-BE49-F238E27FC236}">
                  <a16:creationId xmlns:a16="http://schemas.microsoft.com/office/drawing/2014/main" id="{17557EB4-4F91-417A-A5E0-349DE5F2FDE1}"/>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2</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15" name="组合 20">
            <a:extLst>
              <a:ext uri="{FF2B5EF4-FFF2-40B4-BE49-F238E27FC236}">
                <a16:creationId xmlns:a16="http://schemas.microsoft.com/office/drawing/2014/main" id="{82157FCB-4D2D-4C27-995F-E8883F06F80B}"/>
              </a:ext>
            </a:extLst>
          </p:cNvPr>
          <p:cNvGrpSpPr>
            <a:grpSpLocks/>
          </p:cNvGrpSpPr>
          <p:nvPr/>
        </p:nvGrpSpPr>
        <p:grpSpPr bwMode="auto">
          <a:xfrm>
            <a:off x="2409825" y="3688406"/>
            <a:ext cx="842963" cy="784225"/>
            <a:chOff x="0" y="0"/>
            <a:chExt cx="730541" cy="760784"/>
          </a:xfrm>
        </p:grpSpPr>
        <p:sp>
          <p:nvSpPr>
            <p:cNvPr id="116" name="矩形​​ 3">
              <a:extLst>
                <a:ext uri="{FF2B5EF4-FFF2-40B4-BE49-F238E27FC236}">
                  <a16:creationId xmlns:a16="http://schemas.microsoft.com/office/drawing/2014/main" id="{CC1D141D-87B8-45CC-8B6E-AA69F97034D9}"/>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17" name="TextBox 123">
              <a:extLst>
                <a:ext uri="{FF2B5EF4-FFF2-40B4-BE49-F238E27FC236}">
                  <a16:creationId xmlns:a16="http://schemas.microsoft.com/office/drawing/2014/main" id="{8459AE70-419C-4FD9-9D7A-2A497EEBF7F9}"/>
                </a:ext>
              </a:extLst>
            </p:cNvPr>
            <p:cNvSpPr>
              <a:spLocks noChangeArrowheads="1"/>
            </p:cNvSpPr>
            <p:nvPr/>
          </p:nvSpPr>
          <p:spPr bwMode="auto">
            <a:xfrm>
              <a:off x="153486"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3</a:t>
              </a:r>
              <a:endParaRPr lang="zh-CN" altLang="en-US" sz="4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18" name="矩形​​ 9">
            <a:extLst>
              <a:ext uri="{FF2B5EF4-FFF2-40B4-BE49-F238E27FC236}">
                <a16:creationId xmlns:a16="http://schemas.microsoft.com/office/drawing/2014/main" id="{E16838FE-33C9-4C35-8C5E-A3C18AE50E01}"/>
              </a:ext>
            </a:extLst>
          </p:cNvPr>
          <p:cNvSpPr>
            <a:spLocks noChangeArrowheads="1"/>
          </p:cNvSpPr>
          <p:nvPr/>
        </p:nvSpPr>
        <p:spPr bwMode="auto">
          <a:xfrm>
            <a:off x="3790950" y="1910332"/>
            <a:ext cx="5953125" cy="693738"/>
          </a:xfrm>
          <a:prstGeom prst="rect">
            <a:avLst/>
          </a:prstGeom>
          <a:gradFill rotWithShape="1">
            <a:gsLst>
              <a:gs pos="0">
                <a:schemeClr val="bg1"/>
              </a:gs>
              <a:gs pos="50000">
                <a:srgbClr val="D4D4D4"/>
              </a:gs>
              <a:gs pos="100000">
                <a:srgbClr val="FFFFFF"/>
              </a:gs>
            </a:gsLst>
            <a:path path="rect">
              <a:fillToRect l="100000" t="100000"/>
            </a:path>
          </a:gra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19" name="矩形​​ 10">
            <a:extLst>
              <a:ext uri="{FF2B5EF4-FFF2-40B4-BE49-F238E27FC236}">
                <a16:creationId xmlns:a16="http://schemas.microsoft.com/office/drawing/2014/main" id="{541DD504-0D9B-4C81-83EA-71CADAEB3CA1}"/>
              </a:ext>
            </a:extLst>
          </p:cNvPr>
          <p:cNvSpPr>
            <a:spLocks noChangeArrowheads="1"/>
          </p:cNvSpPr>
          <p:nvPr/>
        </p:nvSpPr>
        <p:spPr bwMode="auto">
          <a:xfrm>
            <a:off x="3790950" y="2808498"/>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0" name="矩形​​ 11">
            <a:extLst>
              <a:ext uri="{FF2B5EF4-FFF2-40B4-BE49-F238E27FC236}">
                <a16:creationId xmlns:a16="http://schemas.microsoft.com/office/drawing/2014/main" id="{4B60AE5C-CCEF-4BB6-946A-5B3A81F67272}"/>
              </a:ext>
            </a:extLst>
          </p:cNvPr>
          <p:cNvSpPr>
            <a:spLocks noChangeArrowheads="1"/>
          </p:cNvSpPr>
          <p:nvPr/>
        </p:nvSpPr>
        <p:spPr bwMode="auto">
          <a:xfrm>
            <a:off x="3790950" y="3708251"/>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21" name="TextBox 132">
            <a:extLst>
              <a:ext uri="{FF2B5EF4-FFF2-40B4-BE49-F238E27FC236}">
                <a16:creationId xmlns:a16="http://schemas.microsoft.com/office/drawing/2014/main" id="{BACA0B10-7119-470A-B9EC-A12CAFD5CD4A}"/>
              </a:ext>
            </a:extLst>
          </p:cNvPr>
          <p:cNvSpPr>
            <a:spLocks noChangeArrowheads="1"/>
          </p:cNvSpPr>
          <p:nvPr/>
        </p:nvSpPr>
        <p:spPr bwMode="auto">
          <a:xfrm>
            <a:off x="4367213" y="1999232"/>
            <a:ext cx="4721369"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研究背景及国内外研究现状</a:t>
            </a:r>
          </a:p>
        </p:txBody>
      </p:sp>
      <p:sp>
        <p:nvSpPr>
          <p:cNvPr id="122" name="TextBox 133">
            <a:extLst>
              <a:ext uri="{FF2B5EF4-FFF2-40B4-BE49-F238E27FC236}">
                <a16:creationId xmlns:a16="http://schemas.microsoft.com/office/drawing/2014/main" id="{215A29CD-7CE1-43DA-A7E9-D185BA95AD4F}"/>
              </a:ext>
            </a:extLst>
          </p:cNvPr>
          <p:cNvSpPr>
            <a:spLocks noChangeArrowheads="1"/>
          </p:cNvSpPr>
          <p:nvPr/>
        </p:nvSpPr>
        <p:spPr bwMode="auto">
          <a:xfrm>
            <a:off x="4367213" y="2898191"/>
            <a:ext cx="5029711"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时空索引设计及存储</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123" name="TextBox 134">
            <a:extLst>
              <a:ext uri="{FF2B5EF4-FFF2-40B4-BE49-F238E27FC236}">
                <a16:creationId xmlns:a16="http://schemas.microsoft.com/office/drawing/2014/main" id="{FF70EC35-0F45-4F4F-B119-A1FF75641ED2}"/>
              </a:ext>
            </a:extLst>
          </p:cNvPr>
          <p:cNvSpPr>
            <a:spLocks noChangeArrowheads="1"/>
          </p:cNvSpPr>
          <p:nvPr/>
        </p:nvSpPr>
        <p:spPr bwMode="auto">
          <a:xfrm>
            <a:off x="4367213" y="3797150"/>
            <a:ext cx="5012688" cy="5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时空查询算法设计</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grpSp>
        <p:nvGrpSpPr>
          <p:cNvPr id="124" name="组合 14">
            <a:extLst>
              <a:ext uri="{FF2B5EF4-FFF2-40B4-BE49-F238E27FC236}">
                <a16:creationId xmlns:a16="http://schemas.microsoft.com/office/drawing/2014/main" id="{4C14C88A-F445-40AE-97A7-4BB199081F01}"/>
              </a:ext>
            </a:extLst>
          </p:cNvPr>
          <p:cNvGrpSpPr>
            <a:grpSpLocks/>
          </p:cNvGrpSpPr>
          <p:nvPr/>
        </p:nvGrpSpPr>
        <p:grpSpPr bwMode="auto">
          <a:xfrm>
            <a:off x="2409825" y="1872232"/>
            <a:ext cx="842963" cy="795338"/>
            <a:chOff x="0" y="0"/>
            <a:chExt cx="730541" cy="773013"/>
          </a:xfrm>
        </p:grpSpPr>
        <p:sp>
          <p:nvSpPr>
            <p:cNvPr id="125" name="矩形​​ 3">
              <a:extLst>
                <a:ext uri="{FF2B5EF4-FFF2-40B4-BE49-F238E27FC236}">
                  <a16:creationId xmlns:a16="http://schemas.microsoft.com/office/drawing/2014/main" id="{2D95A302-C4EE-4A06-8610-1A7BF5FC68A2}"/>
                </a:ext>
              </a:extLst>
            </p:cNvPr>
            <p:cNvSpPr>
              <a:spLocks noChangeArrowheads="1"/>
            </p:cNvSpPr>
            <p:nvPr/>
          </p:nvSpPr>
          <p:spPr bwMode="auto">
            <a:xfrm>
              <a:off x="0" y="34650"/>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26" name="TextBox 17">
              <a:extLst>
                <a:ext uri="{FF2B5EF4-FFF2-40B4-BE49-F238E27FC236}">
                  <a16:creationId xmlns:a16="http://schemas.microsoft.com/office/drawing/2014/main" id="{253A7B79-CDCA-401A-86B5-6D27F64C435B}"/>
                </a:ext>
              </a:extLst>
            </p:cNvPr>
            <p:cNvSpPr>
              <a:spLocks noChangeArrowheads="1"/>
            </p:cNvSpPr>
            <p:nvPr/>
          </p:nvSpPr>
          <p:spPr bwMode="auto">
            <a:xfrm>
              <a:off x="150641" y="0"/>
              <a:ext cx="366927" cy="67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1</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grpSp>
        <p:nvGrpSpPr>
          <p:cNvPr id="127" name="组合 16">
            <a:extLst>
              <a:ext uri="{FF2B5EF4-FFF2-40B4-BE49-F238E27FC236}">
                <a16:creationId xmlns:a16="http://schemas.microsoft.com/office/drawing/2014/main" id="{8C39F07B-23D1-4F47-B07B-D9CAD4217582}"/>
              </a:ext>
            </a:extLst>
          </p:cNvPr>
          <p:cNvGrpSpPr>
            <a:grpSpLocks/>
          </p:cNvGrpSpPr>
          <p:nvPr/>
        </p:nvGrpSpPr>
        <p:grpSpPr bwMode="auto">
          <a:xfrm>
            <a:off x="1308100" y="702754"/>
            <a:ext cx="3200400" cy="1065212"/>
            <a:chOff x="1435540" y="774700"/>
            <a:chExt cx="3679385" cy="1327150"/>
          </a:xfrm>
        </p:grpSpPr>
        <p:sp>
          <p:nvSpPr>
            <p:cNvPr id="128" name="标题 24">
              <a:extLst>
                <a:ext uri="{FF2B5EF4-FFF2-40B4-BE49-F238E27FC236}">
                  <a16:creationId xmlns:a16="http://schemas.microsoft.com/office/drawing/2014/main" id="{1111E0C1-A04C-4BB4-8B07-B12882080E19}"/>
                </a:ext>
              </a:extLst>
            </p:cNvPr>
            <p:cNvSpPr>
              <a:spLocks noChangeArrowheads="1"/>
            </p:cNvSpPr>
            <p:nvPr/>
          </p:nvSpPr>
          <p:spPr bwMode="auto">
            <a:xfrm>
              <a:off x="2230438" y="774700"/>
              <a:ext cx="2884487"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4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 录 </a:t>
              </a:r>
              <a:r>
                <a:rPr lang="en-US" altLang="zh-CN"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ONTENTS</a:t>
              </a:r>
              <a:endPar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9" name="标题 24">
              <a:extLst>
                <a:ext uri="{FF2B5EF4-FFF2-40B4-BE49-F238E27FC236}">
                  <a16:creationId xmlns:a16="http://schemas.microsoft.com/office/drawing/2014/main" id="{541B6201-AA1A-4929-BC86-8BA20E076ED1}"/>
                </a:ext>
              </a:extLst>
            </p:cNvPr>
            <p:cNvSpPr>
              <a:spLocks noChangeArrowheads="1"/>
            </p:cNvSpPr>
            <p:nvPr/>
          </p:nvSpPr>
          <p:spPr bwMode="auto">
            <a:xfrm>
              <a:off x="1435540" y="1102047"/>
              <a:ext cx="895351"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8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30" name="组合 23">
            <a:extLst>
              <a:ext uri="{FF2B5EF4-FFF2-40B4-BE49-F238E27FC236}">
                <a16:creationId xmlns:a16="http://schemas.microsoft.com/office/drawing/2014/main" id="{16F0A8BE-D773-4A4E-AA73-6A17059B4F74}"/>
              </a:ext>
            </a:extLst>
          </p:cNvPr>
          <p:cNvGrpSpPr>
            <a:grpSpLocks/>
          </p:cNvGrpSpPr>
          <p:nvPr/>
        </p:nvGrpSpPr>
        <p:grpSpPr bwMode="auto">
          <a:xfrm>
            <a:off x="2416175" y="5496644"/>
            <a:ext cx="823913" cy="738664"/>
            <a:chOff x="0" y="0"/>
            <a:chExt cx="713411" cy="717127"/>
          </a:xfrm>
        </p:grpSpPr>
        <p:sp>
          <p:nvSpPr>
            <p:cNvPr id="131" name="矩形​​ 8">
              <a:extLst>
                <a:ext uri="{FF2B5EF4-FFF2-40B4-BE49-F238E27FC236}">
                  <a16:creationId xmlns:a16="http://schemas.microsoft.com/office/drawing/2014/main" id="{2BB80197-32A8-4B32-83B6-A70BE7F29327}"/>
                </a:ext>
              </a:extLst>
            </p:cNvPr>
            <p:cNvSpPr>
              <a:spLocks noChangeArrowheads="1"/>
            </p:cNvSpPr>
            <p:nvPr/>
          </p:nvSpPr>
          <p:spPr bwMode="auto">
            <a:xfrm>
              <a:off x="0" y="22422"/>
              <a:ext cx="713411" cy="624479"/>
            </a:xfrm>
            <a:prstGeom prst="rect">
              <a:avLst/>
            </a:prstGeom>
            <a:solidFill>
              <a:srgbClr val="1B2153"/>
            </a:solidFill>
            <a:ln w="3175">
              <a:solidFill>
                <a:srgbClr val="BFBFBF"/>
              </a:solidFill>
              <a:bevel/>
              <a:headEnd/>
              <a:tailEnd/>
            </a:ln>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2" name="TextBox 21">
              <a:extLst>
                <a:ext uri="{FF2B5EF4-FFF2-40B4-BE49-F238E27FC236}">
                  <a16:creationId xmlns:a16="http://schemas.microsoft.com/office/drawing/2014/main" id="{B475BF6F-CAFA-4BCC-B40F-B46140BD7A38}"/>
                </a:ext>
              </a:extLst>
            </p:cNvPr>
            <p:cNvSpPr>
              <a:spLocks noChangeArrowheads="1"/>
            </p:cNvSpPr>
            <p:nvPr/>
          </p:nvSpPr>
          <p:spPr bwMode="auto">
            <a:xfrm>
              <a:off x="160536" y="0"/>
              <a:ext cx="419457" cy="717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5</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3" name="矩形​​ 12">
            <a:extLst>
              <a:ext uri="{FF2B5EF4-FFF2-40B4-BE49-F238E27FC236}">
                <a16:creationId xmlns:a16="http://schemas.microsoft.com/office/drawing/2014/main" id="{8B29A40B-4B7D-4AEB-967F-0B3662894783}"/>
              </a:ext>
            </a:extLst>
          </p:cNvPr>
          <p:cNvSpPr>
            <a:spLocks noChangeArrowheads="1"/>
          </p:cNvSpPr>
          <p:nvPr/>
        </p:nvSpPr>
        <p:spPr bwMode="auto">
          <a:xfrm>
            <a:off x="3806825" y="5507757"/>
            <a:ext cx="5953125" cy="693737"/>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4" name="TextBox 135">
            <a:extLst>
              <a:ext uri="{FF2B5EF4-FFF2-40B4-BE49-F238E27FC236}">
                <a16:creationId xmlns:a16="http://schemas.microsoft.com/office/drawing/2014/main" id="{D4CAC222-599C-4E36-935D-DB6EA487EDAA}"/>
              </a:ext>
            </a:extLst>
          </p:cNvPr>
          <p:cNvSpPr>
            <a:spLocks noChangeArrowheads="1"/>
          </p:cNvSpPr>
          <p:nvPr/>
        </p:nvSpPr>
        <p:spPr bwMode="auto">
          <a:xfrm>
            <a:off x="4367213" y="559506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a:solidFill>
                  <a:srgbClr val="92D050"/>
                </a:solidFill>
                <a:latin typeface="微软雅黑" panose="020B0503020204020204" pitchFamily="34" charset="-122"/>
                <a:ea typeface="微软雅黑" panose="020B0503020204020204" pitchFamily="34" charset="-122"/>
                <a:sym typeface="微软雅黑" panose="020B0503020204020204" pitchFamily="34" charset="-122"/>
              </a:rPr>
              <a:t>总结与展望</a:t>
            </a:r>
          </a:p>
        </p:txBody>
      </p:sp>
      <p:grpSp>
        <p:nvGrpSpPr>
          <p:cNvPr id="135" name="组合 20">
            <a:extLst>
              <a:ext uri="{FF2B5EF4-FFF2-40B4-BE49-F238E27FC236}">
                <a16:creationId xmlns:a16="http://schemas.microsoft.com/office/drawing/2014/main" id="{D042E1E8-4C8B-452F-B592-0B2DCFD5D95E}"/>
              </a:ext>
            </a:extLst>
          </p:cNvPr>
          <p:cNvGrpSpPr>
            <a:grpSpLocks/>
          </p:cNvGrpSpPr>
          <p:nvPr/>
        </p:nvGrpSpPr>
        <p:grpSpPr bwMode="auto">
          <a:xfrm>
            <a:off x="2395081" y="4592524"/>
            <a:ext cx="842963" cy="784225"/>
            <a:chOff x="0" y="0"/>
            <a:chExt cx="730541" cy="760784"/>
          </a:xfrm>
        </p:grpSpPr>
        <p:sp>
          <p:nvSpPr>
            <p:cNvPr id="136" name="矩形​​ 3">
              <a:extLst>
                <a:ext uri="{FF2B5EF4-FFF2-40B4-BE49-F238E27FC236}">
                  <a16:creationId xmlns:a16="http://schemas.microsoft.com/office/drawing/2014/main" id="{14A5D130-D1A6-42BC-A83D-649C739B0870}"/>
                </a:ext>
              </a:extLst>
            </p:cNvPr>
            <p:cNvSpPr>
              <a:spLocks noChangeArrowheads="1"/>
            </p:cNvSpPr>
            <p:nvPr/>
          </p:nvSpPr>
          <p:spPr bwMode="auto">
            <a:xfrm>
              <a:off x="0" y="22421"/>
              <a:ext cx="730541" cy="738363"/>
            </a:xfrm>
            <a:custGeom>
              <a:avLst/>
              <a:gdLst>
                <a:gd name="T0" fmla="*/ 0 w 1152128"/>
                <a:gd name="T1" fmla="*/ 0 h 936104"/>
                <a:gd name="T2" fmla="*/ 499 w 1152128"/>
                <a:gd name="T3" fmla="*/ 0 h 936104"/>
                <a:gd name="T4" fmla="*/ 499 w 1152128"/>
                <a:gd name="T5" fmla="*/ 14023 h 936104"/>
                <a:gd name="T6" fmla="*/ 311 w 1152128"/>
                <a:gd name="T7" fmla="*/ 14023 h 936104"/>
                <a:gd name="T8" fmla="*/ 249 w 1152128"/>
                <a:gd name="T9" fmla="*/ 16573 h 936104"/>
                <a:gd name="T10" fmla="*/ 187 w 1152128"/>
                <a:gd name="T11" fmla="*/ 14023 h 936104"/>
                <a:gd name="T12" fmla="*/ 0 w 1152128"/>
                <a:gd name="T13" fmla="*/ 14023 h 936104"/>
                <a:gd name="T14" fmla="*/ 0 w 1152128"/>
                <a:gd name="T15" fmla="*/ 0 h 936104"/>
                <a:gd name="T16" fmla="*/ 0 60000 65536"/>
                <a:gd name="T17" fmla="*/ 0 60000 65536"/>
                <a:gd name="T18" fmla="*/ 0 60000 65536"/>
                <a:gd name="T19" fmla="*/ 0 60000 65536"/>
                <a:gd name="T20" fmla="*/ 0 60000 65536"/>
                <a:gd name="T21" fmla="*/ 0 60000 65536"/>
                <a:gd name="T22" fmla="*/ 0 60000 65536"/>
                <a:gd name="T23" fmla="*/ 0 60000 65536"/>
                <a:gd name="T24" fmla="*/ 0 w 1152128"/>
                <a:gd name="T25" fmla="*/ 0 h 936104"/>
                <a:gd name="T26" fmla="*/ 1152128 w 1152128"/>
                <a:gd name="T27" fmla="*/ 936104 h 936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128" h="936104">
                  <a:moveTo>
                    <a:pt x="0" y="0"/>
                  </a:moveTo>
                  <a:lnTo>
                    <a:pt x="1152128" y="0"/>
                  </a:lnTo>
                  <a:lnTo>
                    <a:pt x="1152128" y="792088"/>
                  </a:lnTo>
                  <a:lnTo>
                    <a:pt x="720080" y="792088"/>
                  </a:lnTo>
                  <a:lnTo>
                    <a:pt x="576064" y="936104"/>
                  </a:lnTo>
                  <a:lnTo>
                    <a:pt x="432048" y="792088"/>
                  </a:lnTo>
                  <a:lnTo>
                    <a:pt x="0" y="792088"/>
                  </a:lnTo>
                  <a:lnTo>
                    <a:pt x="0" y="0"/>
                  </a:lnTo>
                  <a:close/>
                </a:path>
              </a:pathLst>
            </a:custGeom>
            <a:solidFill>
              <a:srgbClr val="1B2153"/>
            </a:solidFill>
            <a:ln w="3175" cap="flat" cmpd="sng">
              <a:solidFill>
                <a:srgbClr val="BFBFBF"/>
              </a:solidFill>
              <a:bevel/>
              <a:headEnd/>
              <a:tailEnd/>
            </a:ln>
          </p:spPr>
          <p:txBody>
            <a:bodyPr anchor="ctr"/>
            <a:lstStyle/>
            <a:p>
              <a:endParaRPr lang="zh-CN" altLang="en-US"/>
            </a:p>
          </p:txBody>
        </p:sp>
        <p:sp>
          <p:nvSpPr>
            <p:cNvPr id="137" name="TextBox 123">
              <a:extLst>
                <a:ext uri="{FF2B5EF4-FFF2-40B4-BE49-F238E27FC236}">
                  <a16:creationId xmlns:a16="http://schemas.microsoft.com/office/drawing/2014/main" id="{C89DE082-B059-4C9D-9638-977F4659934D}"/>
                </a:ext>
              </a:extLst>
            </p:cNvPr>
            <p:cNvSpPr>
              <a:spLocks noChangeArrowheads="1"/>
            </p:cNvSpPr>
            <p:nvPr/>
          </p:nvSpPr>
          <p:spPr bwMode="auto">
            <a:xfrm>
              <a:off x="153486" y="0"/>
              <a:ext cx="419822" cy="71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en-US" altLang="zh-CN"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4</a:t>
              </a:r>
              <a:endParaRPr lang="zh-CN" altLang="en-US" sz="4200" dirty="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grpSp>
      <p:sp>
        <p:nvSpPr>
          <p:cNvPr id="138" name="矩形​​ 11">
            <a:extLst>
              <a:ext uri="{FF2B5EF4-FFF2-40B4-BE49-F238E27FC236}">
                <a16:creationId xmlns:a16="http://schemas.microsoft.com/office/drawing/2014/main" id="{051C4B68-44D7-4186-9B4C-88B7FFBFE789}"/>
              </a:ext>
            </a:extLst>
          </p:cNvPr>
          <p:cNvSpPr>
            <a:spLocks noChangeArrowheads="1"/>
          </p:cNvSpPr>
          <p:nvPr/>
        </p:nvSpPr>
        <p:spPr bwMode="auto">
          <a:xfrm>
            <a:off x="3776206" y="4608004"/>
            <a:ext cx="5953125" cy="695325"/>
          </a:xfrm>
          <a:prstGeom prst="rect">
            <a:avLst/>
          </a:prstGeom>
          <a:gradFill rotWithShape="1">
            <a:gsLst>
              <a:gs pos="0">
                <a:srgbClr val="949494"/>
              </a:gs>
              <a:gs pos="50000">
                <a:srgbClr val="D4D4D4"/>
              </a:gs>
              <a:gs pos="100000">
                <a:srgbClr val="FFFFFF"/>
              </a:gs>
            </a:gsLst>
            <a:path path="rect">
              <a:fillToRect l="100000" t="100000"/>
            </a:path>
          </a:gradFill>
          <a:ln>
            <a:noFill/>
          </a:ln>
          <a:extLst>
            <a:ext uri="{91240B29-F687-4F45-9708-019B960494DF}">
              <a14:hiddenLine xmlns:a14="http://schemas.microsoft.com/office/drawing/2010/main" w="3175">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139" name="TextBox 134">
            <a:extLst>
              <a:ext uri="{FF2B5EF4-FFF2-40B4-BE49-F238E27FC236}">
                <a16:creationId xmlns:a16="http://schemas.microsoft.com/office/drawing/2014/main" id="{7C5E5D53-5A79-4133-B848-73BC83876351}"/>
              </a:ext>
            </a:extLst>
          </p:cNvPr>
          <p:cNvSpPr>
            <a:spLocks noChangeArrowheads="1"/>
          </p:cNvSpPr>
          <p:nvPr/>
        </p:nvSpPr>
        <p:spPr bwMode="auto">
          <a:xfrm>
            <a:off x="4352469" y="4696109"/>
            <a:ext cx="45053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sz="2800" b="1" dirty="0">
                <a:latin typeface="微软雅黑" panose="020B0503020204020204" pitchFamily="34" charset="-122"/>
                <a:ea typeface="微软雅黑" panose="020B0503020204020204" pitchFamily="34" charset="-122"/>
                <a:sym typeface="微软雅黑" panose="020B0503020204020204" pitchFamily="34" charset="-122"/>
              </a:rPr>
              <a:t>实验结果与分析</a:t>
            </a:r>
          </a:p>
        </p:txBody>
      </p:sp>
      <p:sp>
        <p:nvSpPr>
          <p:cNvPr id="140" name="平行四边形 12">
            <a:extLst>
              <a:ext uri="{FF2B5EF4-FFF2-40B4-BE49-F238E27FC236}">
                <a16:creationId xmlns:a16="http://schemas.microsoft.com/office/drawing/2014/main" id="{F79BBCDD-C7A2-4972-A742-D0B74AEB869C}"/>
              </a:ext>
            </a:extLst>
          </p:cNvPr>
          <p:cNvSpPr>
            <a:spLocks noChangeArrowheads="1"/>
          </p:cNvSpPr>
          <p:nvPr/>
        </p:nvSpPr>
        <p:spPr bwMode="auto">
          <a:xfrm>
            <a:off x="1368425" y="384175"/>
            <a:ext cx="1108075" cy="165100"/>
          </a:xfrm>
          <a:prstGeom prst="parallelogram">
            <a:avLst>
              <a:gd name="adj" fmla="val 24889"/>
            </a:avLst>
          </a:prstGeom>
          <a:solidFill>
            <a:srgbClr val="92D050"/>
          </a:solidFill>
          <a:ln>
            <a:noFill/>
          </a:ln>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chemeClr val="accent6"/>
              </a:solidFill>
              <a:latin typeface="宋体" panose="02010600030101010101" pitchFamily="2" charset="-122"/>
              <a:sym typeface="宋体" panose="02010600030101010101" pitchFamily="2" charset="-122"/>
            </a:endParaRPr>
          </a:p>
        </p:txBody>
      </p:sp>
      <p:sp>
        <p:nvSpPr>
          <p:cNvPr id="141" name="平行四边形 13">
            <a:extLst>
              <a:ext uri="{FF2B5EF4-FFF2-40B4-BE49-F238E27FC236}">
                <a16:creationId xmlns:a16="http://schemas.microsoft.com/office/drawing/2014/main" id="{816B0470-7DBE-4B95-9EA3-EFC76E994079}"/>
              </a:ext>
            </a:extLst>
          </p:cNvPr>
          <p:cNvSpPr>
            <a:spLocks noChangeArrowheads="1"/>
          </p:cNvSpPr>
          <p:nvPr/>
        </p:nvSpPr>
        <p:spPr bwMode="auto">
          <a:xfrm>
            <a:off x="239713"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nvGrpSpPr>
          <p:cNvPr id="142" name="组合 13">
            <a:extLst>
              <a:ext uri="{FF2B5EF4-FFF2-40B4-BE49-F238E27FC236}">
                <a16:creationId xmlns:a16="http://schemas.microsoft.com/office/drawing/2014/main" id="{1C951E32-616E-46F4-86AC-EC7F16BC7996}"/>
              </a:ext>
            </a:extLst>
          </p:cNvPr>
          <p:cNvGrpSpPr>
            <a:grpSpLocks/>
          </p:cNvGrpSpPr>
          <p:nvPr/>
        </p:nvGrpSpPr>
        <p:grpSpPr bwMode="auto">
          <a:xfrm>
            <a:off x="4763" y="6542088"/>
            <a:ext cx="12192000" cy="320675"/>
            <a:chOff x="4763" y="6500813"/>
            <a:chExt cx="12192000" cy="357187"/>
          </a:xfrm>
        </p:grpSpPr>
        <p:sp>
          <p:nvSpPr>
            <p:cNvPr id="143" name="任意多边形 11">
              <a:extLst>
                <a:ext uri="{FF2B5EF4-FFF2-40B4-BE49-F238E27FC236}">
                  <a16:creationId xmlns:a16="http://schemas.microsoft.com/office/drawing/2014/main" id="{02779C6C-01F3-46E9-AC75-22A362922613}"/>
                </a:ext>
              </a:extLst>
            </p:cNvPr>
            <p:cNvSpPr>
              <a:spLocks noChangeArrowheads="1"/>
            </p:cNvSpPr>
            <p:nvPr/>
          </p:nvSpPr>
          <p:spPr bwMode="auto">
            <a:xfrm>
              <a:off x="4763" y="6500813"/>
              <a:ext cx="12192000" cy="357187"/>
            </a:xfrm>
            <a:custGeom>
              <a:avLst/>
              <a:gdLst>
                <a:gd name="T0" fmla="*/ 0 w 9144000"/>
                <a:gd name="T1" fmla="*/ 0 h 756293"/>
                <a:gd name="T2" fmla="*/ 1621935141 w 9144000"/>
                <a:gd name="T3" fmla="*/ 0 h 756293"/>
                <a:gd name="T4" fmla="*/ 1621935141 w 9144000"/>
                <a:gd name="T5" fmla="*/ 1 h 756293"/>
                <a:gd name="T6" fmla="*/ 1438335156 w 9144000"/>
                <a:gd name="T7" fmla="*/ 1 h 756293"/>
                <a:gd name="T8" fmla="*/ 1438335156 w 9144000"/>
                <a:gd name="T9" fmla="*/ 1 h 756293"/>
                <a:gd name="T10" fmla="*/ 0 w 9144000"/>
                <a:gd name="T11" fmla="*/ 1 h 756293"/>
                <a:gd name="T12" fmla="*/ 0 w 9144000"/>
                <a:gd name="T13" fmla="*/ 0 h 756293"/>
                <a:gd name="T14" fmla="*/ 0 60000 65536"/>
                <a:gd name="T15" fmla="*/ 0 60000 65536"/>
                <a:gd name="T16" fmla="*/ 0 60000 65536"/>
                <a:gd name="T17" fmla="*/ 0 60000 65536"/>
                <a:gd name="T18" fmla="*/ 0 60000 65536"/>
                <a:gd name="T19" fmla="*/ 0 60000 65536"/>
                <a:gd name="T20" fmla="*/ 0 60000 65536"/>
                <a:gd name="T21" fmla="*/ 0 w 9144000"/>
                <a:gd name="T22" fmla="*/ 0 h 756293"/>
                <a:gd name="T23" fmla="*/ 9144000 w 9144000"/>
                <a:gd name="T24" fmla="*/ 756293 h 7562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44000" h="756293">
                  <a:moveTo>
                    <a:pt x="0" y="0"/>
                  </a:moveTo>
                  <a:lnTo>
                    <a:pt x="9144000" y="0"/>
                  </a:lnTo>
                  <a:lnTo>
                    <a:pt x="9144000" y="756293"/>
                  </a:lnTo>
                  <a:lnTo>
                    <a:pt x="8108917" y="756293"/>
                  </a:lnTo>
                  <a:lnTo>
                    <a:pt x="8108917" y="756292"/>
                  </a:lnTo>
                  <a:lnTo>
                    <a:pt x="0" y="756292"/>
                  </a:lnTo>
                  <a:lnTo>
                    <a:pt x="0" y="0"/>
                  </a:lnTo>
                  <a:close/>
                </a:path>
              </a:pathLst>
            </a:custGeom>
            <a:solidFill>
              <a:srgbClr val="1B2153"/>
            </a:solidFill>
            <a:ln>
              <a:noFill/>
            </a:ln>
            <a:extLst>
              <a:ext uri="{91240B29-F687-4F45-9708-019B960494DF}">
                <a14:hiddenLine xmlns:a14="http://schemas.microsoft.com/office/drawing/2010/main" w="25400" cap="flat" cmpd="sng">
                  <a:solidFill>
                    <a:srgbClr val="395E8A"/>
                  </a:solidFill>
                  <a:bevel/>
                  <a:headEnd/>
                  <a:tailEnd/>
                </a14:hiddenLine>
              </a:ext>
            </a:extLst>
          </p:spPr>
          <p:txBody>
            <a:bodyPr lIns="121908" tIns="60955" rIns="121908" bIns="60955" anchor="ctr"/>
            <a:lstStyle/>
            <a:p>
              <a:endParaRPr lang="zh-CN" altLang="en-US"/>
            </a:p>
          </p:txBody>
        </p:sp>
        <p:sp>
          <p:nvSpPr>
            <p:cNvPr id="144" name="平行四边形 13">
              <a:extLst>
                <a:ext uri="{FF2B5EF4-FFF2-40B4-BE49-F238E27FC236}">
                  <a16:creationId xmlns:a16="http://schemas.microsoft.com/office/drawing/2014/main" id="{69CCC94A-4E16-43C7-B464-CBC1366807CD}"/>
                </a:ext>
              </a:extLst>
            </p:cNvPr>
            <p:cNvSpPr>
              <a:spLocks noChangeArrowheads="1"/>
            </p:cNvSpPr>
            <p:nvPr/>
          </p:nvSpPr>
          <p:spPr bwMode="auto">
            <a:xfrm>
              <a:off x="5617065" y="6500813"/>
              <a:ext cx="1108075" cy="357187"/>
            </a:xfrm>
            <a:prstGeom prst="parallelogram">
              <a:avLst>
                <a:gd name="adj" fmla="val 24976"/>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Tree>
    <p:extLst>
      <p:ext uri="{BB962C8B-B14F-4D97-AF65-F5344CB8AC3E}">
        <p14:creationId xmlns:p14="http://schemas.microsoft.com/office/powerpoint/2010/main" val="1066922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7E07E9A0-81C1-4BF2-B5E3-67AAC4ED14D9}"/>
              </a:ext>
            </a:extLst>
          </p:cNvPr>
          <p:cNvSpPr>
            <a:spLocks noGrp="1" noChangeArrowheads="1"/>
          </p:cNvSpPr>
          <p:nvPr/>
        </p:nvSpPr>
        <p:spPr bwMode="auto">
          <a:xfrm>
            <a:off x="5818619" y="6529458"/>
            <a:ext cx="68266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nchor="ctr" anchorCtr="0"/>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dirty="0">
                <a:solidFill>
                  <a:schemeClr val="bg1"/>
                </a:solidFill>
                <a:sym typeface="方正兰亭黑_GBK"/>
              </a:rPr>
              <a:t>20</a:t>
            </a:r>
          </a:p>
        </p:txBody>
      </p:sp>
      <p:grpSp>
        <p:nvGrpSpPr>
          <p:cNvPr id="3" name="组合 14">
            <a:extLst>
              <a:ext uri="{FF2B5EF4-FFF2-40B4-BE49-F238E27FC236}">
                <a16:creationId xmlns:a16="http://schemas.microsoft.com/office/drawing/2014/main" id="{B1E3868E-68B5-4B00-B0B7-A10D602B0D79}"/>
              </a:ext>
            </a:extLst>
          </p:cNvPr>
          <p:cNvGrpSpPr>
            <a:grpSpLocks/>
          </p:cNvGrpSpPr>
          <p:nvPr/>
        </p:nvGrpSpPr>
        <p:grpSpPr bwMode="auto">
          <a:xfrm>
            <a:off x="274638" y="204931"/>
            <a:ext cx="11917362" cy="665163"/>
            <a:chOff x="424635" y="260736"/>
            <a:chExt cx="11917033" cy="664880"/>
          </a:xfrm>
        </p:grpSpPr>
        <p:grpSp>
          <p:nvGrpSpPr>
            <p:cNvPr id="4" name="组合 13">
              <a:extLst>
                <a:ext uri="{FF2B5EF4-FFF2-40B4-BE49-F238E27FC236}">
                  <a16:creationId xmlns:a16="http://schemas.microsoft.com/office/drawing/2014/main" id="{DDEC39CC-9407-413D-97DA-CB26FE3EE5E0}"/>
                </a:ext>
              </a:extLst>
            </p:cNvPr>
            <p:cNvGrpSpPr>
              <a:grpSpLocks/>
            </p:cNvGrpSpPr>
            <p:nvPr/>
          </p:nvGrpSpPr>
          <p:grpSpPr bwMode="auto">
            <a:xfrm>
              <a:off x="424635" y="260736"/>
              <a:ext cx="11917033" cy="664880"/>
              <a:chOff x="424635" y="260736"/>
              <a:chExt cx="11917033" cy="664880"/>
            </a:xfrm>
          </p:grpSpPr>
          <p:sp>
            <p:nvSpPr>
              <p:cNvPr id="7" name="矩形 6">
                <a:extLst>
                  <a:ext uri="{FF2B5EF4-FFF2-40B4-BE49-F238E27FC236}">
                    <a16:creationId xmlns:a16="http://schemas.microsoft.com/office/drawing/2014/main" id="{D430C6DA-8EAC-4C28-977B-331DCB7D6871}"/>
                  </a:ext>
                </a:extLst>
              </p:cNvPr>
              <p:cNvSpPr/>
              <p:nvPr/>
            </p:nvSpPr>
            <p:spPr bwMode="auto">
              <a:xfrm>
                <a:off x="424635" y="260736"/>
                <a:ext cx="504811" cy="504610"/>
              </a:xfrm>
              <a:prstGeom prst="rect">
                <a:avLst/>
              </a:prstGeom>
              <a:gradFill flip="none" rotWithShape="1">
                <a:gsLst>
                  <a:gs pos="100000">
                    <a:srgbClr val="00B050"/>
                  </a:gs>
                  <a:gs pos="99000">
                    <a:srgbClr val="92D050"/>
                  </a:gs>
                </a:gsLst>
                <a:lin ang="2700000" scaled="1"/>
                <a:tileRect/>
              </a:gradFill>
              <a:ln>
                <a:noFill/>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eaLnBrk="1" hangingPunct="1">
                  <a:buFont typeface="Arial" pitchFamily="34" charset="0"/>
                  <a:buNone/>
                  <a:defRPr/>
                </a:pPr>
                <a:endParaRPr lang="zh-CN" altLang="en-US" dirty="0">
                  <a:solidFill>
                    <a:srgbClr val="92D050"/>
                  </a:solidFill>
                  <a:latin typeface="Arial" pitchFamily="34" charset="0"/>
                </a:endParaRPr>
              </a:p>
            </p:txBody>
          </p:sp>
          <p:sp>
            <p:nvSpPr>
              <p:cNvPr id="8" name="矩形 7">
                <a:extLst>
                  <a:ext uri="{FF2B5EF4-FFF2-40B4-BE49-F238E27FC236}">
                    <a16:creationId xmlns:a16="http://schemas.microsoft.com/office/drawing/2014/main" id="{5A554F00-C266-4166-98DC-5E0A71027A26}"/>
                  </a:ext>
                </a:extLst>
              </p:cNvPr>
              <p:cNvSpPr/>
              <p:nvPr/>
            </p:nvSpPr>
            <p:spPr bwMode="auto">
              <a:xfrm>
                <a:off x="623580" y="494823"/>
                <a:ext cx="432000" cy="430793"/>
              </a:xfrm>
              <a:prstGeom prst="rect">
                <a:avLst/>
              </a:prstGeom>
              <a:gradFill flip="none" rotWithShape="1">
                <a:gsLst>
                  <a:gs pos="32000">
                    <a:srgbClr val="2A4370"/>
                  </a:gs>
                  <a:gs pos="38000">
                    <a:srgbClr val="354059"/>
                  </a:gs>
                  <a:gs pos="100000">
                    <a:schemeClr val="accent1">
                      <a:lumMod val="60000"/>
                    </a:schemeClr>
                  </a:gs>
                </a:gsLst>
                <a:path path="circle">
                  <a:fillToRect l="50000" t="130000" r="50000" b="-30000"/>
                </a:path>
                <a:tileRect/>
              </a:gradFill>
              <a:ln w="9525" cap="flat" cmpd="sng" algn="ctr">
                <a:noFill/>
                <a:prstDash val="solid"/>
                <a:round/>
                <a:headEnd type="none" w="med" len="med"/>
                <a:tailEnd type="none" w="med" len="med"/>
              </a:ln>
              <a:effectLst/>
              <a:extLst/>
            </p:spPr>
            <p:txBody>
              <a:bodyPr/>
              <a:lstStyle/>
              <a:p>
                <a:pPr eaLnBrk="1" hangingPunct="1">
                  <a:buFont typeface="Arial" pitchFamily="34" charset="0"/>
                  <a:buNone/>
                  <a:defRPr/>
                </a:pPr>
                <a:endParaRPr lang="zh-CN" altLang="en-US">
                  <a:solidFill>
                    <a:srgbClr val="354059"/>
                  </a:solidFill>
                </a:endParaRPr>
              </a:p>
            </p:txBody>
          </p:sp>
          <p:cxnSp>
            <p:nvCxnSpPr>
              <p:cNvPr id="9" name="直接连接符 8">
                <a:extLst>
                  <a:ext uri="{FF2B5EF4-FFF2-40B4-BE49-F238E27FC236}">
                    <a16:creationId xmlns:a16="http://schemas.microsoft.com/office/drawing/2014/main" id="{742AF6F9-E145-43E8-A22D-EECA3D44A842}"/>
                  </a:ext>
                </a:extLst>
              </p:cNvPr>
              <p:cNvCxnSpPr>
                <a:cxnSpLocks/>
              </p:cNvCxnSpPr>
              <p:nvPr/>
            </p:nvCxnSpPr>
            <p:spPr bwMode="auto">
              <a:xfrm>
                <a:off x="1205609" y="883919"/>
                <a:ext cx="11136059" cy="0"/>
              </a:xfrm>
              <a:prstGeom prst="line">
                <a:avLst/>
              </a:prstGeom>
              <a:noFill/>
              <a:ln w="19050" algn="ctr">
                <a:solidFill>
                  <a:srgbClr val="1B215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11">
                <a:extLst>
                  <a:ext uri="{FF2B5EF4-FFF2-40B4-BE49-F238E27FC236}">
                    <a16:creationId xmlns:a16="http://schemas.microsoft.com/office/drawing/2014/main" id="{81E138C3-2E47-4700-B01C-1E93A0EEAB28}"/>
                  </a:ext>
                </a:extLst>
              </p:cNvPr>
              <p:cNvSpPr txBox="1">
                <a:spLocks noChangeArrowheads="1"/>
              </p:cNvSpPr>
              <p:nvPr/>
            </p:nvSpPr>
            <p:spPr bwMode="auto">
              <a:xfrm>
                <a:off x="1271598" y="332742"/>
                <a:ext cx="4384792" cy="46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微软雅黑" panose="020B0503020204020204" pitchFamily="34" charset="-122"/>
                    <a:ea typeface="微软雅黑" panose="020B0503020204020204" pitchFamily="34" charset="-122"/>
                  </a:rPr>
                  <a:t>5 </a:t>
                </a:r>
                <a:r>
                  <a:rPr lang="zh-CN" altLang="en-US" sz="2400" b="1" dirty="0">
                    <a:latin typeface="微软雅黑" panose="020B0503020204020204" pitchFamily="34" charset="-122"/>
                    <a:ea typeface="微软雅黑" panose="020B0503020204020204" pitchFamily="34" charset="-122"/>
                  </a:rPr>
                  <a:t>总结与展望</a:t>
                </a:r>
              </a:p>
            </p:txBody>
          </p:sp>
        </p:grpSp>
        <p:sp>
          <p:nvSpPr>
            <p:cNvPr id="5" name="平行四边形 12">
              <a:extLst>
                <a:ext uri="{FF2B5EF4-FFF2-40B4-BE49-F238E27FC236}">
                  <a16:creationId xmlns:a16="http://schemas.microsoft.com/office/drawing/2014/main" id="{C9BD63B6-3D66-44AA-8642-D95F6E6E72CA}"/>
                </a:ext>
              </a:extLst>
            </p:cNvPr>
            <p:cNvSpPr>
              <a:spLocks noChangeArrowheads="1"/>
            </p:cNvSpPr>
            <p:nvPr/>
          </p:nvSpPr>
          <p:spPr bwMode="auto">
            <a:xfrm>
              <a:off x="10779125" y="384175"/>
              <a:ext cx="1108075" cy="165100"/>
            </a:xfrm>
            <a:prstGeom prst="parallelogram">
              <a:avLst>
                <a:gd name="adj" fmla="val 24889"/>
              </a:avLst>
            </a:prstGeom>
            <a:solidFill>
              <a:srgbClr val="92D050"/>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sp>
          <p:nvSpPr>
            <p:cNvPr id="6" name="平行四边形 13">
              <a:extLst>
                <a:ext uri="{FF2B5EF4-FFF2-40B4-BE49-F238E27FC236}">
                  <a16:creationId xmlns:a16="http://schemas.microsoft.com/office/drawing/2014/main" id="{77BA6AF2-56CE-4EF1-A92F-6F370555D6D7}"/>
                </a:ext>
              </a:extLst>
            </p:cNvPr>
            <p:cNvSpPr>
              <a:spLocks noChangeArrowheads="1"/>
            </p:cNvSpPr>
            <p:nvPr/>
          </p:nvSpPr>
          <p:spPr bwMode="auto">
            <a:xfrm>
              <a:off x="9648825" y="384175"/>
              <a:ext cx="1108075" cy="165100"/>
            </a:xfrm>
            <a:prstGeom prst="parallelogram">
              <a:avLst>
                <a:gd name="adj" fmla="val 24889"/>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solidFill>
                  <a:srgbClr val="FFFFFF"/>
                </a:solidFill>
                <a:latin typeface="宋体" panose="02010600030101010101" pitchFamily="2" charset="-122"/>
                <a:sym typeface="宋体" panose="02010600030101010101" pitchFamily="2" charset="-122"/>
              </a:endParaRPr>
            </a:p>
          </p:txBody>
        </p:sp>
      </p:grpSp>
      <p:sp>
        <p:nvSpPr>
          <p:cNvPr id="11" name="矩形 10">
            <a:extLst>
              <a:ext uri="{FF2B5EF4-FFF2-40B4-BE49-F238E27FC236}">
                <a16:creationId xmlns:a16="http://schemas.microsoft.com/office/drawing/2014/main" id="{EFB5BAA9-61E0-4A1E-907A-BDF50DBCBB6F}"/>
              </a:ext>
            </a:extLst>
          </p:cNvPr>
          <p:cNvSpPr/>
          <p:nvPr/>
        </p:nvSpPr>
        <p:spPr>
          <a:xfrm>
            <a:off x="542554" y="1034812"/>
            <a:ext cx="10786044" cy="4563685"/>
          </a:xfrm>
          <a:prstGeom prst="rect">
            <a:avLst/>
          </a:prstGeom>
        </p:spPr>
        <p:txBody>
          <a:bodyPr wrap="square">
            <a:spAutoFit/>
          </a:bodyPr>
          <a:lstStyle/>
          <a:p>
            <a:pPr lvl="0" algn="just">
              <a:lnSpc>
                <a:spcPct val="200000"/>
              </a:lnSpc>
              <a:spcAft>
                <a:spcPts val="0"/>
              </a:spcAft>
            </a:pPr>
            <a:r>
              <a:rPr lang="zh-CN" altLang="en-US"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主要创新：</a:t>
            </a:r>
            <a:endParaRPr lang="en-US" altLang="zh-CN"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提出一套完整的存储组织、时空索引、查询检索的方案</a:t>
            </a:r>
            <a:endPar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）提出一种基于服务器端协处理器精过滤的多维时空范围查询算法</a:t>
            </a:r>
            <a:endPar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）提出一种顾及数据分布的可自适应控制网格大小的</a:t>
            </a:r>
            <a:r>
              <a:rPr lang="en-US" altLang="zh-CN" i="1"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-NN</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查询算法</a:t>
            </a:r>
            <a:endParaRPr lang="en-US" altLang="zh-CN" sz="14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zh-CN" altLang="en-US" sz="20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展望：</a:t>
            </a:r>
            <a:endParaRPr lang="en-US" altLang="zh-CN" sz="1600" b="1"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gn="just">
              <a:lnSpc>
                <a:spcPct val="200000"/>
              </a:lnSpc>
              <a:spcAft>
                <a:spcPts val="0"/>
              </a:spcAft>
              <a:buFont typeface="+mj-lt"/>
              <a:buAutoNum type="arabicParenR"/>
            </a:pP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不超过</a:t>
            </a: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份的冗余机制不能很好处理狭长的线面对象</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，需要进一步研究</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在实际应用场景中，</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应该根据数据分布及查询范围条件确定最优最大递归次数</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200000"/>
              </a:lnSpc>
              <a:spcAft>
                <a:spcPts val="0"/>
              </a:spcAft>
            </a:pPr>
            <a:r>
              <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在后续的工作中希望补充复杂的拓扑查询算法以及</a:t>
            </a:r>
            <a:r>
              <a:rPr lang="zh-CN" altLang="en-US"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空间连接查询算法</a:t>
            </a:r>
            <a:r>
              <a:rPr lang="zh-CN"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95623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77">
            <a:extLst>
              <a:ext uri="{FF2B5EF4-FFF2-40B4-BE49-F238E27FC236}">
                <a16:creationId xmlns:a16="http://schemas.microsoft.com/office/drawing/2014/main" id="{71EC674C-BB04-4DD5-95E5-B059F805B3E4}"/>
              </a:ext>
            </a:extLst>
          </p:cNvPr>
          <p:cNvSpPr>
            <a:spLocks noChangeArrowheads="1"/>
          </p:cNvSpPr>
          <p:nvPr/>
        </p:nvSpPr>
        <p:spPr bwMode="auto">
          <a:xfrm>
            <a:off x="719138" y="2660650"/>
            <a:ext cx="865187" cy="1247775"/>
          </a:xfrm>
          <a:prstGeom prst="parallelogram">
            <a:avLst>
              <a:gd name="adj" fmla="val 25000"/>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latin typeface="方正兰亭黑_GBK"/>
              <a:ea typeface="方正兰亭黑_GBK"/>
              <a:cs typeface="方正兰亭黑_GBK"/>
              <a:sym typeface="方正兰亭黑_GBK"/>
            </a:endParaRPr>
          </a:p>
        </p:txBody>
      </p:sp>
      <p:sp>
        <p:nvSpPr>
          <p:cNvPr id="3" name="Parallelogram 78">
            <a:extLst>
              <a:ext uri="{FF2B5EF4-FFF2-40B4-BE49-F238E27FC236}">
                <a16:creationId xmlns:a16="http://schemas.microsoft.com/office/drawing/2014/main" id="{97F99710-9C12-42A4-941C-734868D0DAF6}"/>
              </a:ext>
            </a:extLst>
          </p:cNvPr>
          <p:cNvSpPr>
            <a:spLocks noChangeArrowheads="1"/>
          </p:cNvSpPr>
          <p:nvPr/>
        </p:nvSpPr>
        <p:spPr bwMode="auto">
          <a:xfrm rot="10800000">
            <a:off x="10512425" y="2660650"/>
            <a:ext cx="863600" cy="1247775"/>
          </a:xfrm>
          <a:prstGeom prst="parallelogram">
            <a:avLst>
              <a:gd name="adj" fmla="val 25000"/>
            </a:avLst>
          </a:prstGeom>
          <a:solidFill>
            <a:srgbClr val="1B2153"/>
          </a:solidFill>
          <a:ln>
            <a:noFill/>
          </a:ln>
          <a:extLst>
            <a:ext uri="{91240B29-F687-4F45-9708-019B960494DF}">
              <a14:hiddenLine xmlns:a14="http://schemas.microsoft.com/office/drawing/2010/main" w="25400">
                <a:solidFill>
                  <a:srgbClr val="395E8A"/>
                </a:solidFill>
                <a:bevel/>
                <a:headEnd/>
                <a:tailEnd/>
              </a14:hiddenLine>
            </a:ext>
          </a:extLst>
        </p:spPr>
        <p:txBody>
          <a:bodyPr lIns="121908" tIns="60955" rIns="121908" bIns="60955"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sz="3200">
              <a:latin typeface="方正兰亭黑_GBK"/>
              <a:ea typeface="方正兰亭黑_GBK"/>
              <a:cs typeface="方正兰亭黑_GBK"/>
              <a:sym typeface="方正兰亭黑_GBK"/>
            </a:endParaRPr>
          </a:p>
        </p:txBody>
      </p:sp>
      <p:sp>
        <p:nvSpPr>
          <p:cNvPr id="4" name="TextBox 13">
            <a:extLst>
              <a:ext uri="{FF2B5EF4-FFF2-40B4-BE49-F238E27FC236}">
                <a16:creationId xmlns:a16="http://schemas.microsoft.com/office/drawing/2014/main" id="{D9558A8F-E283-4CA3-B8B3-9FBECE69FBEE}"/>
              </a:ext>
            </a:extLst>
          </p:cNvPr>
          <p:cNvSpPr>
            <a:spLocks noChangeArrowheads="1"/>
          </p:cNvSpPr>
          <p:nvPr/>
        </p:nvSpPr>
        <p:spPr bwMode="auto">
          <a:xfrm>
            <a:off x="3935413" y="3962400"/>
            <a:ext cx="40322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800"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Thank you</a:t>
            </a:r>
            <a:r>
              <a:rPr lang="zh-CN" altLang="en-US" sz="2800"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rPr>
              <a:t>！</a:t>
            </a:r>
          </a:p>
        </p:txBody>
      </p:sp>
      <p:grpSp>
        <p:nvGrpSpPr>
          <p:cNvPr id="5" name="Group 3">
            <a:extLst>
              <a:ext uri="{FF2B5EF4-FFF2-40B4-BE49-F238E27FC236}">
                <a16:creationId xmlns:a16="http://schemas.microsoft.com/office/drawing/2014/main" id="{E2C589AA-B84A-4CAC-B788-780F1E1AF298}"/>
              </a:ext>
            </a:extLst>
          </p:cNvPr>
          <p:cNvGrpSpPr>
            <a:grpSpLocks/>
          </p:cNvGrpSpPr>
          <p:nvPr/>
        </p:nvGrpSpPr>
        <p:grpSpPr bwMode="auto">
          <a:xfrm>
            <a:off x="1008063" y="1412875"/>
            <a:ext cx="10488612" cy="4195763"/>
            <a:chOff x="0" y="0"/>
            <a:chExt cx="4955" cy="1982"/>
          </a:xfrm>
        </p:grpSpPr>
        <p:sp>
          <p:nvSpPr>
            <p:cNvPr id="6" name="Freeform 4">
              <a:extLst>
                <a:ext uri="{FF2B5EF4-FFF2-40B4-BE49-F238E27FC236}">
                  <a16:creationId xmlns:a16="http://schemas.microsoft.com/office/drawing/2014/main" id="{F3BF3F9E-4AEA-4766-85D5-304052ECEBF4}"/>
                </a:ext>
              </a:extLst>
            </p:cNvPr>
            <p:cNvSpPr>
              <a:spLocks noChangeArrowheads="1"/>
            </p:cNvSpPr>
            <p:nvPr/>
          </p:nvSpPr>
          <p:spPr bwMode="auto">
            <a:xfrm>
              <a:off x="91" y="88"/>
              <a:ext cx="1457" cy="1812"/>
            </a:xfrm>
            <a:custGeom>
              <a:avLst/>
              <a:gdLst>
                <a:gd name="T0" fmla="*/ 8 w 1692"/>
                <a:gd name="T1" fmla="*/ 1 h 2586"/>
                <a:gd name="T2" fmla="*/ 22 w 1692"/>
                <a:gd name="T3" fmla="*/ 1 h 2586"/>
                <a:gd name="T4" fmla="*/ 29 w 1692"/>
                <a:gd name="T5" fmla="*/ 1 h 2586"/>
                <a:gd name="T6" fmla="*/ 29 w 1692"/>
                <a:gd name="T7" fmla="*/ 1 h 2586"/>
                <a:gd name="T8" fmla="*/ 19 w 1692"/>
                <a:gd name="T9" fmla="*/ 1 h 2586"/>
                <a:gd name="T10" fmla="*/ 16 w 1692"/>
                <a:gd name="T11" fmla="*/ 1 h 2586"/>
                <a:gd name="T12" fmla="*/ 19 w 1692"/>
                <a:gd name="T13" fmla="*/ 1 h 2586"/>
                <a:gd name="T14" fmla="*/ 22 w 1692"/>
                <a:gd name="T15" fmla="*/ 1 h 2586"/>
                <a:gd name="T16" fmla="*/ 22 w 1692"/>
                <a:gd name="T17" fmla="*/ 1 h 2586"/>
                <a:gd name="T18" fmla="*/ 33 w 1692"/>
                <a:gd name="T19" fmla="*/ 2 h 2586"/>
                <a:gd name="T20" fmla="*/ 44 w 1692"/>
                <a:gd name="T21" fmla="*/ 2 h 2586"/>
                <a:gd name="T22" fmla="*/ 53 w 1692"/>
                <a:gd name="T23" fmla="*/ 2 h 2586"/>
                <a:gd name="T24" fmla="*/ 58 w 1692"/>
                <a:gd name="T25" fmla="*/ 3 h 2586"/>
                <a:gd name="T26" fmla="*/ 53 w 1692"/>
                <a:gd name="T27" fmla="*/ 3 h 2586"/>
                <a:gd name="T28" fmla="*/ 62 w 1692"/>
                <a:gd name="T29" fmla="*/ 3 h 2586"/>
                <a:gd name="T30" fmla="*/ 71 w 1692"/>
                <a:gd name="T31" fmla="*/ 4 h 2586"/>
                <a:gd name="T32" fmla="*/ 74 w 1692"/>
                <a:gd name="T33" fmla="*/ 4 h 2586"/>
                <a:gd name="T34" fmla="*/ 81 w 1692"/>
                <a:gd name="T35" fmla="*/ 4 h 2586"/>
                <a:gd name="T36" fmla="*/ 87 w 1692"/>
                <a:gd name="T37" fmla="*/ 4 h 2586"/>
                <a:gd name="T38" fmla="*/ 84 w 1692"/>
                <a:gd name="T39" fmla="*/ 4 h 2586"/>
                <a:gd name="T40" fmla="*/ 87 w 1692"/>
                <a:gd name="T41" fmla="*/ 4 h 2586"/>
                <a:gd name="T42" fmla="*/ 93 w 1692"/>
                <a:gd name="T43" fmla="*/ 4 h 2586"/>
                <a:gd name="T44" fmla="*/ 99 w 1692"/>
                <a:gd name="T45" fmla="*/ 4 h 2586"/>
                <a:gd name="T46" fmla="*/ 106 w 1692"/>
                <a:gd name="T47" fmla="*/ 3 h 2586"/>
                <a:gd name="T48" fmla="*/ 110 w 1692"/>
                <a:gd name="T49" fmla="*/ 3 h 2586"/>
                <a:gd name="T50" fmla="*/ 104 w 1692"/>
                <a:gd name="T51" fmla="*/ 3 h 2586"/>
                <a:gd name="T52" fmla="*/ 94 w 1692"/>
                <a:gd name="T53" fmla="*/ 3 h 2586"/>
                <a:gd name="T54" fmla="*/ 75 w 1692"/>
                <a:gd name="T55" fmla="*/ 2 h 2586"/>
                <a:gd name="T56" fmla="*/ 67 w 1692"/>
                <a:gd name="T57" fmla="*/ 2 h 2586"/>
                <a:gd name="T58" fmla="*/ 61 w 1692"/>
                <a:gd name="T59" fmla="*/ 2 h 2586"/>
                <a:gd name="T60" fmla="*/ 53 w 1692"/>
                <a:gd name="T61" fmla="*/ 2 h 2586"/>
                <a:gd name="T62" fmla="*/ 52 w 1692"/>
                <a:gd name="T63" fmla="*/ 2 h 2586"/>
                <a:gd name="T64" fmla="*/ 50 w 1692"/>
                <a:gd name="T65" fmla="*/ 2 h 2586"/>
                <a:gd name="T66" fmla="*/ 43 w 1692"/>
                <a:gd name="T67" fmla="*/ 2 h 2586"/>
                <a:gd name="T68" fmla="*/ 40 w 1692"/>
                <a:gd name="T69" fmla="*/ 1 h 2586"/>
                <a:gd name="T70" fmla="*/ 50 w 1692"/>
                <a:gd name="T71" fmla="*/ 1 h 2586"/>
                <a:gd name="T72" fmla="*/ 58 w 1692"/>
                <a:gd name="T73" fmla="*/ 1 h 2586"/>
                <a:gd name="T74" fmla="*/ 61 w 1692"/>
                <a:gd name="T75" fmla="*/ 1 h 2586"/>
                <a:gd name="T76" fmla="*/ 72 w 1692"/>
                <a:gd name="T77" fmla="*/ 1 h 2586"/>
                <a:gd name="T78" fmla="*/ 81 w 1692"/>
                <a:gd name="T79" fmla="*/ 1 h 2586"/>
                <a:gd name="T80" fmla="*/ 87 w 1692"/>
                <a:gd name="T81" fmla="*/ 1 h 2586"/>
                <a:gd name="T82" fmla="*/ 90 w 1692"/>
                <a:gd name="T83" fmla="*/ 1 h 2586"/>
                <a:gd name="T84" fmla="*/ 87 w 1692"/>
                <a:gd name="T85" fmla="*/ 1 h 2586"/>
                <a:gd name="T86" fmla="*/ 104 w 1692"/>
                <a:gd name="T87" fmla="*/ 1 h 2586"/>
                <a:gd name="T88" fmla="*/ 95 w 1692"/>
                <a:gd name="T89" fmla="*/ 1 h 2586"/>
                <a:gd name="T90" fmla="*/ 90 w 1692"/>
                <a:gd name="T91" fmla="*/ 1 h 2586"/>
                <a:gd name="T92" fmla="*/ 84 w 1692"/>
                <a:gd name="T93" fmla="*/ 1 h 2586"/>
                <a:gd name="T94" fmla="*/ 75 w 1692"/>
                <a:gd name="T95" fmla="*/ 1 h 2586"/>
                <a:gd name="T96" fmla="*/ 70 w 1692"/>
                <a:gd name="T97" fmla="*/ 1 h 2586"/>
                <a:gd name="T98" fmla="*/ 82 w 1692"/>
                <a:gd name="T99" fmla="*/ 1 h 2586"/>
                <a:gd name="T100" fmla="*/ 86 w 1692"/>
                <a:gd name="T101" fmla="*/ 1 h 2586"/>
                <a:gd name="T102" fmla="*/ 90 w 1692"/>
                <a:gd name="T103" fmla="*/ 1 h 2586"/>
                <a:gd name="T104" fmla="*/ 87 w 1692"/>
                <a:gd name="T105" fmla="*/ 1 h 2586"/>
                <a:gd name="T106" fmla="*/ 85 w 1692"/>
                <a:gd name="T107" fmla="*/ 1 h 2586"/>
                <a:gd name="T108" fmla="*/ 82 w 1692"/>
                <a:gd name="T109" fmla="*/ 1 h 2586"/>
                <a:gd name="T110" fmla="*/ 75 w 1692"/>
                <a:gd name="T111" fmla="*/ 1 h 2586"/>
                <a:gd name="T112" fmla="*/ 65 w 1692"/>
                <a:gd name="T113" fmla="*/ 1 h 2586"/>
                <a:gd name="T114" fmla="*/ 37 w 1692"/>
                <a:gd name="T115" fmla="*/ 0 h 2586"/>
                <a:gd name="T116" fmla="*/ 24 w 1692"/>
                <a:gd name="T117" fmla="*/ 1 h 2586"/>
                <a:gd name="T118" fmla="*/ 19 w 1692"/>
                <a:gd name="T119" fmla="*/ 1 h 2586"/>
                <a:gd name="T120" fmla="*/ 9 w 1692"/>
                <a:gd name="T121" fmla="*/ 1 h 2586"/>
                <a:gd name="T122" fmla="*/ 9 w 1692"/>
                <a:gd name="T123" fmla="*/ 1 h 2586"/>
                <a:gd name="T124" fmla="*/ 2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92"/>
                <a:gd name="T190" fmla="*/ 0 h 2586"/>
                <a:gd name="T191" fmla="*/ 1692 w 1692"/>
                <a:gd name="T192" fmla="*/ 2586 h 25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 name="Freeform 5">
              <a:extLst>
                <a:ext uri="{FF2B5EF4-FFF2-40B4-BE49-F238E27FC236}">
                  <a16:creationId xmlns:a16="http://schemas.microsoft.com/office/drawing/2014/main" id="{92708F5C-617D-4096-B581-B06AEEEE2101}"/>
                </a:ext>
              </a:extLst>
            </p:cNvPr>
            <p:cNvSpPr>
              <a:spLocks noChangeArrowheads="1"/>
            </p:cNvSpPr>
            <p:nvPr/>
          </p:nvSpPr>
          <p:spPr bwMode="auto">
            <a:xfrm>
              <a:off x="45" y="261"/>
              <a:ext cx="39" cy="26"/>
            </a:xfrm>
            <a:custGeom>
              <a:avLst/>
              <a:gdLst>
                <a:gd name="T0" fmla="*/ 3 w 46"/>
                <a:gd name="T1" fmla="*/ 1 h 38"/>
                <a:gd name="T2" fmla="*/ 0 w 46"/>
                <a:gd name="T3" fmla="*/ 1 h 38"/>
                <a:gd name="T4" fmla="*/ 3 w 46"/>
                <a:gd name="T5" fmla="*/ 1 h 38"/>
                <a:gd name="T6" fmla="*/ 3 w 46"/>
                <a:gd name="T7" fmla="*/ 1 h 38"/>
                <a:gd name="T8" fmla="*/ 3 w 46"/>
                <a:gd name="T9" fmla="*/ 0 h 38"/>
                <a:gd name="T10" fmla="*/ 3 w 46"/>
                <a:gd name="T11" fmla="*/ 1 h 38"/>
                <a:gd name="T12" fmla="*/ 0 60000 65536"/>
                <a:gd name="T13" fmla="*/ 0 60000 65536"/>
                <a:gd name="T14" fmla="*/ 0 60000 65536"/>
                <a:gd name="T15" fmla="*/ 0 60000 65536"/>
                <a:gd name="T16" fmla="*/ 0 60000 65536"/>
                <a:gd name="T17" fmla="*/ 0 60000 65536"/>
                <a:gd name="T18" fmla="*/ 0 w 46"/>
                <a:gd name="T19" fmla="*/ 0 h 38"/>
                <a:gd name="T20" fmla="*/ 46 w 46"/>
                <a:gd name="T21" fmla="*/ 38 h 38"/>
              </a:gdLst>
              <a:ahLst/>
              <a:cxnLst>
                <a:cxn ang="T12">
                  <a:pos x="T0" y="T1"/>
                </a:cxn>
                <a:cxn ang="T13">
                  <a:pos x="T2" y="T3"/>
                </a:cxn>
                <a:cxn ang="T14">
                  <a:pos x="T4" y="T5"/>
                </a:cxn>
                <a:cxn ang="T15">
                  <a:pos x="T6" y="T7"/>
                </a:cxn>
                <a:cxn ang="T16">
                  <a:pos x="T8" y="T9"/>
                </a:cxn>
                <a:cxn ang="T17">
                  <a:pos x="T10" y="T11"/>
                </a:cxn>
              </a:cxnLst>
              <a:rect l="T18" t="T19" r="T20" b="T21"/>
              <a:pathLst>
                <a:path w="46" h="38">
                  <a:moveTo>
                    <a:pt x="16" y="4"/>
                  </a:moveTo>
                  <a:lnTo>
                    <a:pt x="0" y="22"/>
                  </a:lnTo>
                  <a:lnTo>
                    <a:pt x="22" y="38"/>
                  </a:lnTo>
                  <a:lnTo>
                    <a:pt x="46" y="26"/>
                  </a:lnTo>
                  <a:lnTo>
                    <a:pt x="30" y="0"/>
                  </a:lnTo>
                  <a:lnTo>
                    <a:pt x="16" y="4"/>
                  </a:ln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 name="Freeform 6">
              <a:extLst>
                <a:ext uri="{FF2B5EF4-FFF2-40B4-BE49-F238E27FC236}">
                  <a16:creationId xmlns:a16="http://schemas.microsoft.com/office/drawing/2014/main" id="{331C69E8-07EE-4BBD-8802-3A5A039FCC15}"/>
                </a:ext>
              </a:extLst>
            </p:cNvPr>
            <p:cNvSpPr>
              <a:spLocks noChangeArrowheads="1"/>
            </p:cNvSpPr>
            <p:nvPr/>
          </p:nvSpPr>
          <p:spPr bwMode="auto">
            <a:xfrm>
              <a:off x="398" y="376"/>
              <a:ext cx="45" cy="30"/>
            </a:xfrm>
            <a:custGeom>
              <a:avLst/>
              <a:gdLst>
                <a:gd name="T0" fmla="*/ 3 w 52"/>
                <a:gd name="T1" fmla="*/ 0 h 44"/>
                <a:gd name="T2" fmla="*/ 3 w 52"/>
                <a:gd name="T3" fmla="*/ 1 h 44"/>
                <a:gd name="T4" fmla="*/ 3 w 52"/>
                <a:gd name="T5" fmla="*/ 1 h 44"/>
                <a:gd name="T6" fmla="*/ 3 w 52"/>
                <a:gd name="T7" fmla="*/ 1 h 44"/>
                <a:gd name="T8" fmla="*/ 3 w 52"/>
                <a:gd name="T9" fmla="*/ 1 h 44"/>
                <a:gd name="T10" fmla="*/ 3 w 52"/>
                <a:gd name="T11" fmla="*/ 0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 name="Freeform 7">
              <a:extLst>
                <a:ext uri="{FF2B5EF4-FFF2-40B4-BE49-F238E27FC236}">
                  <a16:creationId xmlns:a16="http://schemas.microsoft.com/office/drawing/2014/main" id="{90D207EC-AE71-4528-A7B6-DFEDA45478F7}"/>
                </a:ext>
              </a:extLst>
            </p:cNvPr>
            <p:cNvSpPr>
              <a:spLocks noChangeArrowheads="1"/>
            </p:cNvSpPr>
            <p:nvPr/>
          </p:nvSpPr>
          <p:spPr bwMode="auto">
            <a:xfrm>
              <a:off x="1297" y="428"/>
              <a:ext cx="113" cy="69"/>
            </a:xfrm>
            <a:custGeom>
              <a:avLst/>
              <a:gdLst>
                <a:gd name="T0" fmla="*/ 7 w 131"/>
                <a:gd name="T1" fmla="*/ 0 h 98"/>
                <a:gd name="T2" fmla="*/ 6 w 131"/>
                <a:gd name="T3" fmla="*/ 1 h 98"/>
                <a:gd name="T4" fmla="*/ 3 w 131"/>
                <a:gd name="T5" fmla="*/ 1 h 98"/>
                <a:gd name="T6" fmla="*/ 3 w 131"/>
                <a:gd name="T7" fmla="*/ 1 h 98"/>
                <a:gd name="T8" fmla="*/ 3 w 131"/>
                <a:gd name="T9" fmla="*/ 1 h 98"/>
                <a:gd name="T10" fmla="*/ 4 w 131"/>
                <a:gd name="T11" fmla="*/ 1 h 98"/>
                <a:gd name="T12" fmla="*/ 6 w 131"/>
                <a:gd name="T13" fmla="*/ 1 h 98"/>
                <a:gd name="T14" fmla="*/ 6 w 131"/>
                <a:gd name="T15" fmla="*/ 1 h 98"/>
                <a:gd name="T16" fmla="*/ 6 w 131"/>
                <a:gd name="T17" fmla="*/ 1 h 98"/>
                <a:gd name="T18" fmla="*/ 7 w 131"/>
                <a:gd name="T19" fmla="*/ 1 h 98"/>
                <a:gd name="T20" fmla="*/ 9 w 131"/>
                <a:gd name="T21" fmla="*/ 1 h 98"/>
                <a:gd name="T22" fmla="*/ 9 w 131"/>
                <a:gd name="T23" fmla="*/ 1 h 98"/>
                <a:gd name="T24" fmla="*/ 7 w 131"/>
                <a:gd name="T25" fmla="*/ 1 h 98"/>
                <a:gd name="T26" fmla="*/ 8 w 131"/>
                <a:gd name="T27" fmla="*/ 1 h 98"/>
                <a:gd name="T28" fmla="*/ 8 w 131"/>
                <a:gd name="T29" fmla="*/ 1 h 98"/>
                <a:gd name="T30" fmla="*/ 7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1"/>
                <a:gd name="T49" fmla="*/ 0 h 98"/>
                <a:gd name="T50" fmla="*/ 131 w 131"/>
                <a:gd name="T51" fmla="*/ 98 h 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 name="Freeform 8">
              <a:extLst>
                <a:ext uri="{FF2B5EF4-FFF2-40B4-BE49-F238E27FC236}">
                  <a16:creationId xmlns:a16="http://schemas.microsoft.com/office/drawing/2014/main" id="{7EB1A114-8E5F-4B08-B6C8-AB8CAAEB2D10}"/>
                </a:ext>
              </a:extLst>
            </p:cNvPr>
            <p:cNvSpPr>
              <a:spLocks noChangeArrowheads="1"/>
            </p:cNvSpPr>
            <p:nvPr/>
          </p:nvSpPr>
          <p:spPr bwMode="auto">
            <a:xfrm>
              <a:off x="752" y="787"/>
              <a:ext cx="182" cy="79"/>
            </a:xfrm>
            <a:custGeom>
              <a:avLst/>
              <a:gdLst>
                <a:gd name="T0" fmla="*/ 3 w 212"/>
                <a:gd name="T1" fmla="*/ 1 h 112"/>
                <a:gd name="T2" fmla="*/ 3 w 212"/>
                <a:gd name="T3" fmla="*/ 1 h 112"/>
                <a:gd name="T4" fmla="*/ 3 w 212"/>
                <a:gd name="T5" fmla="*/ 1 h 112"/>
                <a:gd name="T6" fmla="*/ 3 w 212"/>
                <a:gd name="T7" fmla="*/ 1 h 112"/>
                <a:gd name="T8" fmla="*/ 3 w 212"/>
                <a:gd name="T9" fmla="*/ 1 h 112"/>
                <a:gd name="T10" fmla="*/ 6 w 212"/>
                <a:gd name="T11" fmla="*/ 1 h 112"/>
                <a:gd name="T12" fmla="*/ 7 w 212"/>
                <a:gd name="T13" fmla="*/ 1 h 112"/>
                <a:gd name="T14" fmla="*/ 8 w 212"/>
                <a:gd name="T15" fmla="*/ 1 h 112"/>
                <a:gd name="T16" fmla="*/ 9 w 212"/>
                <a:gd name="T17" fmla="*/ 1 h 112"/>
                <a:gd name="T18" fmla="*/ 9 w 212"/>
                <a:gd name="T19" fmla="*/ 1 h 112"/>
                <a:gd name="T20" fmla="*/ 11 w 212"/>
                <a:gd name="T21" fmla="*/ 1 h 112"/>
                <a:gd name="T22" fmla="*/ 11 w 212"/>
                <a:gd name="T23" fmla="*/ 1 h 112"/>
                <a:gd name="T24" fmla="*/ 13 w 212"/>
                <a:gd name="T25" fmla="*/ 1 h 112"/>
                <a:gd name="T26" fmla="*/ 9 w 212"/>
                <a:gd name="T27" fmla="*/ 1 h 112"/>
                <a:gd name="T28" fmla="*/ 7 w 212"/>
                <a:gd name="T29" fmla="*/ 1 h 112"/>
                <a:gd name="T30" fmla="*/ 3 w 212"/>
                <a:gd name="T31" fmla="*/ 1 h 112"/>
                <a:gd name="T32" fmla="*/ 3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2"/>
                <a:gd name="T52" fmla="*/ 0 h 112"/>
                <a:gd name="T53" fmla="*/ 212 w 212"/>
                <a:gd name="T54" fmla="*/ 112 h 1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 name="Freeform 9">
              <a:extLst>
                <a:ext uri="{FF2B5EF4-FFF2-40B4-BE49-F238E27FC236}">
                  <a16:creationId xmlns:a16="http://schemas.microsoft.com/office/drawing/2014/main" id="{9594F675-E1D3-414A-8F99-DCF3FAC5F453}"/>
                </a:ext>
              </a:extLst>
            </p:cNvPr>
            <p:cNvSpPr>
              <a:spLocks noChangeArrowheads="1"/>
            </p:cNvSpPr>
            <p:nvPr/>
          </p:nvSpPr>
          <p:spPr bwMode="auto">
            <a:xfrm>
              <a:off x="902" y="847"/>
              <a:ext cx="114" cy="38"/>
            </a:xfrm>
            <a:custGeom>
              <a:avLst/>
              <a:gdLst>
                <a:gd name="T0" fmla="*/ 3 w 133"/>
                <a:gd name="T1" fmla="*/ 0 h 54"/>
                <a:gd name="T2" fmla="*/ 3 w 133"/>
                <a:gd name="T3" fmla="*/ 1 h 54"/>
                <a:gd name="T4" fmla="*/ 3 w 133"/>
                <a:gd name="T5" fmla="*/ 1 h 54"/>
                <a:gd name="T6" fmla="*/ 3 w 133"/>
                <a:gd name="T7" fmla="*/ 1 h 54"/>
                <a:gd name="T8" fmla="*/ 3 w 133"/>
                <a:gd name="T9" fmla="*/ 1 h 54"/>
                <a:gd name="T10" fmla="*/ 3 w 133"/>
                <a:gd name="T11" fmla="*/ 1 h 54"/>
                <a:gd name="T12" fmla="*/ 8 w 133"/>
                <a:gd name="T13" fmla="*/ 1 h 54"/>
                <a:gd name="T14" fmla="*/ 8 w 133"/>
                <a:gd name="T15" fmla="*/ 1 h 54"/>
                <a:gd name="T16" fmla="*/ 7 w 133"/>
                <a:gd name="T17" fmla="*/ 1 h 54"/>
                <a:gd name="T18" fmla="*/ 6 w 133"/>
                <a:gd name="T19" fmla="*/ 1 h 54"/>
                <a:gd name="T20" fmla="*/ 6 w 133"/>
                <a:gd name="T21" fmla="*/ 1 h 54"/>
                <a:gd name="T22" fmla="*/ 4 w 133"/>
                <a:gd name="T23" fmla="*/ 1 h 54"/>
                <a:gd name="T24" fmla="*/ 3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3"/>
                <a:gd name="T40" fmla="*/ 0 h 54"/>
                <a:gd name="T41" fmla="*/ 133 w 133"/>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2" name="Freeform 10">
              <a:extLst>
                <a:ext uri="{FF2B5EF4-FFF2-40B4-BE49-F238E27FC236}">
                  <a16:creationId xmlns:a16="http://schemas.microsoft.com/office/drawing/2014/main" id="{19645908-CF7C-4A2B-9B17-AF56048BA27E}"/>
                </a:ext>
              </a:extLst>
            </p:cNvPr>
            <p:cNvSpPr>
              <a:spLocks noChangeArrowheads="1"/>
            </p:cNvSpPr>
            <p:nvPr/>
          </p:nvSpPr>
          <p:spPr bwMode="auto">
            <a:xfrm>
              <a:off x="1023" y="871"/>
              <a:ext cx="43"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3" name="Freeform 11">
              <a:extLst>
                <a:ext uri="{FF2B5EF4-FFF2-40B4-BE49-F238E27FC236}">
                  <a16:creationId xmlns:a16="http://schemas.microsoft.com/office/drawing/2014/main" id="{ACC55F66-D66A-4B75-BE66-696AA5D021AE}"/>
                </a:ext>
              </a:extLst>
            </p:cNvPr>
            <p:cNvSpPr>
              <a:spLocks noChangeArrowheads="1"/>
            </p:cNvSpPr>
            <p:nvPr/>
          </p:nvSpPr>
          <p:spPr bwMode="auto">
            <a:xfrm>
              <a:off x="1087" y="874"/>
              <a:ext cx="14" cy="24"/>
            </a:xfrm>
            <a:custGeom>
              <a:avLst/>
              <a:gdLst>
                <a:gd name="T0" fmla="*/ 4 w 16"/>
                <a:gd name="T1" fmla="*/ 0 h 34"/>
                <a:gd name="T2" fmla="*/ 0 w 16"/>
                <a:gd name="T3" fmla="*/ 1 h 34"/>
                <a:gd name="T4" fmla="*/ 4 w 16"/>
                <a:gd name="T5" fmla="*/ 1 h 34"/>
                <a:gd name="T6" fmla="*/ 4 w 16"/>
                <a:gd name="T7" fmla="*/ 1 h 34"/>
                <a:gd name="T8" fmla="*/ 4 w 16"/>
                <a:gd name="T9" fmla="*/ 1 h 34"/>
                <a:gd name="T10" fmla="*/ 4 w 16"/>
                <a:gd name="T11" fmla="*/ 0 h 34"/>
                <a:gd name="T12" fmla="*/ 0 60000 65536"/>
                <a:gd name="T13" fmla="*/ 0 60000 65536"/>
                <a:gd name="T14" fmla="*/ 0 60000 65536"/>
                <a:gd name="T15" fmla="*/ 0 60000 65536"/>
                <a:gd name="T16" fmla="*/ 0 60000 65536"/>
                <a:gd name="T17" fmla="*/ 0 60000 65536"/>
                <a:gd name="T18" fmla="*/ 0 w 16"/>
                <a:gd name="T19" fmla="*/ 0 h 34"/>
                <a:gd name="T20" fmla="*/ 16 w 16"/>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4" name="Freeform 12">
              <a:extLst>
                <a:ext uri="{FF2B5EF4-FFF2-40B4-BE49-F238E27FC236}">
                  <a16:creationId xmlns:a16="http://schemas.microsoft.com/office/drawing/2014/main" id="{3219F2B6-2FF3-48D7-A567-A956FD535551}"/>
                </a:ext>
              </a:extLst>
            </p:cNvPr>
            <p:cNvSpPr>
              <a:spLocks noChangeArrowheads="1"/>
            </p:cNvSpPr>
            <p:nvPr/>
          </p:nvSpPr>
          <p:spPr bwMode="auto">
            <a:xfrm>
              <a:off x="876" y="83"/>
              <a:ext cx="207" cy="82"/>
            </a:xfrm>
            <a:custGeom>
              <a:avLst/>
              <a:gdLst>
                <a:gd name="T0" fmla="*/ 4 w 240"/>
                <a:gd name="T1" fmla="*/ 1 h 117"/>
                <a:gd name="T2" fmla="*/ 3 w 240"/>
                <a:gd name="T3" fmla="*/ 1 h 117"/>
                <a:gd name="T4" fmla="*/ 3 w 240"/>
                <a:gd name="T5" fmla="*/ 1 h 117"/>
                <a:gd name="T6" fmla="*/ 0 w 240"/>
                <a:gd name="T7" fmla="*/ 1 h 117"/>
                <a:gd name="T8" fmla="*/ 3 w 240"/>
                <a:gd name="T9" fmla="*/ 1 h 117"/>
                <a:gd name="T10" fmla="*/ 3 w 240"/>
                <a:gd name="T11" fmla="*/ 1 h 117"/>
                <a:gd name="T12" fmla="*/ 5 w 240"/>
                <a:gd name="T13" fmla="*/ 1 h 117"/>
                <a:gd name="T14" fmla="*/ 6 w 240"/>
                <a:gd name="T15" fmla="*/ 1 h 117"/>
                <a:gd name="T16" fmla="*/ 6 w 240"/>
                <a:gd name="T17" fmla="*/ 1 h 117"/>
                <a:gd name="T18" fmla="*/ 4 w 240"/>
                <a:gd name="T19" fmla="*/ 1 h 117"/>
                <a:gd name="T20" fmla="*/ 5 w 240"/>
                <a:gd name="T21" fmla="*/ 1 h 117"/>
                <a:gd name="T22" fmla="*/ 3 w 240"/>
                <a:gd name="T23" fmla="*/ 1 h 117"/>
                <a:gd name="T24" fmla="*/ 5 w 240"/>
                <a:gd name="T25" fmla="*/ 1 h 117"/>
                <a:gd name="T26" fmla="*/ 6 w 240"/>
                <a:gd name="T27" fmla="*/ 1 h 117"/>
                <a:gd name="T28" fmla="*/ 8 w 240"/>
                <a:gd name="T29" fmla="*/ 1 h 117"/>
                <a:gd name="T30" fmla="*/ 10 w 240"/>
                <a:gd name="T31" fmla="*/ 1 h 117"/>
                <a:gd name="T32" fmla="*/ 12 w 240"/>
                <a:gd name="T33" fmla="*/ 1 h 117"/>
                <a:gd name="T34" fmla="*/ 14 w 240"/>
                <a:gd name="T35" fmla="*/ 1 h 117"/>
                <a:gd name="T36" fmla="*/ 16 w 240"/>
                <a:gd name="T37" fmla="*/ 1 h 117"/>
                <a:gd name="T38" fmla="*/ 16 w 240"/>
                <a:gd name="T39" fmla="*/ 1 h 117"/>
                <a:gd name="T40" fmla="*/ 16 w 240"/>
                <a:gd name="T41" fmla="*/ 1 h 117"/>
                <a:gd name="T42" fmla="*/ 16 w 240"/>
                <a:gd name="T43" fmla="*/ 1 h 117"/>
                <a:gd name="T44" fmla="*/ 14 w 240"/>
                <a:gd name="T45" fmla="*/ 1 h 117"/>
                <a:gd name="T46" fmla="*/ 14 w 240"/>
                <a:gd name="T47" fmla="*/ 1 h 117"/>
                <a:gd name="T48" fmla="*/ 12 w 240"/>
                <a:gd name="T49" fmla="*/ 1 h 117"/>
                <a:gd name="T50" fmla="*/ 9 w 240"/>
                <a:gd name="T51" fmla="*/ 1 h 117"/>
                <a:gd name="T52" fmla="*/ 7 w 240"/>
                <a:gd name="T53" fmla="*/ 1 h 117"/>
                <a:gd name="T54" fmla="*/ 6 w 240"/>
                <a:gd name="T55" fmla="*/ 1 h 117"/>
                <a:gd name="T56" fmla="*/ 4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0"/>
                <a:gd name="T88" fmla="*/ 0 h 117"/>
                <a:gd name="T89" fmla="*/ 240 w 240"/>
                <a:gd name="T90" fmla="*/ 117 h 1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5" name="Freeform 13">
              <a:extLst>
                <a:ext uri="{FF2B5EF4-FFF2-40B4-BE49-F238E27FC236}">
                  <a16:creationId xmlns:a16="http://schemas.microsoft.com/office/drawing/2014/main" id="{E2216045-9276-49E8-AFF6-6B30661E485A}"/>
                </a:ext>
              </a:extLst>
            </p:cNvPr>
            <p:cNvSpPr>
              <a:spLocks noChangeArrowheads="1"/>
            </p:cNvSpPr>
            <p:nvPr/>
          </p:nvSpPr>
          <p:spPr bwMode="auto">
            <a:xfrm>
              <a:off x="968" y="45"/>
              <a:ext cx="168" cy="56"/>
            </a:xfrm>
            <a:custGeom>
              <a:avLst/>
              <a:gdLst>
                <a:gd name="T0" fmla="*/ 8 w 194"/>
                <a:gd name="T1" fmla="*/ 1 h 80"/>
                <a:gd name="T2" fmla="*/ 3 w 194"/>
                <a:gd name="T3" fmla="*/ 1 h 80"/>
                <a:gd name="T4" fmla="*/ 3 w 194"/>
                <a:gd name="T5" fmla="*/ 1 h 80"/>
                <a:gd name="T6" fmla="*/ 4 w 194"/>
                <a:gd name="T7" fmla="*/ 1 h 80"/>
                <a:gd name="T8" fmla="*/ 10 w 194"/>
                <a:gd name="T9" fmla="*/ 1 h 80"/>
                <a:gd name="T10" fmla="*/ 13 w 194"/>
                <a:gd name="T11" fmla="*/ 1 h 80"/>
                <a:gd name="T12" fmla="*/ 14 w 194"/>
                <a:gd name="T13" fmla="*/ 1 h 80"/>
                <a:gd name="T14" fmla="*/ 13 w 194"/>
                <a:gd name="T15" fmla="*/ 1 h 80"/>
                <a:gd name="T16" fmla="*/ 12 w 194"/>
                <a:gd name="T17" fmla="*/ 1 h 80"/>
                <a:gd name="T18" fmla="*/ 10 w 194"/>
                <a:gd name="T19" fmla="*/ 1 h 80"/>
                <a:gd name="T20" fmla="*/ 8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4"/>
                <a:gd name="T34" fmla="*/ 0 h 80"/>
                <a:gd name="T35" fmla="*/ 194 w 194"/>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6" name="Freeform 14">
              <a:extLst>
                <a:ext uri="{FF2B5EF4-FFF2-40B4-BE49-F238E27FC236}">
                  <a16:creationId xmlns:a16="http://schemas.microsoft.com/office/drawing/2014/main" id="{FF65AAAF-1E6D-4825-BA09-7FD4FDBA44CC}"/>
                </a:ext>
              </a:extLst>
            </p:cNvPr>
            <p:cNvSpPr>
              <a:spLocks noChangeArrowheads="1"/>
            </p:cNvSpPr>
            <p:nvPr/>
          </p:nvSpPr>
          <p:spPr bwMode="auto">
            <a:xfrm>
              <a:off x="1204" y="110"/>
              <a:ext cx="268" cy="178"/>
            </a:xfrm>
            <a:custGeom>
              <a:avLst/>
              <a:gdLst>
                <a:gd name="T0" fmla="*/ 5 w 310"/>
                <a:gd name="T1" fmla="*/ 1 h 254"/>
                <a:gd name="T2" fmla="*/ 3 w 310"/>
                <a:gd name="T3" fmla="*/ 1 h 254"/>
                <a:gd name="T4" fmla="*/ 3 w 310"/>
                <a:gd name="T5" fmla="*/ 1 h 254"/>
                <a:gd name="T6" fmla="*/ 3 w 310"/>
                <a:gd name="T7" fmla="*/ 1 h 254"/>
                <a:gd name="T8" fmla="*/ 6 w 310"/>
                <a:gd name="T9" fmla="*/ 1 h 254"/>
                <a:gd name="T10" fmla="*/ 8 w 310"/>
                <a:gd name="T11" fmla="*/ 1 h 254"/>
                <a:gd name="T12" fmla="*/ 9 w 310"/>
                <a:gd name="T13" fmla="*/ 1 h 254"/>
                <a:gd name="T14" fmla="*/ 10 w 310"/>
                <a:gd name="T15" fmla="*/ 1 h 254"/>
                <a:gd name="T16" fmla="*/ 10 w 310"/>
                <a:gd name="T17" fmla="*/ 1 h 254"/>
                <a:gd name="T18" fmla="*/ 8 w 310"/>
                <a:gd name="T19" fmla="*/ 1 h 254"/>
                <a:gd name="T20" fmla="*/ 7 w 310"/>
                <a:gd name="T21" fmla="*/ 1 h 254"/>
                <a:gd name="T22" fmla="*/ 5 w 310"/>
                <a:gd name="T23" fmla="*/ 1 h 254"/>
                <a:gd name="T24" fmla="*/ 4 w 310"/>
                <a:gd name="T25" fmla="*/ 1 h 254"/>
                <a:gd name="T26" fmla="*/ 3 w 310"/>
                <a:gd name="T27" fmla="*/ 1 h 254"/>
                <a:gd name="T28" fmla="*/ 3 w 310"/>
                <a:gd name="T29" fmla="*/ 1 h 254"/>
                <a:gd name="T30" fmla="*/ 5 w 310"/>
                <a:gd name="T31" fmla="*/ 1 h 254"/>
                <a:gd name="T32" fmla="*/ 7 w 310"/>
                <a:gd name="T33" fmla="*/ 1 h 254"/>
                <a:gd name="T34" fmla="*/ 8 w 310"/>
                <a:gd name="T35" fmla="*/ 1 h 254"/>
                <a:gd name="T36" fmla="*/ 9 w 310"/>
                <a:gd name="T37" fmla="*/ 1 h 254"/>
                <a:gd name="T38" fmla="*/ 10 w 310"/>
                <a:gd name="T39" fmla="*/ 1 h 254"/>
                <a:gd name="T40" fmla="*/ 10 w 310"/>
                <a:gd name="T41" fmla="*/ 1 h 254"/>
                <a:gd name="T42" fmla="*/ 12 w 310"/>
                <a:gd name="T43" fmla="*/ 1 h 254"/>
                <a:gd name="T44" fmla="*/ 14 w 310"/>
                <a:gd name="T45" fmla="*/ 1 h 254"/>
                <a:gd name="T46" fmla="*/ 16 w 310"/>
                <a:gd name="T47" fmla="*/ 1 h 254"/>
                <a:gd name="T48" fmla="*/ 16 w 310"/>
                <a:gd name="T49" fmla="*/ 1 h 254"/>
                <a:gd name="T50" fmla="*/ 16 w 310"/>
                <a:gd name="T51" fmla="*/ 1 h 254"/>
                <a:gd name="T52" fmla="*/ 16 w 310"/>
                <a:gd name="T53" fmla="*/ 1 h 254"/>
                <a:gd name="T54" fmla="*/ 17 w 310"/>
                <a:gd name="T55" fmla="*/ 1 h 254"/>
                <a:gd name="T56" fmla="*/ 18 w 310"/>
                <a:gd name="T57" fmla="*/ 1 h 254"/>
                <a:gd name="T58" fmla="*/ 19 w 310"/>
                <a:gd name="T59" fmla="*/ 1 h 254"/>
                <a:gd name="T60" fmla="*/ 22 w 310"/>
                <a:gd name="T61" fmla="*/ 1 h 254"/>
                <a:gd name="T62" fmla="*/ 22 w 310"/>
                <a:gd name="T63" fmla="*/ 1 h 254"/>
                <a:gd name="T64" fmla="*/ 19 w 310"/>
                <a:gd name="T65" fmla="*/ 1 h 254"/>
                <a:gd name="T66" fmla="*/ 19 w 310"/>
                <a:gd name="T67" fmla="*/ 1 h 254"/>
                <a:gd name="T68" fmla="*/ 19 w 310"/>
                <a:gd name="T69" fmla="*/ 1 h 254"/>
                <a:gd name="T70" fmla="*/ 19 w 310"/>
                <a:gd name="T71" fmla="*/ 1 h 254"/>
                <a:gd name="T72" fmla="*/ 16 w 310"/>
                <a:gd name="T73" fmla="*/ 1 h 254"/>
                <a:gd name="T74" fmla="*/ 16 w 310"/>
                <a:gd name="T75" fmla="*/ 1 h 254"/>
                <a:gd name="T76" fmla="*/ 14 w 310"/>
                <a:gd name="T77" fmla="*/ 1 h 254"/>
                <a:gd name="T78" fmla="*/ 10 w 310"/>
                <a:gd name="T79" fmla="*/ 1 h 254"/>
                <a:gd name="T80" fmla="*/ 12 w 310"/>
                <a:gd name="T81" fmla="*/ 1 h 254"/>
                <a:gd name="T82" fmla="*/ 10 w 310"/>
                <a:gd name="T83" fmla="*/ 1 h 254"/>
                <a:gd name="T84" fmla="*/ 9 w 310"/>
                <a:gd name="T85" fmla="*/ 1 h 254"/>
                <a:gd name="T86" fmla="*/ 5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10"/>
                <a:gd name="T133" fmla="*/ 0 h 254"/>
                <a:gd name="T134" fmla="*/ 310 w 310"/>
                <a:gd name="T135" fmla="*/ 254 h 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7" name="Freeform 15">
              <a:extLst>
                <a:ext uri="{FF2B5EF4-FFF2-40B4-BE49-F238E27FC236}">
                  <a16:creationId xmlns:a16="http://schemas.microsoft.com/office/drawing/2014/main" id="{BD99070F-CB3A-42A0-8C75-28A8D187205F}"/>
                </a:ext>
              </a:extLst>
            </p:cNvPr>
            <p:cNvSpPr>
              <a:spLocks noChangeArrowheads="1"/>
            </p:cNvSpPr>
            <p:nvPr/>
          </p:nvSpPr>
          <p:spPr bwMode="auto">
            <a:xfrm>
              <a:off x="1202" y="34"/>
              <a:ext cx="51" cy="34"/>
            </a:xfrm>
            <a:custGeom>
              <a:avLst/>
              <a:gdLst>
                <a:gd name="T0" fmla="*/ 3 w 59"/>
                <a:gd name="T1" fmla="*/ 0 h 50"/>
                <a:gd name="T2" fmla="*/ 0 w 59"/>
                <a:gd name="T3" fmla="*/ 1 h 50"/>
                <a:gd name="T4" fmla="*/ 3 w 59"/>
                <a:gd name="T5" fmla="*/ 1 h 50"/>
                <a:gd name="T6" fmla="*/ 3 w 59"/>
                <a:gd name="T7" fmla="*/ 1 h 50"/>
                <a:gd name="T8" fmla="*/ 4 w 59"/>
                <a:gd name="T9" fmla="*/ 1 h 50"/>
                <a:gd name="T10" fmla="*/ 3 w 59"/>
                <a:gd name="T11" fmla="*/ 1 h 50"/>
                <a:gd name="T12" fmla="*/ 3 w 59"/>
                <a:gd name="T13" fmla="*/ 0 h 50"/>
                <a:gd name="T14" fmla="*/ 0 60000 65536"/>
                <a:gd name="T15" fmla="*/ 0 60000 65536"/>
                <a:gd name="T16" fmla="*/ 0 60000 65536"/>
                <a:gd name="T17" fmla="*/ 0 60000 65536"/>
                <a:gd name="T18" fmla="*/ 0 60000 65536"/>
                <a:gd name="T19" fmla="*/ 0 60000 65536"/>
                <a:gd name="T20" fmla="*/ 0 60000 65536"/>
                <a:gd name="T21" fmla="*/ 0 w 59"/>
                <a:gd name="T22" fmla="*/ 0 h 50"/>
                <a:gd name="T23" fmla="*/ 59 w 59"/>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8" name="Freeform 16">
              <a:extLst>
                <a:ext uri="{FF2B5EF4-FFF2-40B4-BE49-F238E27FC236}">
                  <a16:creationId xmlns:a16="http://schemas.microsoft.com/office/drawing/2014/main" id="{00464739-E005-4521-BE78-3DA501C0EDD3}"/>
                </a:ext>
              </a:extLst>
            </p:cNvPr>
            <p:cNvSpPr>
              <a:spLocks noChangeArrowheads="1"/>
            </p:cNvSpPr>
            <p:nvPr/>
          </p:nvSpPr>
          <p:spPr bwMode="auto">
            <a:xfrm>
              <a:off x="1105" y="99"/>
              <a:ext cx="75" cy="39"/>
            </a:xfrm>
            <a:custGeom>
              <a:avLst/>
              <a:gdLst>
                <a:gd name="T0" fmla="*/ 3 w 86"/>
                <a:gd name="T1" fmla="*/ 1 h 57"/>
                <a:gd name="T2" fmla="*/ 3 w 86"/>
                <a:gd name="T3" fmla="*/ 1 h 57"/>
                <a:gd name="T4" fmla="*/ 3 w 86"/>
                <a:gd name="T5" fmla="*/ 1 h 57"/>
                <a:gd name="T6" fmla="*/ 3 w 86"/>
                <a:gd name="T7" fmla="*/ 1 h 57"/>
                <a:gd name="T8" fmla="*/ 7 w 86"/>
                <a:gd name="T9" fmla="*/ 1 h 57"/>
                <a:gd name="T10" fmla="*/ 8 w 86"/>
                <a:gd name="T11" fmla="*/ 1 h 57"/>
                <a:gd name="T12" fmla="*/ 5 w 86"/>
                <a:gd name="T13" fmla="*/ 1 h 57"/>
                <a:gd name="T14" fmla="*/ 3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 name="T24" fmla="*/ 0 w 86"/>
                <a:gd name="T25" fmla="*/ 0 h 57"/>
                <a:gd name="T26" fmla="*/ 86 w 8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9" name="Freeform 17">
              <a:extLst>
                <a:ext uri="{FF2B5EF4-FFF2-40B4-BE49-F238E27FC236}">
                  <a16:creationId xmlns:a16="http://schemas.microsoft.com/office/drawing/2014/main" id="{CF1808C8-CA90-4C59-B092-719984627E33}"/>
                </a:ext>
              </a:extLst>
            </p:cNvPr>
            <p:cNvSpPr>
              <a:spLocks noChangeArrowheads="1"/>
            </p:cNvSpPr>
            <p:nvPr/>
          </p:nvSpPr>
          <p:spPr bwMode="auto">
            <a:xfrm>
              <a:off x="1184" y="107"/>
              <a:ext cx="62" cy="23"/>
            </a:xfrm>
            <a:custGeom>
              <a:avLst/>
              <a:gdLst>
                <a:gd name="T0" fmla="*/ 3 w 73"/>
                <a:gd name="T1" fmla="*/ 0 h 34"/>
                <a:gd name="T2" fmla="*/ 3 w 73"/>
                <a:gd name="T3" fmla="*/ 1 h 34"/>
                <a:gd name="T4" fmla="*/ 3 w 73"/>
                <a:gd name="T5" fmla="*/ 1 h 34"/>
                <a:gd name="T6" fmla="*/ 3 w 73"/>
                <a:gd name="T7" fmla="*/ 1 h 34"/>
                <a:gd name="T8" fmla="*/ 3 w 73"/>
                <a:gd name="T9" fmla="*/ 1 h 34"/>
                <a:gd name="T10" fmla="*/ 3 w 73"/>
                <a:gd name="T11" fmla="*/ 0 h 34"/>
                <a:gd name="T12" fmla="*/ 0 60000 65536"/>
                <a:gd name="T13" fmla="*/ 0 60000 65536"/>
                <a:gd name="T14" fmla="*/ 0 60000 65536"/>
                <a:gd name="T15" fmla="*/ 0 60000 65536"/>
                <a:gd name="T16" fmla="*/ 0 60000 65536"/>
                <a:gd name="T17" fmla="*/ 0 60000 65536"/>
                <a:gd name="T18" fmla="*/ 0 w 73"/>
                <a:gd name="T19" fmla="*/ 0 h 34"/>
                <a:gd name="T20" fmla="*/ 73 w 73"/>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0" name="Freeform 18">
              <a:extLst>
                <a:ext uri="{FF2B5EF4-FFF2-40B4-BE49-F238E27FC236}">
                  <a16:creationId xmlns:a16="http://schemas.microsoft.com/office/drawing/2014/main" id="{C26C63A5-7E56-4E1B-8600-B3F111B61D05}"/>
                </a:ext>
              </a:extLst>
            </p:cNvPr>
            <p:cNvSpPr>
              <a:spLocks noChangeArrowheads="1"/>
            </p:cNvSpPr>
            <p:nvPr/>
          </p:nvSpPr>
          <p:spPr bwMode="auto">
            <a:xfrm>
              <a:off x="1150" y="73"/>
              <a:ext cx="74" cy="32"/>
            </a:xfrm>
            <a:custGeom>
              <a:avLst/>
              <a:gdLst>
                <a:gd name="T0" fmla="*/ 5 w 85"/>
                <a:gd name="T1" fmla="*/ 1 h 45"/>
                <a:gd name="T2" fmla="*/ 3 w 85"/>
                <a:gd name="T3" fmla="*/ 1 h 45"/>
                <a:gd name="T4" fmla="*/ 0 w 85"/>
                <a:gd name="T5" fmla="*/ 1 h 45"/>
                <a:gd name="T6" fmla="*/ 3 w 85"/>
                <a:gd name="T7" fmla="*/ 1 h 45"/>
                <a:gd name="T8" fmla="*/ 5 w 85"/>
                <a:gd name="T9" fmla="*/ 1 h 45"/>
                <a:gd name="T10" fmla="*/ 7 w 85"/>
                <a:gd name="T11" fmla="*/ 1 h 45"/>
                <a:gd name="T12" fmla="*/ 7 w 85"/>
                <a:gd name="T13" fmla="*/ 1 h 45"/>
                <a:gd name="T14" fmla="*/ 5 w 85"/>
                <a:gd name="T15" fmla="*/ 0 h 45"/>
                <a:gd name="T16" fmla="*/ 5 w 85"/>
                <a:gd name="T17" fmla="*/ 1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
                <a:gd name="T28" fmla="*/ 0 h 45"/>
                <a:gd name="T29" fmla="*/ 85 w 85"/>
                <a:gd name="T30" fmla="*/ 45 h 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1" name="Freeform 19">
              <a:extLst>
                <a:ext uri="{FF2B5EF4-FFF2-40B4-BE49-F238E27FC236}">
                  <a16:creationId xmlns:a16="http://schemas.microsoft.com/office/drawing/2014/main" id="{C2AF437C-4069-443A-BCD9-B8EDBB44FCA4}"/>
                </a:ext>
              </a:extLst>
            </p:cNvPr>
            <p:cNvSpPr>
              <a:spLocks noChangeArrowheads="1"/>
            </p:cNvSpPr>
            <p:nvPr/>
          </p:nvSpPr>
          <p:spPr bwMode="auto">
            <a:xfrm>
              <a:off x="1119" y="43"/>
              <a:ext cx="51" cy="22"/>
            </a:xfrm>
            <a:custGeom>
              <a:avLst/>
              <a:gdLst>
                <a:gd name="T0" fmla="*/ 4 w 58"/>
                <a:gd name="T1" fmla="*/ 1 h 31"/>
                <a:gd name="T2" fmla="*/ 0 w 58"/>
                <a:gd name="T3" fmla="*/ 1 h 31"/>
                <a:gd name="T4" fmla="*/ 4 w 58"/>
                <a:gd name="T5" fmla="*/ 1 h 31"/>
                <a:gd name="T6" fmla="*/ 4 w 58"/>
                <a:gd name="T7" fmla="*/ 1 h 31"/>
                <a:gd name="T8" fmla="*/ 5 w 58"/>
                <a:gd name="T9" fmla="*/ 1 h 31"/>
                <a:gd name="T10" fmla="*/ 4 w 58"/>
                <a:gd name="T11" fmla="*/ 0 h 31"/>
                <a:gd name="T12" fmla="*/ 4 w 58"/>
                <a:gd name="T13" fmla="*/ 1 h 31"/>
                <a:gd name="T14" fmla="*/ 0 60000 65536"/>
                <a:gd name="T15" fmla="*/ 0 60000 65536"/>
                <a:gd name="T16" fmla="*/ 0 60000 65536"/>
                <a:gd name="T17" fmla="*/ 0 60000 65536"/>
                <a:gd name="T18" fmla="*/ 0 60000 65536"/>
                <a:gd name="T19" fmla="*/ 0 60000 65536"/>
                <a:gd name="T20" fmla="*/ 0 60000 65536"/>
                <a:gd name="T21" fmla="*/ 0 w 58"/>
                <a:gd name="T22" fmla="*/ 0 h 31"/>
                <a:gd name="T23" fmla="*/ 58 w 58"/>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2" name="Freeform 20">
              <a:extLst>
                <a:ext uri="{FF2B5EF4-FFF2-40B4-BE49-F238E27FC236}">
                  <a16:creationId xmlns:a16="http://schemas.microsoft.com/office/drawing/2014/main" id="{2CEB3AEA-FE70-4673-A653-02DFD10DD4C9}"/>
                </a:ext>
              </a:extLst>
            </p:cNvPr>
            <p:cNvSpPr>
              <a:spLocks noChangeArrowheads="1"/>
            </p:cNvSpPr>
            <p:nvPr/>
          </p:nvSpPr>
          <p:spPr bwMode="auto">
            <a:xfrm>
              <a:off x="1250" y="46"/>
              <a:ext cx="131" cy="72"/>
            </a:xfrm>
            <a:custGeom>
              <a:avLst/>
              <a:gdLst>
                <a:gd name="T0" fmla="*/ 3 w 152"/>
                <a:gd name="T1" fmla="*/ 0 h 102"/>
                <a:gd name="T2" fmla="*/ 3 w 152"/>
                <a:gd name="T3" fmla="*/ 1 h 102"/>
                <a:gd name="T4" fmla="*/ 3 w 152"/>
                <a:gd name="T5" fmla="*/ 1 h 102"/>
                <a:gd name="T6" fmla="*/ 3 w 152"/>
                <a:gd name="T7" fmla="*/ 1 h 102"/>
                <a:gd name="T8" fmla="*/ 0 w 152"/>
                <a:gd name="T9" fmla="*/ 1 h 102"/>
                <a:gd name="T10" fmla="*/ 3 w 152"/>
                <a:gd name="T11" fmla="*/ 1 h 102"/>
                <a:gd name="T12" fmla="*/ 6 w 152"/>
                <a:gd name="T13" fmla="*/ 1 h 102"/>
                <a:gd name="T14" fmla="*/ 10 w 152"/>
                <a:gd name="T15" fmla="*/ 1 h 102"/>
                <a:gd name="T16" fmla="*/ 5 w 152"/>
                <a:gd name="T17" fmla="*/ 1 h 102"/>
                <a:gd name="T18" fmla="*/ 3 w 152"/>
                <a:gd name="T19" fmla="*/ 1 h 102"/>
                <a:gd name="T20" fmla="*/ 3 w 152"/>
                <a:gd name="T21" fmla="*/ 1 h 102"/>
                <a:gd name="T22" fmla="*/ 3 w 152"/>
                <a:gd name="T23" fmla="*/ 1 h 102"/>
                <a:gd name="T24" fmla="*/ 3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2"/>
                <a:gd name="T40" fmla="*/ 0 h 102"/>
                <a:gd name="T41" fmla="*/ 152 w 152"/>
                <a:gd name="T42" fmla="*/ 102 h 1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3" name="Freeform 21">
              <a:extLst>
                <a:ext uri="{FF2B5EF4-FFF2-40B4-BE49-F238E27FC236}">
                  <a16:creationId xmlns:a16="http://schemas.microsoft.com/office/drawing/2014/main" id="{7ABA959D-CBF9-4FAD-8220-140F073068E6}"/>
                </a:ext>
              </a:extLst>
            </p:cNvPr>
            <p:cNvSpPr>
              <a:spLocks noChangeArrowheads="1"/>
            </p:cNvSpPr>
            <p:nvPr/>
          </p:nvSpPr>
          <p:spPr bwMode="auto">
            <a:xfrm>
              <a:off x="0" y="275"/>
              <a:ext cx="29" cy="14"/>
            </a:xfrm>
            <a:custGeom>
              <a:avLst/>
              <a:gdLst>
                <a:gd name="T0" fmla="*/ 3 w 34"/>
                <a:gd name="T1" fmla="*/ 0 h 20"/>
                <a:gd name="T2" fmla="*/ 3 w 34"/>
                <a:gd name="T3" fmla="*/ 1 h 20"/>
                <a:gd name="T4" fmla="*/ 3 w 34"/>
                <a:gd name="T5" fmla="*/ 1 h 20"/>
                <a:gd name="T6" fmla="*/ 3 w 34"/>
                <a:gd name="T7" fmla="*/ 1 h 20"/>
                <a:gd name="T8" fmla="*/ 3 w 34"/>
                <a:gd name="T9" fmla="*/ 0 h 20"/>
                <a:gd name="T10" fmla="*/ 0 60000 65536"/>
                <a:gd name="T11" fmla="*/ 0 60000 65536"/>
                <a:gd name="T12" fmla="*/ 0 60000 65536"/>
                <a:gd name="T13" fmla="*/ 0 60000 65536"/>
                <a:gd name="T14" fmla="*/ 0 60000 65536"/>
                <a:gd name="T15" fmla="*/ 0 w 34"/>
                <a:gd name="T16" fmla="*/ 0 h 20"/>
                <a:gd name="T17" fmla="*/ 34 w 34"/>
                <a:gd name="T18" fmla="*/ 20 h 20"/>
              </a:gdLst>
              <a:ahLst/>
              <a:cxnLst>
                <a:cxn ang="T10">
                  <a:pos x="T0" y="T1"/>
                </a:cxn>
                <a:cxn ang="T11">
                  <a:pos x="T2" y="T3"/>
                </a:cxn>
                <a:cxn ang="T12">
                  <a:pos x="T4" y="T5"/>
                </a:cxn>
                <a:cxn ang="T13">
                  <a:pos x="T6" y="T7"/>
                </a:cxn>
                <a:cxn ang="T14">
                  <a:pos x="T8" y="T9"/>
                </a:cxn>
              </a:cxnLst>
              <a:rect l="T15" t="T16" r="T17" b="T18"/>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4" name="Freeform 22">
              <a:extLst>
                <a:ext uri="{FF2B5EF4-FFF2-40B4-BE49-F238E27FC236}">
                  <a16:creationId xmlns:a16="http://schemas.microsoft.com/office/drawing/2014/main" id="{D28D9900-D375-4D8F-970A-FBA53B5AEF7F}"/>
                </a:ext>
              </a:extLst>
            </p:cNvPr>
            <p:cNvSpPr>
              <a:spLocks noChangeArrowheads="1"/>
            </p:cNvSpPr>
            <p:nvPr/>
          </p:nvSpPr>
          <p:spPr bwMode="auto">
            <a:xfrm>
              <a:off x="871" y="753"/>
              <a:ext cx="18" cy="11"/>
            </a:xfrm>
            <a:custGeom>
              <a:avLst/>
              <a:gdLst>
                <a:gd name="T0" fmla="*/ 3 w 21"/>
                <a:gd name="T1" fmla="*/ 0 h 16"/>
                <a:gd name="T2" fmla="*/ 3 w 21"/>
                <a:gd name="T3" fmla="*/ 1 h 16"/>
                <a:gd name="T4" fmla="*/ 3 w 21"/>
                <a:gd name="T5" fmla="*/ 0 h 16"/>
                <a:gd name="T6" fmla="*/ 0 60000 65536"/>
                <a:gd name="T7" fmla="*/ 0 60000 65536"/>
                <a:gd name="T8" fmla="*/ 0 60000 65536"/>
                <a:gd name="T9" fmla="*/ 0 w 21"/>
                <a:gd name="T10" fmla="*/ 0 h 16"/>
                <a:gd name="T11" fmla="*/ 21 w 21"/>
                <a:gd name="T12" fmla="*/ 16 h 16"/>
              </a:gdLst>
              <a:ahLst/>
              <a:cxnLst>
                <a:cxn ang="T6">
                  <a:pos x="T0" y="T1"/>
                </a:cxn>
                <a:cxn ang="T7">
                  <a:pos x="T2" y="T3"/>
                </a:cxn>
                <a:cxn ang="T8">
                  <a:pos x="T4" y="T5"/>
                </a:cxn>
              </a:cxnLst>
              <a:rect l="T9" t="T10" r="T11" b="T12"/>
              <a:pathLst>
                <a:path w="21" h="16">
                  <a:moveTo>
                    <a:pt x="3" y="0"/>
                  </a:moveTo>
                  <a:cubicBezTo>
                    <a:pt x="0" y="9"/>
                    <a:pt x="6" y="11"/>
                    <a:pt x="13" y="16"/>
                  </a:cubicBezTo>
                  <a:cubicBezTo>
                    <a:pt x="21" y="4"/>
                    <a:pt x="16" y="2"/>
                    <a:pt x="3"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5" name="Freeform 23">
              <a:extLst>
                <a:ext uri="{FF2B5EF4-FFF2-40B4-BE49-F238E27FC236}">
                  <a16:creationId xmlns:a16="http://schemas.microsoft.com/office/drawing/2014/main" id="{F97B16AB-6A89-4A8B-A318-0F0E1FEEDEBF}"/>
                </a:ext>
              </a:extLst>
            </p:cNvPr>
            <p:cNvSpPr>
              <a:spLocks noChangeArrowheads="1"/>
            </p:cNvSpPr>
            <p:nvPr/>
          </p:nvSpPr>
          <p:spPr bwMode="auto">
            <a:xfrm>
              <a:off x="874" y="776"/>
              <a:ext cx="19" cy="11"/>
            </a:xfrm>
            <a:custGeom>
              <a:avLst/>
              <a:gdLst>
                <a:gd name="T0" fmla="*/ 3 w 21"/>
                <a:gd name="T1" fmla="*/ 0 h 16"/>
                <a:gd name="T2" fmla="*/ 5 w 21"/>
                <a:gd name="T3" fmla="*/ 1 h 16"/>
                <a:gd name="T4" fmla="*/ 3 w 21"/>
                <a:gd name="T5" fmla="*/ 0 h 16"/>
                <a:gd name="T6" fmla="*/ 0 60000 65536"/>
                <a:gd name="T7" fmla="*/ 0 60000 65536"/>
                <a:gd name="T8" fmla="*/ 0 60000 65536"/>
                <a:gd name="T9" fmla="*/ 0 w 21"/>
                <a:gd name="T10" fmla="*/ 0 h 16"/>
                <a:gd name="T11" fmla="*/ 21 w 21"/>
                <a:gd name="T12" fmla="*/ 16 h 16"/>
              </a:gdLst>
              <a:ahLst/>
              <a:cxnLst>
                <a:cxn ang="T6">
                  <a:pos x="T0" y="T1"/>
                </a:cxn>
                <a:cxn ang="T7">
                  <a:pos x="T2" y="T3"/>
                </a:cxn>
                <a:cxn ang="T8">
                  <a:pos x="T4" y="T5"/>
                </a:cxn>
              </a:cxnLst>
              <a:rect l="T9" t="T10" r="T11" b="T12"/>
              <a:pathLst>
                <a:path w="21" h="16">
                  <a:moveTo>
                    <a:pt x="3" y="0"/>
                  </a:moveTo>
                  <a:cubicBezTo>
                    <a:pt x="0" y="9"/>
                    <a:pt x="6" y="11"/>
                    <a:pt x="13" y="16"/>
                  </a:cubicBezTo>
                  <a:cubicBezTo>
                    <a:pt x="21" y="4"/>
                    <a:pt x="16" y="2"/>
                    <a:pt x="3"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6" name="Freeform 24">
              <a:extLst>
                <a:ext uri="{FF2B5EF4-FFF2-40B4-BE49-F238E27FC236}">
                  <a16:creationId xmlns:a16="http://schemas.microsoft.com/office/drawing/2014/main" id="{1C5D5540-F1C6-4F82-9E10-CE430D505ECC}"/>
                </a:ext>
              </a:extLst>
            </p:cNvPr>
            <p:cNvSpPr>
              <a:spLocks noChangeArrowheads="1"/>
            </p:cNvSpPr>
            <p:nvPr/>
          </p:nvSpPr>
          <p:spPr bwMode="auto">
            <a:xfrm>
              <a:off x="1109" y="899"/>
              <a:ext cx="17" cy="12"/>
            </a:xfrm>
            <a:custGeom>
              <a:avLst/>
              <a:gdLst>
                <a:gd name="T0" fmla="*/ 2 w 21"/>
                <a:gd name="T1" fmla="*/ 0 h 16"/>
                <a:gd name="T2" fmla="*/ 2 w 21"/>
                <a:gd name="T3" fmla="*/ 2 h 16"/>
                <a:gd name="T4" fmla="*/ 2 w 21"/>
                <a:gd name="T5" fmla="*/ 0 h 16"/>
                <a:gd name="T6" fmla="*/ 0 60000 65536"/>
                <a:gd name="T7" fmla="*/ 0 60000 65536"/>
                <a:gd name="T8" fmla="*/ 0 60000 65536"/>
                <a:gd name="T9" fmla="*/ 0 w 21"/>
                <a:gd name="T10" fmla="*/ 0 h 16"/>
                <a:gd name="T11" fmla="*/ 21 w 21"/>
                <a:gd name="T12" fmla="*/ 16 h 16"/>
              </a:gdLst>
              <a:ahLst/>
              <a:cxnLst>
                <a:cxn ang="T6">
                  <a:pos x="T0" y="T1"/>
                </a:cxn>
                <a:cxn ang="T7">
                  <a:pos x="T2" y="T3"/>
                </a:cxn>
                <a:cxn ang="T8">
                  <a:pos x="T4" y="T5"/>
                </a:cxn>
              </a:cxnLst>
              <a:rect l="T9" t="T10" r="T11" b="T12"/>
              <a:pathLst>
                <a:path w="21" h="16">
                  <a:moveTo>
                    <a:pt x="3" y="0"/>
                  </a:moveTo>
                  <a:cubicBezTo>
                    <a:pt x="0" y="9"/>
                    <a:pt x="6" y="11"/>
                    <a:pt x="13" y="16"/>
                  </a:cubicBezTo>
                  <a:cubicBezTo>
                    <a:pt x="21" y="4"/>
                    <a:pt x="16" y="2"/>
                    <a:pt x="3" y="0"/>
                  </a:cubicBezTo>
                  <a:close/>
                </a:path>
              </a:pathLst>
            </a:custGeom>
            <a:solidFill>
              <a:srgbClr val="666699">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7" name="Freeform 25">
              <a:extLst>
                <a:ext uri="{FF2B5EF4-FFF2-40B4-BE49-F238E27FC236}">
                  <a16:creationId xmlns:a16="http://schemas.microsoft.com/office/drawing/2014/main" id="{25DFD7B4-B925-48D2-AB0D-E19CDB1173C9}"/>
                </a:ext>
              </a:extLst>
            </p:cNvPr>
            <p:cNvSpPr>
              <a:spLocks noChangeArrowheads="1"/>
            </p:cNvSpPr>
            <p:nvPr/>
          </p:nvSpPr>
          <p:spPr bwMode="auto">
            <a:xfrm>
              <a:off x="1251" y="447"/>
              <a:ext cx="44"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8" name="Freeform 26">
              <a:extLst>
                <a:ext uri="{FF2B5EF4-FFF2-40B4-BE49-F238E27FC236}">
                  <a16:creationId xmlns:a16="http://schemas.microsoft.com/office/drawing/2014/main" id="{A88A0FC7-C3E4-4B92-BD06-77E588E8008E}"/>
                </a:ext>
              </a:extLst>
            </p:cNvPr>
            <p:cNvSpPr>
              <a:spLocks noChangeArrowheads="1"/>
            </p:cNvSpPr>
            <p:nvPr/>
          </p:nvSpPr>
          <p:spPr bwMode="auto">
            <a:xfrm>
              <a:off x="1136" y="255"/>
              <a:ext cx="44"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29" name="Freeform 27">
              <a:extLst>
                <a:ext uri="{FF2B5EF4-FFF2-40B4-BE49-F238E27FC236}">
                  <a16:creationId xmlns:a16="http://schemas.microsoft.com/office/drawing/2014/main" id="{0BFE1BF0-1AAD-4496-9348-73E91EEB01F6}"/>
                </a:ext>
              </a:extLst>
            </p:cNvPr>
            <p:cNvSpPr>
              <a:spLocks noChangeArrowheads="1"/>
            </p:cNvSpPr>
            <p:nvPr/>
          </p:nvSpPr>
          <p:spPr bwMode="auto">
            <a:xfrm>
              <a:off x="1211" y="88"/>
              <a:ext cx="45" cy="17"/>
            </a:xfrm>
            <a:custGeom>
              <a:avLst/>
              <a:gdLst>
                <a:gd name="T0" fmla="*/ 4 w 51"/>
                <a:gd name="T1" fmla="*/ 0 h 24"/>
                <a:gd name="T2" fmla="*/ 4 w 51"/>
                <a:gd name="T3" fmla="*/ 1 h 24"/>
                <a:gd name="T4" fmla="*/ 4 w 51"/>
                <a:gd name="T5" fmla="*/ 1 h 24"/>
                <a:gd name="T6" fmla="*/ 4 w 51"/>
                <a:gd name="T7" fmla="*/ 1 h 24"/>
                <a:gd name="T8" fmla="*/ 4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0" name="Freeform 28">
              <a:extLst>
                <a:ext uri="{FF2B5EF4-FFF2-40B4-BE49-F238E27FC236}">
                  <a16:creationId xmlns:a16="http://schemas.microsoft.com/office/drawing/2014/main" id="{CBC23BC0-E039-402A-800C-D93CED041C99}"/>
                </a:ext>
              </a:extLst>
            </p:cNvPr>
            <p:cNvSpPr>
              <a:spLocks noChangeArrowheads="1"/>
            </p:cNvSpPr>
            <p:nvPr/>
          </p:nvSpPr>
          <p:spPr bwMode="auto">
            <a:xfrm>
              <a:off x="1284" y="189"/>
              <a:ext cx="43" cy="17"/>
            </a:xfrm>
            <a:custGeom>
              <a:avLst/>
              <a:gdLst>
                <a:gd name="T0" fmla="*/ 3 w 51"/>
                <a:gd name="T1" fmla="*/ 0 h 24"/>
                <a:gd name="T2" fmla="*/ 3 w 51"/>
                <a:gd name="T3" fmla="*/ 1 h 24"/>
                <a:gd name="T4" fmla="*/ 3 w 51"/>
                <a:gd name="T5" fmla="*/ 1 h 24"/>
                <a:gd name="T6" fmla="*/ 3 w 51"/>
                <a:gd name="T7" fmla="*/ 1 h 24"/>
                <a:gd name="T8" fmla="*/ 3 w 51"/>
                <a:gd name="T9" fmla="*/ 0 h 24"/>
                <a:gd name="T10" fmla="*/ 0 60000 65536"/>
                <a:gd name="T11" fmla="*/ 0 60000 65536"/>
                <a:gd name="T12" fmla="*/ 0 60000 65536"/>
                <a:gd name="T13" fmla="*/ 0 60000 65536"/>
                <a:gd name="T14" fmla="*/ 0 60000 65536"/>
                <a:gd name="T15" fmla="*/ 0 w 51"/>
                <a:gd name="T16" fmla="*/ 0 h 24"/>
                <a:gd name="T17" fmla="*/ 51 w 51"/>
                <a:gd name="T18" fmla="*/ 24 h 24"/>
              </a:gdLst>
              <a:ahLst/>
              <a:cxnLst>
                <a:cxn ang="T10">
                  <a:pos x="T0" y="T1"/>
                </a:cxn>
                <a:cxn ang="T11">
                  <a:pos x="T2" y="T3"/>
                </a:cxn>
                <a:cxn ang="T12">
                  <a:pos x="T4" y="T5"/>
                </a:cxn>
                <a:cxn ang="T13">
                  <a:pos x="T6" y="T7"/>
                </a:cxn>
                <a:cxn ang="T14">
                  <a:pos x="T8" y="T9"/>
                </a:cxn>
              </a:cxnLst>
              <a:rect l="T15" t="T16" r="T17" b="T18"/>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1" name="Freeform 29">
              <a:extLst>
                <a:ext uri="{FF2B5EF4-FFF2-40B4-BE49-F238E27FC236}">
                  <a16:creationId xmlns:a16="http://schemas.microsoft.com/office/drawing/2014/main" id="{56138C96-452F-470F-87D3-6167E4510E55}"/>
                </a:ext>
              </a:extLst>
            </p:cNvPr>
            <p:cNvSpPr>
              <a:spLocks noChangeArrowheads="1"/>
            </p:cNvSpPr>
            <p:nvPr/>
          </p:nvSpPr>
          <p:spPr bwMode="auto">
            <a:xfrm>
              <a:off x="1302" y="0"/>
              <a:ext cx="801" cy="323"/>
            </a:xfrm>
            <a:custGeom>
              <a:avLst/>
              <a:gdLst>
                <a:gd name="T0" fmla="*/ 3 w 929"/>
                <a:gd name="T1" fmla="*/ 1 h 462"/>
                <a:gd name="T2" fmla="*/ 3 w 929"/>
                <a:gd name="T3" fmla="*/ 1 h 462"/>
                <a:gd name="T4" fmla="*/ 3 w 929"/>
                <a:gd name="T5" fmla="*/ 1 h 462"/>
                <a:gd name="T6" fmla="*/ 3 w 929"/>
                <a:gd name="T7" fmla="*/ 1 h 462"/>
                <a:gd name="T8" fmla="*/ 8 w 929"/>
                <a:gd name="T9" fmla="*/ 1 h 462"/>
                <a:gd name="T10" fmla="*/ 10 w 929"/>
                <a:gd name="T11" fmla="*/ 1 h 462"/>
                <a:gd name="T12" fmla="*/ 17 w 929"/>
                <a:gd name="T13" fmla="*/ 1 h 462"/>
                <a:gd name="T14" fmla="*/ 21 w 929"/>
                <a:gd name="T15" fmla="*/ 1 h 462"/>
                <a:gd name="T16" fmla="*/ 22 w 929"/>
                <a:gd name="T17" fmla="*/ 1 h 462"/>
                <a:gd name="T18" fmla="*/ 19 w 929"/>
                <a:gd name="T19" fmla="*/ 1 h 462"/>
                <a:gd name="T20" fmla="*/ 16 w 929"/>
                <a:gd name="T21" fmla="*/ 1 h 462"/>
                <a:gd name="T22" fmla="*/ 18 w 929"/>
                <a:gd name="T23" fmla="*/ 1 h 462"/>
                <a:gd name="T24" fmla="*/ 18 w 929"/>
                <a:gd name="T25" fmla="*/ 1 h 462"/>
                <a:gd name="T26" fmla="*/ 24 w 929"/>
                <a:gd name="T27" fmla="*/ 1 h 462"/>
                <a:gd name="T28" fmla="*/ 23 w 929"/>
                <a:gd name="T29" fmla="*/ 1 h 462"/>
                <a:gd name="T30" fmla="*/ 25 w 929"/>
                <a:gd name="T31" fmla="*/ 1 h 462"/>
                <a:gd name="T32" fmla="*/ 24 w 929"/>
                <a:gd name="T33" fmla="*/ 1 h 462"/>
                <a:gd name="T34" fmla="*/ 22 w 929"/>
                <a:gd name="T35" fmla="*/ 1 h 462"/>
                <a:gd name="T36" fmla="*/ 21 w 929"/>
                <a:gd name="T37" fmla="*/ 1 h 462"/>
                <a:gd name="T38" fmla="*/ 20 w 929"/>
                <a:gd name="T39" fmla="*/ 1 h 462"/>
                <a:gd name="T40" fmla="*/ 23 w 929"/>
                <a:gd name="T41" fmla="*/ 1 h 462"/>
                <a:gd name="T42" fmla="*/ 27 w 929"/>
                <a:gd name="T43" fmla="*/ 1 h 462"/>
                <a:gd name="T44" fmla="*/ 29 w 929"/>
                <a:gd name="T45" fmla="*/ 1 h 462"/>
                <a:gd name="T46" fmla="*/ 35 w 929"/>
                <a:gd name="T47" fmla="*/ 1 h 462"/>
                <a:gd name="T48" fmla="*/ 40 w 929"/>
                <a:gd name="T49" fmla="*/ 1 h 462"/>
                <a:gd name="T50" fmla="*/ 46 w 929"/>
                <a:gd name="T51" fmla="*/ 1 h 462"/>
                <a:gd name="T52" fmla="*/ 50 w 929"/>
                <a:gd name="T53" fmla="*/ 1 h 462"/>
                <a:gd name="T54" fmla="*/ 53 w 929"/>
                <a:gd name="T55" fmla="*/ 1 h 462"/>
                <a:gd name="T56" fmla="*/ 55 w 929"/>
                <a:gd name="T57" fmla="*/ 1 h 462"/>
                <a:gd name="T58" fmla="*/ 55 w 929"/>
                <a:gd name="T59" fmla="*/ 1 h 462"/>
                <a:gd name="T60" fmla="*/ 55 w 929"/>
                <a:gd name="T61" fmla="*/ 1 h 462"/>
                <a:gd name="T62" fmla="*/ 58 w 929"/>
                <a:gd name="T63" fmla="*/ 1 h 462"/>
                <a:gd name="T64" fmla="*/ 61 w 929"/>
                <a:gd name="T65" fmla="*/ 1 h 462"/>
                <a:gd name="T66" fmla="*/ 64 w 929"/>
                <a:gd name="T67" fmla="*/ 1 h 462"/>
                <a:gd name="T68" fmla="*/ 62 w 929"/>
                <a:gd name="T69" fmla="*/ 1 h 462"/>
                <a:gd name="T70" fmla="*/ 58 w 929"/>
                <a:gd name="T71" fmla="*/ 1 h 462"/>
                <a:gd name="T72" fmla="*/ 55 w 929"/>
                <a:gd name="T73" fmla="*/ 1 h 462"/>
                <a:gd name="T74" fmla="*/ 46 w 929"/>
                <a:gd name="T75" fmla="*/ 1 h 462"/>
                <a:gd name="T76" fmla="*/ 40 w 929"/>
                <a:gd name="T77" fmla="*/ 1 h 462"/>
                <a:gd name="T78" fmla="*/ 40 w 929"/>
                <a:gd name="T79" fmla="*/ 1 h 462"/>
                <a:gd name="T80" fmla="*/ 35 w 929"/>
                <a:gd name="T81" fmla="*/ 1 h 462"/>
                <a:gd name="T82" fmla="*/ 34 w 929"/>
                <a:gd name="T83" fmla="*/ 1 h 462"/>
                <a:gd name="T84" fmla="*/ 29 w 929"/>
                <a:gd name="T85" fmla="*/ 1 h 462"/>
                <a:gd name="T86" fmla="*/ 25 w 929"/>
                <a:gd name="T87" fmla="*/ 1 h 462"/>
                <a:gd name="T88" fmla="*/ 29 w 929"/>
                <a:gd name="T89" fmla="*/ 1 h 462"/>
                <a:gd name="T90" fmla="*/ 24 w 929"/>
                <a:gd name="T91" fmla="*/ 1 h 462"/>
                <a:gd name="T92" fmla="*/ 23 w 929"/>
                <a:gd name="T93" fmla="*/ 1 h 462"/>
                <a:gd name="T94" fmla="*/ 22 w 929"/>
                <a:gd name="T95" fmla="*/ 1 h 462"/>
                <a:gd name="T96" fmla="*/ 16 w 929"/>
                <a:gd name="T97" fmla="*/ 1 h 462"/>
                <a:gd name="T98" fmla="*/ 11 w 929"/>
                <a:gd name="T99" fmla="*/ 1 h 462"/>
                <a:gd name="T100" fmla="*/ 8 w 929"/>
                <a:gd name="T101" fmla="*/ 1 h 462"/>
                <a:gd name="T102" fmla="*/ 8 w 929"/>
                <a:gd name="T103" fmla="*/ 1 h 462"/>
                <a:gd name="T104" fmla="*/ 8 w 929"/>
                <a:gd name="T105" fmla="*/ 1 h 462"/>
                <a:gd name="T106" fmla="*/ 4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29"/>
                <a:gd name="T163" fmla="*/ 0 h 462"/>
                <a:gd name="T164" fmla="*/ 929 w 929"/>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2" name="Freeform 30">
              <a:extLst>
                <a:ext uri="{FF2B5EF4-FFF2-40B4-BE49-F238E27FC236}">
                  <a16:creationId xmlns:a16="http://schemas.microsoft.com/office/drawing/2014/main" id="{88EC584D-5425-4508-BF14-87610B3C79F5}"/>
                </a:ext>
              </a:extLst>
            </p:cNvPr>
            <p:cNvSpPr>
              <a:spLocks noChangeArrowheads="1"/>
            </p:cNvSpPr>
            <p:nvPr/>
          </p:nvSpPr>
          <p:spPr bwMode="auto">
            <a:xfrm>
              <a:off x="1547" y="172"/>
              <a:ext cx="45" cy="22"/>
            </a:xfrm>
            <a:custGeom>
              <a:avLst/>
              <a:gdLst>
                <a:gd name="T0" fmla="*/ 3 w 52"/>
                <a:gd name="T1" fmla="*/ 0 h 32"/>
                <a:gd name="T2" fmla="*/ 3 w 52"/>
                <a:gd name="T3" fmla="*/ 1 h 32"/>
                <a:gd name="T4" fmla="*/ 3 w 52"/>
                <a:gd name="T5" fmla="*/ 1 h 32"/>
                <a:gd name="T6" fmla="*/ 3 w 52"/>
                <a:gd name="T7" fmla="*/ 1 h 32"/>
                <a:gd name="T8" fmla="*/ 3 w 52"/>
                <a:gd name="T9" fmla="*/ 0 h 32"/>
                <a:gd name="T10" fmla="*/ 0 60000 65536"/>
                <a:gd name="T11" fmla="*/ 0 60000 65536"/>
                <a:gd name="T12" fmla="*/ 0 60000 65536"/>
                <a:gd name="T13" fmla="*/ 0 60000 65536"/>
                <a:gd name="T14" fmla="*/ 0 60000 65536"/>
                <a:gd name="T15" fmla="*/ 0 w 52"/>
                <a:gd name="T16" fmla="*/ 0 h 32"/>
                <a:gd name="T17" fmla="*/ 52 w 52"/>
                <a:gd name="T18" fmla="*/ 32 h 32"/>
              </a:gdLst>
              <a:ahLst/>
              <a:cxnLst>
                <a:cxn ang="T10">
                  <a:pos x="T0" y="T1"/>
                </a:cxn>
                <a:cxn ang="T11">
                  <a:pos x="T2" y="T3"/>
                </a:cxn>
                <a:cxn ang="T12">
                  <a:pos x="T4" y="T5"/>
                </a:cxn>
                <a:cxn ang="T13">
                  <a:pos x="T6" y="T7"/>
                </a:cxn>
                <a:cxn ang="T14">
                  <a:pos x="T8" y="T9"/>
                </a:cxn>
              </a:cxnLst>
              <a:rect l="T15" t="T16" r="T17" b="T18"/>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3" name="Freeform 31">
              <a:extLst>
                <a:ext uri="{FF2B5EF4-FFF2-40B4-BE49-F238E27FC236}">
                  <a16:creationId xmlns:a16="http://schemas.microsoft.com/office/drawing/2014/main" id="{DF0C52FA-3132-4A0B-BE60-3E818F553471}"/>
                </a:ext>
              </a:extLst>
            </p:cNvPr>
            <p:cNvSpPr>
              <a:spLocks noChangeArrowheads="1"/>
            </p:cNvSpPr>
            <p:nvPr/>
          </p:nvSpPr>
          <p:spPr bwMode="auto">
            <a:xfrm>
              <a:off x="1873" y="234"/>
              <a:ext cx="147" cy="50"/>
            </a:xfrm>
            <a:custGeom>
              <a:avLst/>
              <a:gdLst>
                <a:gd name="T0" fmla="*/ 6 w 172"/>
                <a:gd name="T1" fmla="*/ 1 h 72"/>
                <a:gd name="T2" fmla="*/ 4 w 172"/>
                <a:gd name="T3" fmla="*/ 1 h 72"/>
                <a:gd name="T4" fmla="*/ 3 w 172"/>
                <a:gd name="T5" fmla="*/ 0 h 72"/>
                <a:gd name="T6" fmla="*/ 0 w 172"/>
                <a:gd name="T7" fmla="*/ 1 h 72"/>
                <a:gd name="T8" fmla="*/ 3 w 172"/>
                <a:gd name="T9" fmla="*/ 1 h 72"/>
                <a:gd name="T10" fmla="*/ 3 w 172"/>
                <a:gd name="T11" fmla="*/ 1 h 72"/>
                <a:gd name="T12" fmla="*/ 4 w 172"/>
                <a:gd name="T13" fmla="*/ 1 h 72"/>
                <a:gd name="T14" fmla="*/ 5 w 172"/>
                <a:gd name="T15" fmla="*/ 1 h 72"/>
                <a:gd name="T16" fmla="*/ 8 w 172"/>
                <a:gd name="T17" fmla="*/ 1 h 72"/>
                <a:gd name="T18" fmla="*/ 11 w 172"/>
                <a:gd name="T19" fmla="*/ 1 h 72"/>
                <a:gd name="T20" fmla="*/ 9 w 172"/>
                <a:gd name="T21" fmla="*/ 1 h 72"/>
                <a:gd name="T22" fmla="*/ 8 w 172"/>
                <a:gd name="T23" fmla="*/ 1 h 72"/>
                <a:gd name="T24" fmla="*/ 6 w 172"/>
                <a:gd name="T25" fmla="*/ 1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2"/>
                <a:gd name="T40" fmla="*/ 0 h 72"/>
                <a:gd name="T41" fmla="*/ 172 w 172"/>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4" name="Freeform 32">
              <a:extLst>
                <a:ext uri="{FF2B5EF4-FFF2-40B4-BE49-F238E27FC236}">
                  <a16:creationId xmlns:a16="http://schemas.microsoft.com/office/drawing/2014/main" id="{1CC6549F-756F-4FE5-87B9-C82E49539C70}"/>
                </a:ext>
              </a:extLst>
            </p:cNvPr>
            <p:cNvSpPr>
              <a:spLocks noChangeArrowheads="1"/>
            </p:cNvSpPr>
            <p:nvPr/>
          </p:nvSpPr>
          <p:spPr bwMode="auto">
            <a:xfrm>
              <a:off x="1989" y="81"/>
              <a:ext cx="45" cy="23"/>
            </a:xfrm>
            <a:custGeom>
              <a:avLst/>
              <a:gdLst>
                <a:gd name="T0" fmla="*/ 3 w 52"/>
                <a:gd name="T1" fmla="*/ 0 h 32"/>
                <a:gd name="T2" fmla="*/ 3 w 52"/>
                <a:gd name="T3" fmla="*/ 1 h 32"/>
                <a:gd name="T4" fmla="*/ 3 w 52"/>
                <a:gd name="T5" fmla="*/ 1 h 32"/>
                <a:gd name="T6" fmla="*/ 3 w 52"/>
                <a:gd name="T7" fmla="*/ 1 h 32"/>
                <a:gd name="T8" fmla="*/ 3 w 52"/>
                <a:gd name="T9" fmla="*/ 0 h 32"/>
                <a:gd name="T10" fmla="*/ 0 60000 65536"/>
                <a:gd name="T11" fmla="*/ 0 60000 65536"/>
                <a:gd name="T12" fmla="*/ 0 60000 65536"/>
                <a:gd name="T13" fmla="*/ 0 60000 65536"/>
                <a:gd name="T14" fmla="*/ 0 60000 65536"/>
                <a:gd name="T15" fmla="*/ 0 w 52"/>
                <a:gd name="T16" fmla="*/ 0 h 32"/>
                <a:gd name="T17" fmla="*/ 52 w 52"/>
                <a:gd name="T18" fmla="*/ 32 h 32"/>
              </a:gdLst>
              <a:ahLst/>
              <a:cxnLst>
                <a:cxn ang="T10">
                  <a:pos x="T0" y="T1"/>
                </a:cxn>
                <a:cxn ang="T11">
                  <a:pos x="T2" y="T3"/>
                </a:cxn>
                <a:cxn ang="T12">
                  <a:pos x="T4" y="T5"/>
                </a:cxn>
                <a:cxn ang="T13">
                  <a:pos x="T6" y="T7"/>
                </a:cxn>
                <a:cxn ang="T14">
                  <a:pos x="T8" y="T9"/>
                </a:cxn>
              </a:cxnLst>
              <a:rect l="T15" t="T16" r="T17" b="T18"/>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5" name="Freeform 33">
              <a:extLst>
                <a:ext uri="{FF2B5EF4-FFF2-40B4-BE49-F238E27FC236}">
                  <a16:creationId xmlns:a16="http://schemas.microsoft.com/office/drawing/2014/main" id="{8F4B2673-6919-4569-ACA6-1FB901F6F854}"/>
                </a:ext>
              </a:extLst>
            </p:cNvPr>
            <p:cNvSpPr>
              <a:spLocks noChangeArrowheads="1"/>
            </p:cNvSpPr>
            <p:nvPr/>
          </p:nvSpPr>
          <p:spPr bwMode="auto">
            <a:xfrm>
              <a:off x="2298" y="51"/>
              <a:ext cx="178" cy="59"/>
            </a:xfrm>
            <a:custGeom>
              <a:avLst/>
              <a:gdLst>
                <a:gd name="T0" fmla="*/ 14 w 206"/>
                <a:gd name="T1" fmla="*/ 1 h 85"/>
                <a:gd name="T2" fmla="*/ 8 w 206"/>
                <a:gd name="T3" fmla="*/ 1 h 85"/>
                <a:gd name="T4" fmla="*/ 8 w 206"/>
                <a:gd name="T5" fmla="*/ 1 h 85"/>
                <a:gd name="T6" fmla="*/ 8 w 206"/>
                <a:gd name="T7" fmla="*/ 1 h 85"/>
                <a:gd name="T8" fmla="*/ 7 w 206"/>
                <a:gd name="T9" fmla="*/ 1 h 85"/>
                <a:gd name="T10" fmla="*/ 6 w 206"/>
                <a:gd name="T11" fmla="*/ 1 h 85"/>
                <a:gd name="T12" fmla="*/ 3 w 206"/>
                <a:gd name="T13" fmla="*/ 1 h 85"/>
                <a:gd name="T14" fmla="*/ 3 w 206"/>
                <a:gd name="T15" fmla="*/ 1 h 85"/>
                <a:gd name="T16" fmla="*/ 3 w 206"/>
                <a:gd name="T17" fmla="*/ 1 h 85"/>
                <a:gd name="T18" fmla="*/ 5 w 206"/>
                <a:gd name="T19" fmla="*/ 1 h 85"/>
                <a:gd name="T20" fmla="*/ 7 w 206"/>
                <a:gd name="T21" fmla="*/ 1 h 85"/>
                <a:gd name="T22" fmla="*/ 8 w 206"/>
                <a:gd name="T23" fmla="*/ 1 h 85"/>
                <a:gd name="T24" fmla="*/ 9 w 206"/>
                <a:gd name="T25" fmla="*/ 1 h 85"/>
                <a:gd name="T26" fmla="*/ 9 w 206"/>
                <a:gd name="T27" fmla="*/ 1 h 85"/>
                <a:gd name="T28" fmla="*/ 12 w 206"/>
                <a:gd name="T29" fmla="*/ 1 h 85"/>
                <a:gd name="T30" fmla="*/ 14 w 206"/>
                <a:gd name="T31" fmla="*/ 1 h 85"/>
                <a:gd name="T32" fmla="*/ 14 w 206"/>
                <a:gd name="T33" fmla="*/ 1 h 85"/>
                <a:gd name="T34" fmla="*/ 14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6"/>
                <a:gd name="T55" fmla="*/ 0 h 85"/>
                <a:gd name="T56" fmla="*/ 206 w 206"/>
                <a:gd name="T57" fmla="*/ 85 h 8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6" name="Freeform 34">
              <a:extLst>
                <a:ext uri="{FF2B5EF4-FFF2-40B4-BE49-F238E27FC236}">
                  <a16:creationId xmlns:a16="http://schemas.microsoft.com/office/drawing/2014/main" id="{A1D21F75-78B5-4A55-AC18-127AFD12D908}"/>
                </a:ext>
              </a:extLst>
            </p:cNvPr>
            <p:cNvSpPr>
              <a:spLocks noChangeArrowheads="1"/>
            </p:cNvSpPr>
            <p:nvPr/>
          </p:nvSpPr>
          <p:spPr bwMode="auto">
            <a:xfrm>
              <a:off x="2410" y="82"/>
              <a:ext cx="55" cy="20"/>
            </a:xfrm>
            <a:custGeom>
              <a:avLst/>
              <a:gdLst>
                <a:gd name="T0" fmla="*/ 3 w 64"/>
                <a:gd name="T1" fmla="*/ 1 h 28"/>
                <a:gd name="T2" fmla="*/ 3 w 64"/>
                <a:gd name="T3" fmla="*/ 1 h 28"/>
                <a:gd name="T4" fmla="*/ 3 w 64"/>
                <a:gd name="T5" fmla="*/ 1 h 28"/>
                <a:gd name="T6" fmla="*/ 3 w 64"/>
                <a:gd name="T7" fmla="*/ 1 h 28"/>
                <a:gd name="T8" fmla="*/ 3 w 64"/>
                <a:gd name="T9" fmla="*/ 1 h 28"/>
                <a:gd name="T10" fmla="*/ 0 60000 65536"/>
                <a:gd name="T11" fmla="*/ 0 60000 65536"/>
                <a:gd name="T12" fmla="*/ 0 60000 65536"/>
                <a:gd name="T13" fmla="*/ 0 60000 65536"/>
                <a:gd name="T14" fmla="*/ 0 60000 65536"/>
                <a:gd name="T15" fmla="*/ 0 w 64"/>
                <a:gd name="T16" fmla="*/ 0 h 28"/>
                <a:gd name="T17" fmla="*/ 64 w 64"/>
                <a:gd name="T18" fmla="*/ 28 h 28"/>
              </a:gdLst>
              <a:ahLst/>
              <a:cxnLst>
                <a:cxn ang="T10">
                  <a:pos x="T0" y="T1"/>
                </a:cxn>
                <a:cxn ang="T11">
                  <a:pos x="T2" y="T3"/>
                </a:cxn>
                <a:cxn ang="T12">
                  <a:pos x="T4" y="T5"/>
                </a:cxn>
                <a:cxn ang="T13">
                  <a:pos x="T6" y="T7"/>
                </a:cxn>
                <a:cxn ang="T14">
                  <a:pos x="T8" y="T9"/>
                </a:cxn>
              </a:cxnLst>
              <a:rect l="T15" t="T16" r="T17" b="T18"/>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7" name="Freeform 35">
              <a:extLst>
                <a:ext uri="{FF2B5EF4-FFF2-40B4-BE49-F238E27FC236}">
                  <a16:creationId xmlns:a16="http://schemas.microsoft.com/office/drawing/2014/main" id="{1F25D6C4-691C-4AA1-9FF1-012B28A64E81}"/>
                </a:ext>
              </a:extLst>
            </p:cNvPr>
            <p:cNvSpPr>
              <a:spLocks noChangeArrowheads="1"/>
            </p:cNvSpPr>
            <p:nvPr/>
          </p:nvSpPr>
          <p:spPr bwMode="auto">
            <a:xfrm>
              <a:off x="2074" y="337"/>
              <a:ext cx="125" cy="123"/>
            </a:xfrm>
            <a:custGeom>
              <a:avLst/>
              <a:gdLst>
                <a:gd name="T0" fmla="*/ 3 w 146"/>
                <a:gd name="T1" fmla="*/ 1 h 176"/>
                <a:gd name="T2" fmla="*/ 0 w 146"/>
                <a:gd name="T3" fmla="*/ 1 h 176"/>
                <a:gd name="T4" fmla="*/ 3 w 146"/>
                <a:gd name="T5" fmla="*/ 1 h 176"/>
                <a:gd name="T6" fmla="*/ 3 w 146"/>
                <a:gd name="T7" fmla="*/ 1 h 176"/>
                <a:gd name="T8" fmla="*/ 3 w 146"/>
                <a:gd name="T9" fmla="*/ 1 h 176"/>
                <a:gd name="T10" fmla="*/ 3 w 146"/>
                <a:gd name="T11" fmla="*/ 1 h 176"/>
                <a:gd name="T12" fmla="*/ 3 w 146"/>
                <a:gd name="T13" fmla="*/ 1 h 176"/>
                <a:gd name="T14" fmla="*/ 3 w 146"/>
                <a:gd name="T15" fmla="*/ 1 h 176"/>
                <a:gd name="T16" fmla="*/ 3 w 146"/>
                <a:gd name="T17" fmla="*/ 1 h 176"/>
                <a:gd name="T18" fmla="*/ 3 w 146"/>
                <a:gd name="T19" fmla="*/ 1 h 176"/>
                <a:gd name="T20" fmla="*/ 3 w 146"/>
                <a:gd name="T21" fmla="*/ 1 h 176"/>
                <a:gd name="T22" fmla="*/ 3 w 146"/>
                <a:gd name="T23" fmla="*/ 1 h 176"/>
                <a:gd name="T24" fmla="*/ 3 w 146"/>
                <a:gd name="T25" fmla="*/ 1 h 176"/>
                <a:gd name="T26" fmla="*/ 3 w 146"/>
                <a:gd name="T27" fmla="*/ 1 h 176"/>
                <a:gd name="T28" fmla="*/ 6 w 146"/>
                <a:gd name="T29" fmla="*/ 1 h 176"/>
                <a:gd name="T30" fmla="*/ 7 w 146"/>
                <a:gd name="T31" fmla="*/ 1 h 176"/>
                <a:gd name="T32" fmla="*/ 8 w 146"/>
                <a:gd name="T33" fmla="*/ 1 h 176"/>
                <a:gd name="T34" fmla="*/ 8 w 146"/>
                <a:gd name="T35" fmla="*/ 1 h 176"/>
                <a:gd name="T36" fmla="*/ 9 w 146"/>
                <a:gd name="T37" fmla="*/ 1 h 176"/>
                <a:gd name="T38" fmla="*/ 7 w 146"/>
                <a:gd name="T39" fmla="*/ 1 h 176"/>
                <a:gd name="T40" fmla="*/ 5 w 146"/>
                <a:gd name="T41" fmla="*/ 1 h 176"/>
                <a:gd name="T42" fmla="*/ 5 w 146"/>
                <a:gd name="T43" fmla="*/ 1 h 176"/>
                <a:gd name="T44" fmla="*/ 3 w 146"/>
                <a:gd name="T45" fmla="*/ 1 h 176"/>
                <a:gd name="T46" fmla="*/ 5 w 146"/>
                <a:gd name="T47" fmla="*/ 1 h 176"/>
                <a:gd name="T48" fmla="*/ 3 w 146"/>
                <a:gd name="T49" fmla="*/ 1 h 176"/>
                <a:gd name="T50" fmla="*/ 4 w 146"/>
                <a:gd name="T51" fmla="*/ 1 h 176"/>
                <a:gd name="T52" fmla="*/ 3 w 146"/>
                <a:gd name="T53" fmla="*/ 1 h 176"/>
                <a:gd name="T54" fmla="*/ 3 w 146"/>
                <a:gd name="T55" fmla="*/ 1 h 176"/>
                <a:gd name="T56" fmla="*/ 3 w 146"/>
                <a:gd name="T57" fmla="*/ 1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6"/>
                <a:gd name="T88" fmla="*/ 0 h 176"/>
                <a:gd name="T89" fmla="*/ 146 w 146"/>
                <a:gd name="T90" fmla="*/ 176 h 1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8" name="Freeform 36">
              <a:extLst>
                <a:ext uri="{FF2B5EF4-FFF2-40B4-BE49-F238E27FC236}">
                  <a16:creationId xmlns:a16="http://schemas.microsoft.com/office/drawing/2014/main" id="{619D0A42-519A-48EC-92F5-5BC0922BEA25}"/>
                </a:ext>
              </a:extLst>
            </p:cNvPr>
            <p:cNvSpPr>
              <a:spLocks noChangeArrowheads="1"/>
            </p:cNvSpPr>
            <p:nvPr/>
          </p:nvSpPr>
          <p:spPr bwMode="auto">
            <a:xfrm>
              <a:off x="2012" y="381"/>
              <a:ext cx="79" cy="64"/>
            </a:xfrm>
            <a:custGeom>
              <a:avLst/>
              <a:gdLst>
                <a:gd name="T0" fmla="*/ 3 w 92"/>
                <a:gd name="T1" fmla="*/ 1 h 92"/>
                <a:gd name="T2" fmla="*/ 5 w 92"/>
                <a:gd name="T3" fmla="*/ 1 h 92"/>
                <a:gd name="T4" fmla="*/ 6 w 92"/>
                <a:gd name="T5" fmla="*/ 1 h 92"/>
                <a:gd name="T6" fmla="*/ 5 w 92"/>
                <a:gd name="T7" fmla="*/ 1 h 92"/>
                <a:gd name="T8" fmla="*/ 3 w 92"/>
                <a:gd name="T9" fmla="*/ 1 h 92"/>
                <a:gd name="T10" fmla="*/ 3 w 92"/>
                <a:gd name="T11" fmla="*/ 1 h 92"/>
                <a:gd name="T12" fmla="*/ 3 w 92"/>
                <a:gd name="T13" fmla="*/ 1 h 92"/>
                <a:gd name="T14" fmla="*/ 3 w 92"/>
                <a:gd name="T15" fmla="*/ 1 h 92"/>
                <a:gd name="T16" fmla="*/ 3 w 92"/>
                <a:gd name="T17" fmla="*/ 1 h 92"/>
                <a:gd name="T18" fmla="*/ 3 w 92"/>
                <a:gd name="T19" fmla="*/ 1 h 92"/>
                <a:gd name="T20" fmla="*/ 3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92"/>
                <a:gd name="T35" fmla="*/ 92 w 92"/>
                <a:gd name="T36" fmla="*/ 92 h 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39" name="Freeform 37">
              <a:extLst>
                <a:ext uri="{FF2B5EF4-FFF2-40B4-BE49-F238E27FC236}">
                  <a16:creationId xmlns:a16="http://schemas.microsoft.com/office/drawing/2014/main" id="{3CC53320-A67E-4208-AB95-A714E66B5776}"/>
                </a:ext>
              </a:extLst>
            </p:cNvPr>
            <p:cNvSpPr>
              <a:spLocks noChangeArrowheads="1"/>
            </p:cNvSpPr>
            <p:nvPr/>
          </p:nvSpPr>
          <p:spPr bwMode="auto">
            <a:xfrm>
              <a:off x="3951" y="1450"/>
              <a:ext cx="545" cy="463"/>
            </a:xfrm>
            <a:custGeom>
              <a:avLst/>
              <a:gdLst>
                <a:gd name="T0" fmla="*/ 14 w 633"/>
                <a:gd name="T1" fmla="*/ 1 h 660"/>
                <a:gd name="T2" fmla="*/ 12 w 633"/>
                <a:gd name="T3" fmla="*/ 1 h 660"/>
                <a:gd name="T4" fmla="*/ 9 w 633"/>
                <a:gd name="T5" fmla="*/ 1 h 660"/>
                <a:gd name="T6" fmla="*/ 7 w 633"/>
                <a:gd name="T7" fmla="*/ 1 h 660"/>
                <a:gd name="T8" fmla="*/ 6 w 633"/>
                <a:gd name="T9" fmla="*/ 1 h 660"/>
                <a:gd name="T10" fmla="*/ 4 w 633"/>
                <a:gd name="T11" fmla="*/ 1 h 660"/>
                <a:gd name="T12" fmla="*/ 3 w 633"/>
                <a:gd name="T13" fmla="*/ 1 h 660"/>
                <a:gd name="T14" fmla="*/ 0 w 633"/>
                <a:gd name="T15" fmla="*/ 1 h 660"/>
                <a:gd name="T16" fmla="*/ 5 w 633"/>
                <a:gd name="T17" fmla="*/ 1 h 660"/>
                <a:gd name="T18" fmla="*/ 8 w 633"/>
                <a:gd name="T19" fmla="*/ 1 h 660"/>
                <a:gd name="T20" fmla="*/ 9 w 633"/>
                <a:gd name="T21" fmla="*/ 1 h 660"/>
                <a:gd name="T22" fmla="*/ 11 w 633"/>
                <a:gd name="T23" fmla="*/ 1 h 660"/>
                <a:gd name="T24" fmla="*/ 15 w 633"/>
                <a:gd name="T25" fmla="*/ 1 h 660"/>
                <a:gd name="T26" fmla="*/ 17 w 633"/>
                <a:gd name="T27" fmla="*/ 1 h 660"/>
                <a:gd name="T28" fmla="*/ 20 w 633"/>
                <a:gd name="T29" fmla="*/ 1 h 660"/>
                <a:gd name="T30" fmla="*/ 22 w 633"/>
                <a:gd name="T31" fmla="*/ 1 h 660"/>
                <a:gd name="T32" fmla="*/ 22 w 633"/>
                <a:gd name="T33" fmla="*/ 1 h 660"/>
                <a:gd name="T34" fmla="*/ 23 w 633"/>
                <a:gd name="T35" fmla="*/ 1 h 660"/>
                <a:gd name="T36" fmla="*/ 25 w 633"/>
                <a:gd name="T37" fmla="*/ 1 h 660"/>
                <a:gd name="T38" fmla="*/ 27 w 633"/>
                <a:gd name="T39" fmla="*/ 1 h 660"/>
                <a:gd name="T40" fmla="*/ 29 w 633"/>
                <a:gd name="T41" fmla="*/ 1 h 660"/>
                <a:gd name="T42" fmla="*/ 29 w 633"/>
                <a:gd name="T43" fmla="*/ 1 h 660"/>
                <a:gd name="T44" fmla="*/ 30 w 633"/>
                <a:gd name="T45" fmla="*/ 1 h 660"/>
                <a:gd name="T46" fmla="*/ 33 w 633"/>
                <a:gd name="T47" fmla="*/ 1 h 660"/>
                <a:gd name="T48" fmla="*/ 34 w 633"/>
                <a:gd name="T49" fmla="*/ 1 h 660"/>
                <a:gd name="T50" fmla="*/ 36 w 633"/>
                <a:gd name="T51" fmla="*/ 1 h 660"/>
                <a:gd name="T52" fmla="*/ 40 w 633"/>
                <a:gd name="T53" fmla="*/ 1 h 660"/>
                <a:gd name="T54" fmla="*/ 41 w 633"/>
                <a:gd name="T55" fmla="*/ 1 h 660"/>
                <a:gd name="T56" fmla="*/ 42 w 633"/>
                <a:gd name="T57" fmla="*/ 1 h 660"/>
                <a:gd name="T58" fmla="*/ 42 w 633"/>
                <a:gd name="T59" fmla="*/ 1 h 660"/>
                <a:gd name="T60" fmla="*/ 36 w 633"/>
                <a:gd name="T61" fmla="*/ 1 h 660"/>
                <a:gd name="T62" fmla="*/ 35 w 633"/>
                <a:gd name="T63" fmla="*/ 1 h 660"/>
                <a:gd name="T64" fmla="*/ 31 w 633"/>
                <a:gd name="T65" fmla="*/ 1 h 660"/>
                <a:gd name="T66" fmla="*/ 31 w 633"/>
                <a:gd name="T67" fmla="*/ 1 h 660"/>
                <a:gd name="T68" fmla="*/ 30 w 633"/>
                <a:gd name="T69" fmla="*/ 1 h 660"/>
                <a:gd name="T70" fmla="*/ 28 w 633"/>
                <a:gd name="T71" fmla="*/ 1 h 660"/>
                <a:gd name="T72" fmla="*/ 26 w 633"/>
                <a:gd name="T73" fmla="*/ 1 h 660"/>
                <a:gd name="T74" fmla="*/ 26 w 633"/>
                <a:gd name="T75" fmla="*/ 1 h 660"/>
                <a:gd name="T76" fmla="*/ 25 w 633"/>
                <a:gd name="T77" fmla="*/ 1 h 660"/>
                <a:gd name="T78" fmla="*/ 22 w 633"/>
                <a:gd name="T79" fmla="*/ 1 h 660"/>
                <a:gd name="T80" fmla="*/ 19 w 633"/>
                <a:gd name="T81" fmla="*/ 1 h 660"/>
                <a:gd name="T82" fmla="*/ 19 w 633"/>
                <a:gd name="T83" fmla="*/ 1 h 660"/>
                <a:gd name="T84" fmla="*/ 18 w 633"/>
                <a:gd name="T85" fmla="*/ 1 h 660"/>
                <a:gd name="T86" fmla="*/ 19 w 633"/>
                <a:gd name="T87" fmla="*/ 1 h 660"/>
                <a:gd name="T88" fmla="*/ 16 w 633"/>
                <a:gd name="T89" fmla="*/ 1 h 660"/>
                <a:gd name="T90" fmla="*/ 14 w 633"/>
                <a:gd name="T91" fmla="*/ 1 h 660"/>
                <a:gd name="T92" fmla="*/ 14 w 633"/>
                <a:gd name="T93" fmla="*/ 1 h 660"/>
                <a:gd name="T94" fmla="*/ 14 w 633"/>
                <a:gd name="T95" fmla="*/ 1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33"/>
                <a:gd name="T145" fmla="*/ 0 h 660"/>
                <a:gd name="T146" fmla="*/ 633 w 633"/>
                <a:gd name="T147" fmla="*/ 660 h 66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0" name="Freeform 38">
              <a:extLst>
                <a:ext uri="{FF2B5EF4-FFF2-40B4-BE49-F238E27FC236}">
                  <a16:creationId xmlns:a16="http://schemas.microsoft.com/office/drawing/2014/main" id="{281A708F-998E-463F-A874-28184D30107A}"/>
                </a:ext>
              </a:extLst>
            </p:cNvPr>
            <p:cNvSpPr>
              <a:spLocks noChangeArrowheads="1"/>
            </p:cNvSpPr>
            <p:nvPr/>
          </p:nvSpPr>
          <p:spPr bwMode="auto">
            <a:xfrm>
              <a:off x="4120" y="1206"/>
              <a:ext cx="367" cy="196"/>
            </a:xfrm>
            <a:custGeom>
              <a:avLst/>
              <a:gdLst>
                <a:gd name="T0" fmla="*/ 6 w 426"/>
                <a:gd name="T1" fmla="*/ 1 h 280"/>
                <a:gd name="T2" fmla="*/ 5 w 426"/>
                <a:gd name="T3" fmla="*/ 1 h 280"/>
                <a:gd name="T4" fmla="*/ 4 w 426"/>
                <a:gd name="T5" fmla="*/ 1 h 280"/>
                <a:gd name="T6" fmla="*/ 3 w 426"/>
                <a:gd name="T7" fmla="*/ 1 h 280"/>
                <a:gd name="T8" fmla="*/ 3 w 426"/>
                <a:gd name="T9" fmla="*/ 1 h 280"/>
                <a:gd name="T10" fmla="*/ 3 w 426"/>
                <a:gd name="T11" fmla="*/ 1 h 280"/>
                <a:gd name="T12" fmla="*/ 3 w 426"/>
                <a:gd name="T13" fmla="*/ 1 h 280"/>
                <a:gd name="T14" fmla="*/ 3 w 426"/>
                <a:gd name="T15" fmla="*/ 1 h 280"/>
                <a:gd name="T16" fmla="*/ 6 w 426"/>
                <a:gd name="T17" fmla="*/ 1 h 280"/>
                <a:gd name="T18" fmla="*/ 9 w 426"/>
                <a:gd name="T19" fmla="*/ 1 h 280"/>
                <a:gd name="T20" fmla="*/ 9 w 426"/>
                <a:gd name="T21" fmla="*/ 1 h 280"/>
                <a:gd name="T22" fmla="*/ 10 w 426"/>
                <a:gd name="T23" fmla="*/ 1 h 280"/>
                <a:gd name="T24" fmla="*/ 10 w 426"/>
                <a:gd name="T25" fmla="*/ 1 h 280"/>
                <a:gd name="T26" fmla="*/ 9 w 426"/>
                <a:gd name="T27" fmla="*/ 1 h 280"/>
                <a:gd name="T28" fmla="*/ 12 w 426"/>
                <a:gd name="T29" fmla="*/ 1 h 280"/>
                <a:gd name="T30" fmla="*/ 14 w 426"/>
                <a:gd name="T31" fmla="*/ 1 h 280"/>
                <a:gd name="T32" fmla="*/ 15 w 426"/>
                <a:gd name="T33" fmla="*/ 1 h 280"/>
                <a:gd name="T34" fmla="*/ 16 w 426"/>
                <a:gd name="T35" fmla="*/ 1 h 280"/>
                <a:gd name="T36" fmla="*/ 17 w 426"/>
                <a:gd name="T37" fmla="*/ 1 h 280"/>
                <a:gd name="T38" fmla="*/ 19 w 426"/>
                <a:gd name="T39" fmla="*/ 1 h 280"/>
                <a:gd name="T40" fmla="*/ 22 w 426"/>
                <a:gd name="T41" fmla="*/ 1 h 280"/>
                <a:gd name="T42" fmla="*/ 25 w 426"/>
                <a:gd name="T43" fmla="*/ 1 h 280"/>
                <a:gd name="T44" fmla="*/ 25 w 426"/>
                <a:gd name="T45" fmla="*/ 1 h 280"/>
                <a:gd name="T46" fmla="*/ 22 w 426"/>
                <a:gd name="T47" fmla="*/ 1 h 280"/>
                <a:gd name="T48" fmla="*/ 25 w 426"/>
                <a:gd name="T49" fmla="*/ 1 h 280"/>
                <a:gd name="T50" fmla="*/ 28 w 426"/>
                <a:gd name="T51" fmla="*/ 1 h 280"/>
                <a:gd name="T52" fmla="*/ 29 w 426"/>
                <a:gd name="T53" fmla="*/ 1 h 280"/>
                <a:gd name="T54" fmla="*/ 29 w 426"/>
                <a:gd name="T55" fmla="*/ 1 h 280"/>
                <a:gd name="T56" fmla="*/ 25 w 426"/>
                <a:gd name="T57" fmla="*/ 1 h 280"/>
                <a:gd name="T58" fmla="*/ 21 w 426"/>
                <a:gd name="T59" fmla="*/ 1 h 280"/>
                <a:gd name="T60" fmla="*/ 21 w 426"/>
                <a:gd name="T61" fmla="*/ 1 h 280"/>
                <a:gd name="T62" fmla="*/ 20 w 426"/>
                <a:gd name="T63" fmla="*/ 1 h 280"/>
                <a:gd name="T64" fmla="*/ 16 w 426"/>
                <a:gd name="T65" fmla="*/ 1 h 280"/>
                <a:gd name="T66" fmla="*/ 11 w 426"/>
                <a:gd name="T67" fmla="*/ 1 h 280"/>
                <a:gd name="T68" fmla="*/ 9 w 426"/>
                <a:gd name="T69" fmla="*/ 1 h 280"/>
                <a:gd name="T70" fmla="*/ 6 w 426"/>
                <a:gd name="T71" fmla="*/ 1 h 280"/>
                <a:gd name="T72" fmla="*/ 5 w 426"/>
                <a:gd name="T73" fmla="*/ 1 h 280"/>
                <a:gd name="T74" fmla="*/ 5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26"/>
                <a:gd name="T115" fmla="*/ 0 h 280"/>
                <a:gd name="T116" fmla="*/ 426 w 426"/>
                <a:gd name="T117" fmla="*/ 280 h 2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1" name="Freeform 39">
              <a:extLst>
                <a:ext uri="{FF2B5EF4-FFF2-40B4-BE49-F238E27FC236}">
                  <a16:creationId xmlns:a16="http://schemas.microsoft.com/office/drawing/2014/main" id="{C1E8DE8D-D9D4-4CFB-88B8-1B87A73BA997}"/>
                </a:ext>
              </a:extLst>
            </p:cNvPr>
            <p:cNvSpPr>
              <a:spLocks noChangeArrowheads="1"/>
            </p:cNvSpPr>
            <p:nvPr/>
          </p:nvSpPr>
          <p:spPr bwMode="auto">
            <a:xfrm>
              <a:off x="4395" y="1928"/>
              <a:ext cx="52" cy="54"/>
            </a:xfrm>
            <a:custGeom>
              <a:avLst/>
              <a:gdLst>
                <a:gd name="T0" fmla="*/ 3 w 60"/>
                <a:gd name="T1" fmla="*/ 1 h 78"/>
                <a:gd name="T2" fmla="*/ 0 w 60"/>
                <a:gd name="T3" fmla="*/ 1 h 78"/>
                <a:gd name="T4" fmla="*/ 3 w 60"/>
                <a:gd name="T5" fmla="*/ 1 h 78"/>
                <a:gd name="T6" fmla="*/ 3 w 60"/>
                <a:gd name="T7" fmla="*/ 1 h 78"/>
                <a:gd name="T8" fmla="*/ 3 w 60"/>
                <a:gd name="T9" fmla="*/ 1 h 78"/>
                <a:gd name="T10" fmla="*/ 4 w 60"/>
                <a:gd name="T11" fmla="*/ 1 h 78"/>
                <a:gd name="T12" fmla="*/ 3 w 60"/>
                <a:gd name="T13" fmla="*/ 1 h 78"/>
                <a:gd name="T14" fmla="*/ 0 60000 65536"/>
                <a:gd name="T15" fmla="*/ 0 60000 65536"/>
                <a:gd name="T16" fmla="*/ 0 60000 65536"/>
                <a:gd name="T17" fmla="*/ 0 60000 65536"/>
                <a:gd name="T18" fmla="*/ 0 60000 65536"/>
                <a:gd name="T19" fmla="*/ 0 60000 65536"/>
                <a:gd name="T20" fmla="*/ 0 60000 65536"/>
                <a:gd name="T21" fmla="*/ 0 w 60"/>
                <a:gd name="T22" fmla="*/ 0 h 78"/>
                <a:gd name="T23" fmla="*/ 60 w 60"/>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2" name="Freeform 40">
              <a:extLst>
                <a:ext uri="{FF2B5EF4-FFF2-40B4-BE49-F238E27FC236}">
                  <a16:creationId xmlns:a16="http://schemas.microsoft.com/office/drawing/2014/main" id="{3E6C7219-9EBA-49BB-A02D-27CD9B058476}"/>
                </a:ext>
              </a:extLst>
            </p:cNvPr>
            <p:cNvSpPr>
              <a:spLocks noChangeArrowheads="1"/>
            </p:cNvSpPr>
            <p:nvPr/>
          </p:nvSpPr>
          <p:spPr bwMode="auto">
            <a:xfrm>
              <a:off x="4551" y="1844"/>
              <a:ext cx="189" cy="79"/>
            </a:xfrm>
            <a:custGeom>
              <a:avLst/>
              <a:gdLst>
                <a:gd name="T0" fmla="*/ 3 w 219"/>
                <a:gd name="T1" fmla="*/ 1 h 113"/>
                <a:gd name="T2" fmla="*/ 3 w 219"/>
                <a:gd name="T3" fmla="*/ 1 h 113"/>
                <a:gd name="T4" fmla="*/ 3 w 219"/>
                <a:gd name="T5" fmla="*/ 1 h 113"/>
                <a:gd name="T6" fmla="*/ 3 w 219"/>
                <a:gd name="T7" fmla="*/ 1 h 113"/>
                <a:gd name="T8" fmla="*/ 9 w 219"/>
                <a:gd name="T9" fmla="*/ 1 h 113"/>
                <a:gd name="T10" fmla="*/ 10 w 219"/>
                <a:gd name="T11" fmla="*/ 1 h 113"/>
                <a:gd name="T12" fmla="*/ 12 w 219"/>
                <a:gd name="T13" fmla="*/ 1 h 113"/>
                <a:gd name="T14" fmla="*/ 16 w 219"/>
                <a:gd name="T15" fmla="*/ 1 h 113"/>
                <a:gd name="T16" fmla="*/ 14 w 219"/>
                <a:gd name="T17" fmla="*/ 0 h 113"/>
                <a:gd name="T18" fmla="*/ 12 w 219"/>
                <a:gd name="T19" fmla="*/ 1 h 113"/>
                <a:gd name="T20" fmla="*/ 8 w 219"/>
                <a:gd name="T21" fmla="*/ 1 h 113"/>
                <a:gd name="T22" fmla="*/ 6 w 219"/>
                <a:gd name="T23" fmla="*/ 1 h 113"/>
                <a:gd name="T24" fmla="*/ 4 w 219"/>
                <a:gd name="T25" fmla="*/ 1 h 113"/>
                <a:gd name="T26" fmla="*/ 3 w 219"/>
                <a:gd name="T27" fmla="*/ 1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9"/>
                <a:gd name="T43" fmla="*/ 0 h 113"/>
                <a:gd name="T44" fmla="*/ 219 w 219"/>
                <a:gd name="T45" fmla="*/ 113 h 1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3" name="Freeform 41">
              <a:extLst>
                <a:ext uri="{FF2B5EF4-FFF2-40B4-BE49-F238E27FC236}">
                  <a16:creationId xmlns:a16="http://schemas.microsoft.com/office/drawing/2014/main" id="{DFDFF192-F265-46F5-8CD7-EC2B7CC9E8F0}"/>
                </a:ext>
              </a:extLst>
            </p:cNvPr>
            <p:cNvSpPr>
              <a:spLocks noChangeArrowheads="1"/>
            </p:cNvSpPr>
            <p:nvPr/>
          </p:nvSpPr>
          <p:spPr bwMode="auto">
            <a:xfrm>
              <a:off x="4747" y="1797"/>
              <a:ext cx="119" cy="86"/>
            </a:xfrm>
            <a:custGeom>
              <a:avLst/>
              <a:gdLst>
                <a:gd name="T0" fmla="*/ 3 w 139"/>
                <a:gd name="T1" fmla="*/ 1 h 122"/>
                <a:gd name="T2" fmla="*/ 3 w 139"/>
                <a:gd name="T3" fmla="*/ 1 h 122"/>
                <a:gd name="T4" fmla="*/ 0 w 139"/>
                <a:gd name="T5" fmla="*/ 1 h 122"/>
                <a:gd name="T6" fmla="*/ 3 w 139"/>
                <a:gd name="T7" fmla="*/ 1 h 122"/>
                <a:gd name="T8" fmla="*/ 3 w 139"/>
                <a:gd name="T9" fmla="*/ 1 h 122"/>
                <a:gd name="T10" fmla="*/ 8 w 139"/>
                <a:gd name="T11" fmla="*/ 1 h 122"/>
                <a:gd name="T12" fmla="*/ 8 w 139"/>
                <a:gd name="T13" fmla="*/ 1 h 122"/>
                <a:gd name="T14" fmla="*/ 7 w 139"/>
                <a:gd name="T15" fmla="*/ 1 h 122"/>
                <a:gd name="T16" fmla="*/ 6 w 139"/>
                <a:gd name="T17" fmla="*/ 1 h 122"/>
                <a:gd name="T18" fmla="*/ 3 w 139"/>
                <a:gd name="T19" fmla="*/ 1 h 122"/>
                <a:gd name="T20" fmla="*/ 3 w 139"/>
                <a:gd name="T21" fmla="*/ 1 h 122"/>
                <a:gd name="T22" fmla="*/ 3 w 139"/>
                <a:gd name="T23" fmla="*/ 1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9"/>
                <a:gd name="T37" fmla="*/ 0 h 122"/>
                <a:gd name="T38" fmla="*/ 139 w 139"/>
                <a:gd name="T39" fmla="*/ 122 h 1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4" name="Freeform 42">
              <a:extLst>
                <a:ext uri="{FF2B5EF4-FFF2-40B4-BE49-F238E27FC236}">
                  <a16:creationId xmlns:a16="http://schemas.microsoft.com/office/drawing/2014/main" id="{26D0ABC2-E53F-40EB-AB5D-BBA80DF168AE}"/>
                </a:ext>
              </a:extLst>
            </p:cNvPr>
            <p:cNvSpPr>
              <a:spLocks noChangeArrowheads="1"/>
            </p:cNvSpPr>
            <p:nvPr/>
          </p:nvSpPr>
          <p:spPr bwMode="auto">
            <a:xfrm>
              <a:off x="4810" y="1759"/>
              <a:ext cx="43" cy="24"/>
            </a:xfrm>
            <a:custGeom>
              <a:avLst/>
              <a:gdLst>
                <a:gd name="T0" fmla="*/ 4 w 49"/>
                <a:gd name="T1" fmla="*/ 0 h 35"/>
                <a:gd name="T2" fmla="*/ 4 w 49"/>
                <a:gd name="T3" fmla="*/ 1 h 35"/>
                <a:gd name="T4" fmla="*/ 4 w 49"/>
                <a:gd name="T5" fmla="*/ 1 h 35"/>
                <a:gd name="T6" fmla="*/ 4 w 49"/>
                <a:gd name="T7" fmla="*/ 1 h 35"/>
                <a:gd name="T8" fmla="*/ 4 w 49"/>
                <a:gd name="T9" fmla="*/ 0 h 35"/>
                <a:gd name="T10" fmla="*/ 0 60000 65536"/>
                <a:gd name="T11" fmla="*/ 0 60000 65536"/>
                <a:gd name="T12" fmla="*/ 0 60000 65536"/>
                <a:gd name="T13" fmla="*/ 0 60000 65536"/>
                <a:gd name="T14" fmla="*/ 0 60000 65536"/>
                <a:gd name="T15" fmla="*/ 0 w 49"/>
                <a:gd name="T16" fmla="*/ 0 h 35"/>
                <a:gd name="T17" fmla="*/ 49 w 49"/>
                <a:gd name="T18" fmla="*/ 35 h 35"/>
              </a:gdLst>
              <a:ahLst/>
              <a:cxnLst>
                <a:cxn ang="T10">
                  <a:pos x="T0" y="T1"/>
                </a:cxn>
                <a:cxn ang="T11">
                  <a:pos x="T2" y="T3"/>
                </a:cxn>
                <a:cxn ang="T12">
                  <a:pos x="T4" y="T5"/>
                </a:cxn>
                <a:cxn ang="T13">
                  <a:pos x="T6" y="T7"/>
                </a:cxn>
                <a:cxn ang="T14">
                  <a:pos x="T8" y="T9"/>
                </a:cxn>
              </a:cxnLst>
              <a:rect l="T15" t="T16" r="T17" b="T18"/>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5" name="Freeform 43">
              <a:extLst>
                <a:ext uri="{FF2B5EF4-FFF2-40B4-BE49-F238E27FC236}">
                  <a16:creationId xmlns:a16="http://schemas.microsoft.com/office/drawing/2014/main" id="{0D530074-F4F6-406C-A7B8-5BE3A563F7A1}"/>
                </a:ext>
              </a:extLst>
            </p:cNvPr>
            <p:cNvSpPr>
              <a:spLocks noChangeArrowheads="1"/>
            </p:cNvSpPr>
            <p:nvPr/>
          </p:nvSpPr>
          <p:spPr bwMode="auto">
            <a:xfrm>
              <a:off x="2828" y="1304"/>
              <a:ext cx="142" cy="188"/>
            </a:xfrm>
            <a:custGeom>
              <a:avLst/>
              <a:gdLst>
                <a:gd name="T0" fmla="*/ 10 w 164"/>
                <a:gd name="T1" fmla="*/ 0 h 268"/>
                <a:gd name="T2" fmla="*/ 8 w 164"/>
                <a:gd name="T3" fmla="*/ 1 h 268"/>
                <a:gd name="T4" fmla="*/ 7 w 164"/>
                <a:gd name="T5" fmla="*/ 1 h 268"/>
                <a:gd name="T6" fmla="*/ 3 w 164"/>
                <a:gd name="T7" fmla="*/ 1 h 268"/>
                <a:gd name="T8" fmla="*/ 3 w 164"/>
                <a:gd name="T9" fmla="*/ 1 h 268"/>
                <a:gd name="T10" fmla="*/ 3 w 164"/>
                <a:gd name="T11" fmla="*/ 1 h 268"/>
                <a:gd name="T12" fmla="*/ 3 w 164"/>
                <a:gd name="T13" fmla="*/ 1 h 268"/>
                <a:gd name="T14" fmla="*/ 3 w 164"/>
                <a:gd name="T15" fmla="*/ 1 h 268"/>
                <a:gd name="T16" fmla="*/ 0 w 164"/>
                <a:gd name="T17" fmla="*/ 1 h 268"/>
                <a:gd name="T18" fmla="*/ 3 w 164"/>
                <a:gd name="T19" fmla="*/ 1 h 268"/>
                <a:gd name="T20" fmla="*/ 3 w 164"/>
                <a:gd name="T21" fmla="*/ 1 h 268"/>
                <a:gd name="T22" fmla="*/ 7 w 164"/>
                <a:gd name="T23" fmla="*/ 1 h 268"/>
                <a:gd name="T24" fmla="*/ 8 w 164"/>
                <a:gd name="T25" fmla="*/ 1 h 268"/>
                <a:gd name="T26" fmla="*/ 10 w 164"/>
                <a:gd name="T27" fmla="*/ 1 h 268"/>
                <a:gd name="T28" fmla="*/ 10 w 164"/>
                <a:gd name="T29" fmla="*/ 1 h 268"/>
                <a:gd name="T30" fmla="*/ 13 w 164"/>
                <a:gd name="T31" fmla="*/ 1 h 268"/>
                <a:gd name="T32" fmla="*/ 10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4"/>
                <a:gd name="T52" fmla="*/ 0 h 268"/>
                <a:gd name="T53" fmla="*/ 164 w 164"/>
                <a:gd name="T54" fmla="*/ 268 h 26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6" name="Freeform 44">
              <a:extLst>
                <a:ext uri="{FF2B5EF4-FFF2-40B4-BE49-F238E27FC236}">
                  <a16:creationId xmlns:a16="http://schemas.microsoft.com/office/drawing/2014/main" id="{03373C19-F752-451B-A9F1-60B4340F7BAE}"/>
                </a:ext>
              </a:extLst>
            </p:cNvPr>
            <p:cNvSpPr>
              <a:spLocks noChangeArrowheads="1"/>
            </p:cNvSpPr>
            <p:nvPr/>
          </p:nvSpPr>
          <p:spPr bwMode="auto">
            <a:xfrm>
              <a:off x="3440" y="1013"/>
              <a:ext cx="57" cy="57"/>
            </a:xfrm>
            <a:custGeom>
              <a:avLst/>
              <a:gdLst>
                <a:gd name="T0" fmla="*/ 3 w 66"/>
                <a:gd name="T1" fmla="*/ 0 h 81"/>
                <a:gd name="T2" fmla="*/ 3 w 66"/>
                <a:gd name="T3" fmla="*/ 1 h 81"/>
                <a:gd name="T4" fmla="*/ 3 w 66"/>
                <a:gd name="T5" fmla="*/ 1 h 81"/>
                <a:gd name="T6" fmla="*/ 3 w 66"/>
                <a:gd name="T7" fmla="*/ 1 h 81"/>
                <a:gd name="T8" fmla="*/ 4 w 66"/>
                <a:gd name="T9" fmla="*/ 1 h 81"/>
                <a:gd name="T10" fmla="*/ 3 w 66"/>
                <a:gd name="T11" fmla="*/ 0 h 81"/>
                <a:gd name="T12" fmla="*/ 0 60000 65536"/>
                <a:gd name="T13" fmla="*/ 0 60000 65536"/>
                <a:gd name="T14" fmla="*/ 0 60000 65536"/>
                <a:gd name="T15" fmla="*/ 0 60000 65536"/>
                <a:gd name="T16" fmla="*/ 0 60000 65536"/>
                <a:gd name="T17" fmla="*/ 0 60000 65536"/>
                <a:gd name="T18" fmla="*/ 0 w 66"/>
                <a:gd name="T19" fmla="*/ 0 h 81"/>
                <a:gd name="T20" fmla="*/ 66 w 66"/>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7" name="Freeform 45">
              <a:extLst>
                <a:ext uri="{FF2B5EF4-FFF2-40B4-BE49-F238E27FC236}">
                  <a16:creationId xmlns:a16="http://schemas.microsoft.com/office/drawing/2014/main" id="{DEA7E5C3-95A6-4E9C-A75D-B61B6F6B0CD3}"/>
                </a:ext>
              </a:extLst>
            </p:cNvPr>
            <p:cNvSpPr>
              <a:spLocks noChangeArrowheads="1"/>
            </p:cNvSpPr>
            <p:nvPr/>
          </p:nvSpPr>
          <p:spPr bwMode="auto">
            <a:xfrm>
              <a:off x="3823" y="1074"/>
              <a:ext cx="128" cy="171"/>
            </a:xfrm>
            <a:custGeom>
              <a:avLst/>
              <a:gdLst>
                <a:gd name="T0" fmla="*/ 7 w 148"/>
                <a:gd name="T1" fmla="*/ 0 h 244"/>
                <a:gd name="T2" fmla="*/ 4 w 148"/>
                <a:gd name="T3" fmla="*/ 1 h 244"/>
                <a:gd name="T4" fmla="*/ 3 w 148"/>
                <a:gd name="T5" fmla="*/ 1 h 244"/>
                <a:gd name="T6" fmla="*/ 3 w 148"/>
                <a:gd name="T7" fmla="*/ 1 h 244"/>
                <a:gd name="T8" fmla="*/ 3 w 148"/>
                <a:gd name="T9" fmla="*/ 1 h 244"/>
                <a:gd name="T10" fmla="*/ 3 w 148"/>
                <a:gd name="T11" fmla="*/ 1 h 244"/>
                <a:gd name="T12" fmla="*/ 4 w 148"/>
                <a:gd name="T13" fmla="*/ 1 h 244"/>
                <a:gd name="T14" fmla="*/ 6 w 148"/>
                <a:gd name="T15" fmla="*/ 1 h 244"/>
                <a:gd name="T16" fmla="*/ 7 w 148"/>
                <a:gd name="T17" fmla="*/ 1 h 244"/>
                <a:gd name="T18" fmla="*/ 9 w 148"/>
                <a:gd name="T19" fmla="*/ 1 h 244"/>
                <a:gd name="T20" fmla="*/ 8 w 148"/>
                <a:gd name="T21" fmla="*/ 1 h 244"/>
                <a:gd name="T22" fmla="*/ 10 w 148"/>
                <a:gd name="T23" fmla="*/ 1 h 244"/>
                <a:gd name="T24" fmla="*/ 8 w 148"/>
                <a:gd name="T25" fmla="*/ 1 h 244"/>
                <a:gd name="T26" fmla="*/ 7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8"/>
                <a:gd name="T43" fmla="*/ 0 h 244"/>
                <a:gd name="T44" fmla="*/ 148 w 148"/>
                <a:gd name="T45" fmla="*/ 244 h 2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8" name="Freeform 46">
              <a:extLst>
                <a:ext uri="{FF2B5EF4-FFF2-40B4-BE49-F238E27FC236}">
                  <a16:creationId xmlns:a16="http://schemas.microsoft.com/office/drawing/2014/main" id="{DFB77DE1-AF86-440D-BA83-A44C2DE2389E}"/>
                </a:ext>
              </a:extLst>
            </p:cNvPr>
            <p:cNvSpPr>
              <a:spLocks noChangeArrowheads="1"/>
            </p:cNvSpPr>
            <p:nvPr/>
          </p:nvSpPr>
          <p:spPr bwMode="auto">
            <a:xfrm>
              <a:off x="3715" y="1021"/>
              <a:ext cx="83" cy="128"/>
            </a:xfrm>
            <a:custGeom>
              <a:avLst/>
              <a:gdLst>
                <a:gd name="T0" fmla="*/ 3 w 96"/>
                <a:gd name="T1" fmla="*/ 1 h 183"/>
                <a:gd name="T2" fmla="*/ 3 w 96"/>
                <a:gd name="T3" fmla="*/ 1 h 183"/>
                <a:gd name="T4" fmla="*/ 4 w 96"/>
                <a:gd name="T5" fmla="*/ 1 h 183"/>
                <a:gd name="T6" fmla="*/ 4 w 96"/>
                <a:gd name="T7" fmla="*/ 1 h 183"/>
                <a:gd name="T8" fmla="*/ 5 w 96"/>
                <a:gd name="T9" fmla="*/ 1 h 183"/>
                <a:gd name="T10" fmla="*/ 5 w 96"/>
                <a:gd name="T11" fmla="*/ 1 h 183"/>
                <a:gd name="T12" fmla="*/ 4 w 96"/>
                <a:gd name="T13" fmla="*/ 1 h 183"/>
                <a:gd name="T14" fmla="*/ 3 w 96"/>
                <a:gd name="T15" fmla="*/ 1 h 183"/>
                <a:gd name="T16" fmla="*/ 3 w 96"/>
                <a:gd name="T17" fmla="*/ 1 h 183"/>
                <a:gd name="T18" fmla="*/ 3 w 96"/>
                <a:gd name="T19" fmla="*/ 1 h 183"/>
                <a:gd name="T20" fmla="*/ 3 w 96"/>
                <a:gd name="T21" fmla="*/ 1 h 183"/>
                <a:gd name="T22" fmla="*/ 4 w 96"/>
                <a:gd name="T23" fmla="*/ 1 h 183"/>
                <a:gd name="T24" fmla="*/ 5 w 96"/>
                <a:gd name="T25" fmla="*/ 1 h 183"/>
                <a:gd name="T26" fmla="*/ 6 w 96"/>
                <a:gd name="T27" fmla="*/ 1 h 183"/>
                <a:gd name="T28" fmla="*/ 7 w 96"/>
                <a:gd name="T29" fmla="*/ 1 h 183"/>
                <a:gd name="T30" fmla="*/ 6 w 96"/>
                <a:gd name="T31" fmla="*/ 1 h 183"/>
                <a:gd name="T32" fmla="*/ 6 w 96"/>
                <a:gd name="T33" fmla="*/ 1 h 183"/>
                <a:gd name="T34" fmla="*/ 5 w 96"/>
                <a:gd name="T35" fmla="*/ 1 h 183"/>
                <a:gd name="T36" fmla="*/ 4 w 96"/>
                <a:gd name="T37" fmla="*/ 1 h 183"/>
                <a:gd name="T38" fmla="*/ 4 w 96"/>
                <a:gd name="T39" fmla="*/ 1 h 183"/>
                <a:gd name="T40" fmla="*/ 3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83"/>
                <a:gd name="T65" fmla="*/ 96 w 96"/>
                <a:gd name="T66" fmla="*/ 183 h 1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49" name="Freeform 47">
              <a:extLst>
                <a:ext uri="{FF2B5EF4-FFF2-40B4-BE49-F238E27FC236}">
                  <a16:creationId xmlns:a16="http://schemas.microsoft.com/office/drawing/2014/main" id="{388DB2B6-F934-4D54-9D5D-CF1F3B567748}"/>
                </a:ext>
              </a:extLst>
            </p:cNvPr>
            <p:cNvSpPr>
              <a:spLocks noChangeArrowheads="1"/>
            </p:cNvSpPr>
            <p:nvPr/>
          </p:nvSpPr>
          <p:spPr bwMode="auto">
            <a:xfrm>
              <a:off x="3771" y="1124"/>
              <a:ext cx="46" cy="122"/>
            </a:xfrm>
            <a:custGeom>
              <a:avLst/>
              <a:gdLst>
                <a:gd name="T0" fmla="*/ 3 w 54"/>
                <a:gd name="T1" fmla="*/ 0 h 175"/>
                <a:gd name="T2" fmla="*/ 0 w 54"/>
                <a:gd name="T3" fmla="*/ 1 h 175"/>
                <a:gd name="T4" fmla="*/ 3 w 54"/>
                <a:gd name="T5" fmla="*/ 1 h 175"/>
                <a:gd name="T6" fmla="*/ 3 w 54"/>
                <a:gd name="T7" fmla="*/ 1 h 175"/>
                <a:gd name="T8" fmla="*/ 3 w 54"/>
                <a:gd name="T9" fmla="*/ 1 h 175"/>
                <a:gd name="T10" fmla="*/ 3 w 54"/>
                <a:gd name="T11" fmla="*/ 1 h 175"/>
                <a:gd name="T12" fmla="*/ 3 w 54"/>
                <a:gd name="T13" fmla="*/ 1 h 175"/>
                <a:gd name="T14" fmla="*/ 3 w 54"/>
                <a:gd name="T15" fmla="*/ 1 h 175"/>
                <a:gd name="T16" fmla="*/ 3 w 54"/>
                <a:gd name="T17" fmla="*/ 1 h 175"/>
                <a:gd name="T18" fmla="*/ 3 w 54"/>
                <a:gd name="T19" fmla="*/ 1 h 175"/>
                <a:gd name="T20" fmla="*/ 3 w 54"/>
                <a:gd name="T21" fmla="*/ 1 h 175"/>
                <a:gd name="T22" fmla="*/ 3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
                <a:gd name="T37" fmla="*/ 0 h 175"/>
                <a:gd name="T38" fmla="*/ 54 w 54"/>
                <a:gd name="T39" fmla="*/ 175 h 1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0" name="Freeform 48">
              <a:extLst>
                <a:ext uri="{FF2B5EF4-FFF2-40B4-BE49-F238E27FC236}">
                  <a16:creationId xmlns:a16="http://schemas.microsoft.com/office/drawing/2014/main" id="{1BC20EB9-89A1-4962-8FC3-1D790263F95E}"/>
                </a:ext>
              </a:extLst>
            </p:cNvPr>
            <p:cNvSpPr>
              <a:spLocks noChangeArrowheads="1"/>
            </p:cNvSpPr>
            <p:nvPr/>
          </p:nvSpPr>
          <p:spPr bwMode="auto">
            <a:xfrm>
              <a:off x="3823" y="1252"/>
              <a:ext cx="75" cy="50"/>
            </a:xfrm>
            <a:custGeom>
              <a:avLst/>
              <a:gdLst>
                <a:gd name="T0" fmla="*/ 2 w 86"/>
                <a:gd name="T1" fmla="*/ 0 h 73"/>
                <a:gd name="T2" fmla="*/ 3 w 86"/>
                <a:gd name="T3" fmla="*/ 1 h 73"/>
                <a:gd name="T4" fmla="*/ 3 w 86"/>
                <a:gd name="T5" fmla="*/ 1 h 73"/>
                <a:gd name="T6" fmla="*/ 3 w 86"/>
                <a:gd name="T7" fmla="*/ 1 h 73"/>
                <a:gd name="T8" fmla="*/ 5 w 86"/>
                <a:gd name="T9" fmla="*/ 1 h 73"/>
                <a:gd name="T10" fmla="*/ 7 w 86"/>
                <a:gd name="T11" fmla="*/ 1 h 73"/>
                <a:gd name="T12" fmla="*/ 8 w 86"/>
                <a:gd name="T13" fmla="*/ 1 h 73"/>
                <a:gd name="T14" fmla="*/ 6 w 86"/>
                <a:gd name="T15" fmla="*/ 1 h 73"/>
                <a:gd name="T16" fmla="*/ 5 w 86"/>
                <a:gd name="T17" fmla="*/ 1 h 73"/>
                <a:gd name="T18" fmla="*/ 3 w 86"/>
                <a:gd name="T19" fmla="*/ 1 h 73"/>
                <a:gd name="T20" fmla="*/ 3 w 86"/>
                <a:gd name="T21" fmla="*/ 1 h 73"/>
                <a:gd name="T22" fmla="*/ 3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73"/>
                <a:gd name="T41" fmla="*/ 86 w 86"/>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1" name="Freeform 49">
              <a:extLst>
                <a:ext uri="{FF2B5EF4-FFF2-40B4-BE49-F238E27FC236}">
                  <a16:creationId xmlns:a16="http://schemas.microsoft.com/office/drawing/2014/main" id="{78D61A2A-2A94-43B4-85D4-E92DFB085E68}"/>
                </a:ext>
              </a:extLst>
            </p:cNvPr>
            <p:cNvSpPr>
              <a:spLocks noChangeArrowheads="1"/>
            </p:cNvSpPr>
            <p:nvPr/>
          </p:nvSpPr>
          <p:spPr bwMode="auto">
            <a:xfrm>
              <a:off x="3943" y="1163"/>
              <a:ext cx="95" cy="109"/>
            </a:xfrm>
            <a:custGeom>
              <a:avLst/>
              <a:gdLst>
                <a:gd name="T0" fmla="*/ 6 w 111"/>
                <a:gd name="T1" fmla="*/ 0 h 156"/>
                <a:gd name="T2" fmla="*/ 4 w 111"/>
                <a:gd name="T3" fmla="*/ 1 h 156"/>
                <a:gd name="T4" fmla="*/ 3 w 111"/>
                <a:gd name="T5" fmla="*/ 1 h 156"/>
                <a:gd name="T6" fmla="*/ 3 w 111"/>
                <a:gd name="T7" fmla="*/ 1 h 156"/>
                <a:gd name="T8" fmla="*/ 3 w 111"/>
                <a:gd name="T9" fmla="*/ 1 h 156"/>
                <a:gd name="T10" fmla="*/ 3 w 111"/>
                <a:gd name="T11" fmla="*/ 1 h 156"/>
                <a:gd name="T12" fmla="*/ 3 w 111"/>
                <a:gd name="T13" fmla="*/ 1 h 156"/>
                <a:gd name="T14" fmla="*/ 3 w 111"/>
                <a:gd name="T15" fmla="*/ 1 h 156"/>
                <a:gd name="T16" fmla="*/ 3 w 111"/>
                <a:gd name="T17" fmla="*/ 1 h 156"/>
                <a:gd name="T18" fmla="*/ 3 w 111"/>
                <a:gd name="T19" fmla="*/ 1 h 156"/>
                <a:gd name="T20" fmla="*/ 3 w 111"/>
                <a:gd name="T21" fmla="*/ 1 h 156"/>
                <a:gd name="T22" fmla="*/ 3 w 111"/>
                <a:gd name="T23" fmla="*/ 1 h 156"/>
                <a:gd name="T24" fmla="*/ 3 w 111"/>
                <a:gd name="T25" fmla="*/ 1 h 156"/>
                <a:gd name="T26" fmla="*/ 3 w 111"/>
                <a:gd name="T27" fmla="*/ 1 h 156"/>
                <a:gd name="T28" fmla="*/ 4 w 111"/>
                <a:gd name="T29" fmla="*/ 1 h 156"/>
                <a:gd name="T30" fmla="*/ 3 w 111"/>
                <a:gd name="T31" fmla="*/ 1 h 156"/>
                <a:gd name="T32" fmla="*/ 4 w 111"/>
                <a:gd name="T33" fmla="*/ 1 h 156"/>
                <a:gd name="T34" fmla="*/ 4 w 111"/>
                <a:gd name="T35" fmla="*/ 1 h 156"/>
                <a:gd name="T36" fmla="*/ 3 w 111"/>
                <a:gd name="T37" fmla="*/ 1 h 156"/>
                <a:gd name="T38" fmla="*/ 3 w 111"/>
                <a:gd name="T39" fmla="*/ 1 h 156"/>
                <a:gd name="T40" fmla="*/ 3 w 111"/>
                <a:gd name="T41" fmla="*/ 1 h 156"/>
                <a:gd name="T42" fmla="*/ 3 w 111"/>
                <a:gd name="T43" fmla="*/ 1 h 156"/>
                <a:gd name="T44" fmla="*/ 5 w 111"/>
                <a:gd name="T45" fmla="*/ 1 h 156"/>
                <a:gd name="T46" fmla="*/ 6 w 111"/>
                <a:gd name="T47" fmla="*/ 1 h 156"/>
                <a:gd name="T48" fmla="*/ 7 w 111"/>
                <a:gd name="T49" fmla="*/ 1 h 156"/>
                <a:gd name="T50" fmla="*/ 6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1"/>
                <a:gd name="T79" fmla="*/ 0 h 156"/>
                <a:gd name="T80" fmla="*/ 111 w 111"/>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2" name="Freeform 50">
              <a:extLst>
                <a:ext uri="{FF2B5EF4-FFF2-40B4-BE49-F238E27FC236}">
                  <a16:creationId xmlns:a16="http://schemas.microsoft.com/office/drawing/2014/main" id="{12F0B00F-29F5-432E-9682-CF1F3FBD4F3E}"/>
                </a:ext>
              </a:extLst>
            </p:cNvPr>
            <p:cNvSpPr>
              <a:spLocks noChangeArrowheads="1"/>
            </p:cNvSpPr>
            <p:nvPr/>
          </p:nvSpPr>
          <p:spPr bwMode="auto">
            <a:xfrm>
              <a:off x="3911" y="772"/>
              <a:ext cx="25" cy="67"/>
            </a:xfrm>
            <a:custGeom>
              <a:avLst/>
              <a:gdLst>
                <a:gd name="T0" fmla="*/ 3 w 30"/>
                <a:gd name="T1" fmla="*/ 0 h 94"/>
                <a:gd name="T2" fmla="*/ 0 w 30"/>
                <a:gd name="T3" fmla="*/ 1 h 94"/>
                <a:gd name="T4" fmla="*/ 3 w 30"/>
                <a:gd name="T5" fmla="*/ 1 h 94"/>
                <a:gd name="T6" fmla="*/ 1 w 30"/>
                <a:gd name="T7" fmla="*/ 1 h 94"/>
                <a:gd name="T8" fmla="*/ 3 w 30"/>
                <a:gd name="T9" fmla="*/ 1 h 94"/>
                <a:gd name="T10" fmla="*/ 3 w 30"/>
                <a:gd name="T11" fmla="*/ 1 h 94"/>
                <a:gd name="T12" fmla="*/ 3 w 30"/>
                <a:gd name="T13" fmla="*/ 1 h 94"/>
                <a:gd name="T14" fmla="*/ 3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 name="T24" fmla="*/ 0 w 30"/>
                <a:gd name="T25" fmla="*/ 0 h 94"/>
                <a:gd name="T26" fmla="*/ 30 w 30"/>
                <a:gd name="T27" fmla="*/ 94 h 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3" name="Freeform 51">
              <a:extLst>
                <a:ext uri="{FF2B5EF4-FFF2-40B4-BE49-F238E27FC236}">
                  <a16:creationId xmlns:a16="http://schemas.microsoft.com/office/drawing/2014/main" id="{B4FDE6BA-2B23-4D6C-A980-C32179D0AA51}"/>
                </a:ext>
              </a:extLst>
            </p:cNvPr>
            <p:cNvSpPr>
              <a:spLocks noChangeArrowheads="1"/>
            </p:cNvSpPr>
            <p:nvPr/>
          </p:nvSpPr>
          <p:spPr bwMode="auto">
            <a:xfrm>
              <a:off x="3927" y="883"/>
              <a:ext cx="70" cy="111"/>
            </a:xfrm>
            <a:custGeom>
              <a:avLst/>
              <a:gdLst>
                <a:gd name="T0" fmla="*/ 3 w 81"/>
                <a:gd name="T1" fmla="*/ 1 h 158"/>
                <a:gd name="T2" fmla="*/ 0 w 81"/>
                <a:gd name="T3" fmla="*/ 1 h 158"/>
                <a:gd name="T4" fmla="*/ 3 w 81"/>
                <a:gd name="T5" fmla="*/ 1 h 158"/>
                <a:gd name="T6" fmla="*/ 3 w 81"/>
                <a:gd name="T7" fmla="*/ 1 h 158"/>
                <a:gd name="T8" fmla="*/ 3 w 81"/>
                <a:gd name="T9" fmla="*/ 1 h 158"/>
                <a:gd name="T10" fmla="*/ 3 w 81"/>
                <a:gd name="T11" fmla="*/ 1 h 158"/>
                <a:gd name="T12" fmla="*/ 3 w 81"/>
                <a:gd name="T13" fmla="*/ 1 h 158"/>
                <a:gd name="T14" fmla="*/ 3 w 81"/>
                <a:gd name="T15" fmla="*/ 1 h 158"/>
                <a:gd name="T16" fmla="*/ 3 w 81"/>
                <a:gd name="T17" fmla="*/ 1 h 158"/>
                <a:gd name="T18" fmla="*/ 4 w 81"/>
                <a:gd name="T19" fmla="*/ 1 h 158"/>
                <a:gd name="T20" fmla="*/ 4 w 81"/>
                <a:gd name="T21" fmla="*/ 1 h 158"/>
                <a:gd name="T22" fmla="*/ 3 w 81"/>
                <a:gd name="T23" fmla="*/ 1 h 158"/>
                <a:gd name="T24" fmla="*/ 3 w 81"/>
                <a:gd name="T25" fmla="*/ 1 h 158"/>
                <a:gd name="T26" fmla="*/ 3 w 81"/>
                <a:gd name="T27" fmla="*/ 1 h 158"/>
                <a:gd name="T28" fmla="*/ 3 w 81"/>
                <a:gd name="T29" fmla="*/ 1 h 158"/>
                <a:gd name="T30" fmla="*/ 3 w 81"/>
                <a:gd name="T31" fmla="*/ 1 h 158"/>
                <a:gd name="T32" fmla="*/ 3 w 81"/>
                <a:gd name="T33" fmla="*/ 1 h 158"/>
                <a:gd name="T34" fmla="*/ 3 w 81"/>
                <a:gd name="T35" fmla="*/ 1 h 158"/>
                <a:gd name="T36" fmla="*/ 3 w 81"/>
                <a:gd name="T37" fmla="*/ 1 h 158"/>
                <a:gd name="T38" fmla="*/ 3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1"/>
                <a:gd name="T61" fmla="*/ 0 h 158"/>
                <a:gd name="T62" fmla="*/ 81 w 81"/>
                <a:gd name="T63" fmla="*/ 158 h 15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4" name="Freeform 52">
              <a:extLst>
                <a:ext uri="{FF2B5EF4-FFF2-40B4-BE49-F238E27FC236}">
                  <a16:creationId xmlns:a16="http://schemas.microsoft.com/office/drawing/2014/main" id="{5BD070F9-1106-4B35-A7EB-B433FA4CFF94}"/>
                </a:ext>
              </a:extLst>
            </p:cNvPr>
            <p:cNvSpPr>
              <a:spLocks noChangeArrowheads="1"/>
            </p:cNvSpPr>
            <p:nvPr/>
          </p:nvSpPr>
          <p:spPr bwMode="auto">
            <a:xfrm>
              <a:off x="3976" y="1029"/>
              <a:ext cx="74" cy="74"/>
            </a:xfrm>
            <a:custGeom>
              <a:avLst/>
              <a:gdLst>
                <a:gd name="T0" fmla="*/ 4 w 85"/>
                <a:gd name="T1" fmla="*/ 0 h 105"/>
                <a:gd name="T2" fmla="*/ 3 w 85"/>
                <a:gd name="T3" fmla="*/ 1 h 105"/>
                <a:gd name="T4" fmla="*/ 3 w 85"/>
                <a:gd name="T5" fmla="*/ 1 h 105"/>
                <a:gd name="T6" fmla="*/ 3 w 85"/>
                <a:gd name="T7" fmla="*/ 1 h 105"/>
                <a:gd name="T8" fmla="*/ 3 w 85"/>
                <a:gd name="T9" fmla="*/ 1 h 105"/>
                <a:gd name="T10" fmla="*/ 3 w 85"/>
                <a:gd name="T11" fmla="*/ 1 h 105"/>
                <a:gd name="T12" fmla="*/ 3 w 85"/>
                <a:gd name="T13" fmla="*/ 1 h 105"/>
                <a:gd name="T14" fmla="*/ 3 w 85"/>
                <a:gd name="T15" fmla="*/ 1 h 105"/>
                <a:gd name="T16" fmla="*/ 3 w 85"/>
                <a:gd name="T17" fmla="*/ 1 h 105"/>
                <a:gd name="T18" fmla="*/ 5 w 85"/>
                <a:gd name="T19" fmla="*/ 1 h 105"/>
                <a:gd name="T20" fmla="*/ 6 w 85"/>
                <a:gd name="T21" fmla="*/ 1 h 105"/>
                <a:gd name="T22" fmla="*/ 7 w 85"/>
                <a:gd name="T23" fmla="*/ 1 h 105"/>
                <a:gd name="T24" fmla="*/ 6 w 85"/>
                <a:gd name="T25" fmla="*/ 1 h 105"/>
                <a:gd name="T26" fmla="*/ 4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5"/>
                <a:gd name="T43" fmla="*/ 0 h 105"/>
                <a:gd name="T44" fmla="*/ 85 w 85"/>
                <a:gd name="T45" fmla="*/ 105 h 10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5" name="Freeform 53">
              <a:extLst>
                <a:ext uri="{FF2B5EF4-FFF2-40B4-BE49-F238E27FC236}">
                  <a16:creationId xmlns:a16="http://schemas.microsoft.com/office/drawing/2014/main" id="{9F29E627-0A7C-4F39-98B9-501985141BF6}"/>
                </a:ext>
              </a:extLst>
            </p:cNvPr>
            <p:cNvSpPr>
              <a:spLocks noChangeArrowheads="1"/>
            </p:cNvSpPr>
            <p:nvPr/>
          </p:nvSpPr>
          <p:spPr bwMode="auto">
            <a:xfrm>
              <a:off x="4064" y="1161"/>
              <a:ext cx="33" cy="46"/>
            </a:xfrm>
            <a:custGeom>
              <a:avLst/>
              <a:gdLst>
                <a:gd name="T0" fmla="*/ 3 w 38"/>
                <a:gd name="T1" fmla="*/ 1 h 66"/>
                <a:gd name="T2" fmla="*/ 3 w 38"/>
                <a:gd name="T3" fmla="*/ 1 h 66"/>
                <a:gd name="T4" fmla="*/ 3 w 38"/>
                <a:gd name="T5" fmla="*/ 1 h 66"/>
                <a:gd name="T6" fmla="*/ 3 w 38"/>
                <a:gd name="T7" fmla="*/ 1 h 66"/>
                <a:gd name="T8" fmla="*/ 3 w 38"/>
                <a:gd name="T9" fmla="*/ 1 h 66"/>
                <a:gd name="T10" fmla="*/ 3 w 38"/>
                <a:gd name="T11" fmla="*/ 1 h 66"/>
                <a:gd name="T12" fmla="*/ 3 w 38"/>
                <a:gd name="T13" fmla="*/ 1 h 66"/>
                <a:gd name="T14" fmla="*/ 2 w 38"/>
                <a:gd name="T15" fmla="*/ 1 h 66"/>
                <a:gd name="T16" fmla="*/ 3 w 38"/>
                <a:gd name="T17" fmla="*/ 1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66"/>
                <a:gd name="T29" fmla="*/ 38 w 38"/>
                <a:gd name="T30" fmla="*/ 66 h 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6" name="Freeform 54">
              <a:extLst>
                <a:ext uri="{FF2B5EF4-FFF2-40B4-BE49-F238E27FC236}">
                  <a16:creationId xmlns:a16="http://schemas.microsoft.com/office/drawing/2014/main" id="{9893B171-64A6-4C30-ADD1-3EDC5CA199FE}"/>
                </a:ext>
              </a:extLst>
            </p:cNvPr>
            <p:cNvSpPr>
              <a:spLocks noChangeArrowheads="1"/>
            </p:cNvSpPr>
            <p:nvPr/>
          </p:nvSpPr>
          <p:spPr bwMode="auto">
            <a:xfrm>
              <a:off x="4045" y="1238"/>
              <a:ext cx="21" cy="16"/>
            </a:xfrm>
            <a:custGeom>
              <a:avLst/>
              <a:gdLst>
                <a:gd name="T0" fmla="*/ 0 w 24"/>
                <a:gd name="T1" fmla="*/ 0 h 23"/>
                <a:gd name="T2" fmla="*/ 4 w 24"/>
                <a:gd name="T3" fmla="*/ 1 h 23"/>
                <a:gd name="T4" fmla="*/ 4 w 24"/>
                <a:gd name="T5" fmla="*/ 1 h 23"/>
                <a:gd name="T6" fmla="*/ 0 w 24"/>
                <a:gd name="T7" fmla="*/ 0 h 23"/>
                <a:gd name="T8" fmla="*/ 0 60000 65536"/>
                <a:gd name="T9" fmla="*/ 0 60000 65536"/>
                <a:gd name="T10" fmla="*/ 0 60000 65536"/>
                <a:gd name="T11" fmla="*/ 0 60000 65536"/>
                <a:gd name="T12" fmla="*/ 0 w 24"/>
                <a:gd name="T13" fmla="*/ 0 h 23"/>
                <a:gd name="T14" fmla="*/ 24 w 24"/>
                <a:gd name="T15" fmla="*/ 23 h 23"/>
              </a:gdLst>
              <a:ahLst/>
              <a:cxnLst>
                <a:cxn ang="T8">
                  <a:pos x="T0" y="T1"/>
                </a:cxn>
                <a:cxn ang="T9">
                  <a:pos x="T2" y="T3"/>
                </a:cxn>
                <a:cxn ang="T10">
                  <a:pos x="T4" y="T5"/>
                </a:cxn>
                <a:cxn ang="T11">
                  <a:pos x="T6" y="T7"/>
                </a:cxn>
              </a:cxnLst>
              <a:rect l="T12" t="T13" r="T14" b="T15"/>
              <a:pathLst>
                <a:path w="24" h="23">
                  <a:moveTo>
                    <a:pt x="0" y="0"/>
                  </a:moveTo>
                  <a:cubicBezTo>
                    <a:pt x="1" y="8"/>
                    <a:pt x="3" y="16"/>
                    <a:pt x="6" y="23"/>
                  </a:cubicBezTo>
                  <a:cubicBezTo>
                    <a:pt x="19" y="20"/>
                    <a:pt x="19" y="22"/>
                    <a:pt x="24" y="11"/>
                  </a:cubicBezTo>
                  <a:cubicBezTo>
                    <a:pt x="20" y="0"/>
                    <a:pt x="4" y="8"/>
                    <a:pt x="0"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7" name="Freeform 55">
              <a:extLst>
                <a:ext uri="{FF2B5EF4-FFF2-40B4-BE49-F238E27FC236}">
                  <a16:creationId xmlns:a16="http://schemas.microsoft.com/office/drawing/2014/main" id="{0FD7085E-D1AF-4C6F-9D84-1C1C698E228B}"/>
                </a:ext>
              </a:extLst>
            </p:cNvPr>
            <p:cNvSpPr>
              <a:spLocks noChangeArrowheads="1"/>
            </p:cNvSpPr>
            <p:nvPr/>
          </p:nvSpPr>
          <p:spPr bwMode="auto">
            <a:xfrm>
              <a:off x="4076" y="1228"/>
              <a:ext cx="52" cy="35"/>
            </a:xfrm>
            <a:custGeom>
              <a:avLst/>
              <a:gdLst>
                <a:gd name="T0" fmla="*/ 3 w 60"/>
                <a:gd name="T1" fmla="*/ 0 h 49"/>
                <a:gd name="T2" fmla="*/ 0 w 60"/>
                <a:gd name="T3" fmla="*/ 1 h 49"/>
                <a:gd name="T4" fmla="*/ 3 w 60"/>
                <a:gd name="T5" fmla="*/ 1 h 49"/>
                <a:gd name="T6" fmla="*/ 3 w 60"/>
                <a:gd name="T7" fmla="*/ 1 h 49"/>
                <a:gd name="T8" fmla="*/ 4 w 60"/>
                <a:gd name="T9" fmla="*/ 1 h 49"/>
                <a:gd name="T10" fmla="*/ 3 w 60"/>
                <a:gd name="T11" fmla="*/ 1 h 49"/>
                <a:gd name="T12" fmla="*/ 3 w 60"/>
                <a:gd name="T13" fmla="*/ 1 h 49"/>
                <a:gd name="T14" fmla="*/ 3 w 60"/>
                <a:gd name="T15" fmla="*/ 1 h 49"/>
                <a:gd name="T16" fmla="*/ 3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0"/>
                <a:gd name="T28" fmla="*/ 0 h 49"/>
                <a:gd name="T29" fmla="*/ 60 w 60"/>
                <a:gd name="T30" fmla="*/ 49 h 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8" name="Freeform 56">
              <a:extLst>
                <a:ext uri="{FF2B5EF4-FFF2-40B4-BE49-F238E27FC236}">
                  <a16:creationId xmlns:a16="http://schemas.microsoft.com/office/drawing/2014/main" id="{AFB2A6F2-4E21-4778-8F20-9A42F6F1B77F}"/>
                </a:ext>
              </a:extLst>
            </p:cNvPr>
            <p:cNvSpPr>
              <a:spLocks noChangeArrowheads="1"/>
            </p:cNvSpPr>
            <p:nvPr/>
          </p:nvSpPr>
          <p:spPr bwMode="auto">
            <a:xfrm>
              <a:off x="4156" y="1294"/>
              <a:ext cx="27" cy="31"/>
            </a:xfrm>
            <a:custGeom>
              <a:avLst/>
              <a:gdLst>
                <a:gd name="T0" fmla="*/ 3 w 32"/>
                <a:gd name="T1" fmla="*/ 0 h 44"/>
                <a:gd name="T2" fmla="*/ 3 w 32"/>
                <a:gd name="T3" fmla="*/ 1 h 44"/>
                <a:gd name="T4" fmla="*/ 3 w 32"/>
                <a:gd name="T5" fmla="*/ 1 h 44"/>
                <a:gd name="T6" fmla="*/ 3 w 32"/>
                <a:gd name="T7" fmla="*/ 1 h 44"/>
                <a:gd name="T8" fmla="*/ 3 w 32"/>
                <a:gd name="T9" fmla="*/ 0 h 44"/>
                <a:gd name="T10" fmla="*/ 0 60000 65536"/>
                <a:gd name="T11" fmla="*/ 0 60000 65536"/>
                <a:gd name="T12" fmla="*/ 0 60000 65536"/>
                <a:gd name="T13" fmla="*/ 0 60000 65536"/>
                <a:gd name="T14" fmla="*/ 0 60000 65536"/>
                <a:gd name="T15" fmla="*/ 0 w 32"/>
                <a:gd name="T16" fmla="*/ 0 h 44"/>
                <a:gd name="T17" fmla="*/ 32 w 32"/>
                <a:gd name="T18" fmla="*/ 44 h 44"/>
              </a:gdLst>
              <a:ahLst/>
              <a:cxnLst>
                <a:cxn ang="T10">
                  <a:pos x="T0" y="T1"/>
                </a:cxn>
                <a:cxn ang="T11">
                  <a:pos x="T2" y="T3"/>
                </a:cxn>
                <a:cxn ang="T12">
                  <a:pos x="T4" y="T5"/>
                </a:cxn>
                <a:cxn ang="T13">
                  <a:pos x="T6" y="T7"/>
                </a:cxn>
                <a:cxn ang="T14">
                  <a:pos x="T8" y="T9"/>
                </a:cxn>
              </a:cxnLst>
              <a:rect l="T15" t="T16" r="T17" b="T18"/>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59" name="Freeform 57">
              <a:extLst>
                <a:ext uri="{FF2B5EF4-FFF2-40B4-BE49-F238E27FC236}">
                  <a16:creationId xmlns:a16="http://schemas.microsoft.com/office/drawing/2014/main" id="{BE053FE3-062A-4EF7-B5D5-C30417E650C7}"/>
                </a:ext>
              </a:extLst>
            </p:cNvPr>
            <p:cNvSpPr>
              <a:spLocks noChangeArrowheads="1"/>
            </p:cNvSpPr>
            <p:nvPr/>
          </p:nvSpPr>
          <p:spPr bwMode="auto">
            <a:xfrm>
              <a:off x="4463" y="1255"/>
              <a:ext cx="53" cy="44"/>
            </a:xfrm>
            <a:custGeom>
              <a:avLst/>
              <a:gdLst>
                <a:gd name="T0" fmla="*/ 3 w 61"/>
                <a:gd name="T1" fmla="*/ 0 h 63"/>
                <a:gd name="T2" fmla="*/ 0 w 61"/>
                <a:gd name="T3" fmla="*/ 1 h 63"/>
                <a:gd name="T4" fmla="*/ 3 w 61"/>
                <a:gd name="T5" fmla="*/ 1 h 63"/>
                <a:gd name="T6" fmla="*/ 3 w 61"/>
                <a:gd name="T7" fmla="*/ 1 h 63"/>
                <a:gd name="T8" fmla="*/ 3 w 61"/>
                <a:gd name="T9" fmla="*/ 1 h 63"/>
                <a:gd name="T10" fmla="*/ 5 w 61"/>
                <a:gd name="T11" fmla="*/ 1 h 63"/>
                <a:gd name="T12" fmla="*/ 3 w 61"/>
                <a:gd name="T13" fmla="*/ 1 h 63"/>
                <a:gd name="T14" fmla="*/ 3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 name="T24" fmla="*/ 0 w 61"/>
                <a:gd name="T25" fmla="*/ 0 h 63"/>
                <a:gd name="T26" fmla="*/ 61 w 61"/>
                <a:gd name="T27" fmla="*/ 63 h 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0" name="Freeform 58">
              <a:extLst>
                <a:ext uri="{FF2B5EF4-FFF2-40B4-BE49-F238E27FC236}">
                  <a16:creationId xmlns:a16="http://schemas.microsoft.com/office/drawing/2014/main" id="{936A9FCA-03AA-485F-AA26-CC1752486982}"/>
                </a:ext>
              </a:extLst>
            </p:cNvPr>
            <p:cNvSpPr>
              <a:spLocks noChangeArrowheads="1"/>
            </p:cNvSpPr>
            <p:nvPr/>
          </p:nvSpPr>
          <p:spPr bwMode="auto">
            <a:xfrm>
              <a:off x="4006" y="1310"/>
              <a:ext cx="53" cy="47"/>
            </a:xfrm>
            <a:custGeom>
              <a:avLst/>
              <a:gdLst>
                <a:gd name="T0" fmla="*/ 3 w 61"/>
                <a:gd name="T1" fmla="*/ 1 h 67"/>
                <a:gd name="T2" fmla="*/ 3 w 61"/>
                <a:gd name="T3" fmla="*/ 1 h 67"/>
                <a:gd name="T4" fmla="*/ 3 w 61"/>
                <a:gd name="T5" fmla="*/ 1 h 67"/>
                <a:gd name="T6" fmla="*/ 3 w 61"/>
                <a:gd name="T7" fmla="*/ 1 h 67"/>
                <a:gd name="T8" fmla="*/ 3 w 61"/>
                <a:gd name="T9" fmla="*/ 1 h 67"/>
                <a:gd name="T10" fmla="*/ 5 w 61"/>
                <a:gd name="T11" fmla="*/ 1 h 67"/>
                <a:gd name="T12" fmla="*/ 4 w 61"/>
                <a:gd name="T13" fmla="*/ 1 h 67"/>
                <a:gd name="T14" fmla="*/ 4 w 61"/>
                <a:gd name="T15" fmla="*/ 1 h 67"/>
                <a:gd name="T16" fmla="*/ 4 w 61"/>
                <a:gd name="T17" fmla="*/ 1 h 67"/>
                <a:gd name="T18" fmla="*/ 3 w 61"/>
                <a:gd name="T19" fmla="*/ 1 h 67"/>
                <a:gd name="T20" fmla="*/ 4 w 61"/>
                <a:gd name="T21" fmla="*/ 1 h 67"/>
                <a:gd name="T22" fmla="*/ 3 w 61"/>
                <a:gd name="T23" fmla="*/ 1 h 67"/>
                <a:gd name="T24" fmla="*/ 3 w 61"/>
                <a:gd name="T25" fmla="*/ 1 h 67"/>
                <a:gd name="T26" fmla="*/ 3 w 61"/>
                <a:gd name="T27" fmla="*/ 1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
                <a:gd name="T43" fmla="*/ 0 h 67"/>
                <a:gd name="T44" fmla="*/ 61 w 61"/>
                <a:gd name="T45" fmla="*/ 67 h 6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1" name="Freeform 59">
              <a:extLst>
                <a:ext uri="{FF2B5EF4-FFF2-40B4-BE49-F238E27FC236}">
                  <a16:creationId xmlns:a16="http://schemas.microsoft.com/office/drawing/2014/main" id="{58AC5FA6-2302-4EE9-8291-864E0C3DA2D3}"/>
                </a:ext>
              </a:extLst>
            </p:cNvPr>
            <p:cNvSpPr>
              <a:spLocks noChangeArrowheads="1"/>
            </p:cNvSpPr>
            <p:nvPr/>
          </p:nvSpPr>
          <p:spPr bwMode="auto">
            <a:xfrm>
              <a:off x="3950" y="1328"/>
              <a:ext cx="37" cy="25"/>
            </a:xfrm>
            <a:custGeom>
              <a:avLst/>
              <a:gdLst>
                <a:gd name="T0" fmla="*/ 3 w 43"/>
                <a:gd name="T1" fmla="*/ 1 h 36"/>
                <a:gd name="T2" fmla="*/ 3 w 43"/>
                <a:gd name="T3" fmla="*/ 1 h 36"/>
                <a:gd name="T4" fmla="*/ 3 w 43"/>
                <a:gd name="T5" fmla="*/ 1 h 36"/>
                <a:gd name="T6" fmla="*/ 3 w 43"/>
                <a:gd name="T7" fmla="*/ 1 h 36"/>
                <a:gd name="T8" fmla="*/ 3 w 43"/>
                <a:gd name="T9" fmla="*/ 1 h 36"/>
                <a:gd name="T10" fmla="*/ 0 60000 65536"/>
                <a:gd name="T11" fmla="*/ 0 60000 65536"/>
                <a:gd name="T12" fmla="*/ 0 60000 65536"/>
                <a:gd name="T13" fmla="*/ 0 60000 65536"/>
                <a:gd name="T14" fmla="*/ 0 60000 65536"/>
                <a:gd name="T15" fmla="*/ 0 w 43"/>
                <a:gd name="T16" fmla="*/ 0 h 36"/>
                <a:gd name="T17" fmla="*/ 43 w 43"/>
                <a:gd name="T18" fmla="*/ 36 h 36"/>
              </a:gdLst>
              <a:ahLst/>
              <a:cxnLst>
                <a:cxn ang="T10">
                  <a:pos x="T0" y="T1"/>
                </a:cxn>
                <a:cxn ang="T11">
                  <a:pos x="T2" y="T3"/>
                </a:cxn>
                <a:cxn ang="T12">
                  <a:pos x="T4" y="T5"/>
                </a:cxn>
                <a:cxn ang="T13">
                  <a:pos x="T6" y="T7"/>
                </a:cxn>
                <a:cxn ang="T14">
                  <a:pos x="T8" y="T9"/>
                </a:cxn>
              </a:cxnLst>
              <a:rect l="T15" t="T16" r="T17" b="T18"/>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2" name="Freeform 60">
              <a:extLst>
                <a:ext uri="{FF2B5EF4-FFF2-40B4-BE49-F238E27FC236}">
                  <a16:creationId xmlns:a16="http://schemas.microsoft.com/office/drawing/2014/main" id="{FF52F60F-9857-4334-9AF6-A2FD96368648}"/>
                </a:ext>
              </a:extLst>
            </p:cNvPr>
            <p:cNvSpPr>
              <a:spLocks noChangeArrowheads="1"/>
            </p:cNvSpPr>
            <p:nvPr/>
          </p:nvSpPr>
          <p:spPr bwMode="auto">
            <a:xfrm>
              <a:off x="3926" y="1300"/>
              <a:ext cx="27" cy="29"/>
            </a:xfrm>
            <a:custGeom>
              <a:avLst/>
              <a:gdLst>
                <a:gd name="T0" fmla="*/ 3 w 32"/>
                <a:gd name="T1" fmla="*/ 0 h 41"/>
                <a:gd name="T2" fmla="*/ 0 w 32"/>
                <a:gd name="T3" fmla="*/ 1 h 41"/>
                <a:gd name="T4" fmla="*/ 3 w 32"/>
                <a:gd name="T5" fmla="*/ 1 h 41"/>
                <a:gd name="T6" fmla="*/ 3 w 32"/>
                <a:gd name="T7" fmla="*/ 1 h 41"/>
                <a:gd name="T8" fmla="*/ 3 w 32"/>
                <a:gd name="T9" fmla="*/ 1 h 41"/>
                <a:gd name="T10" fmla="*/ 3 w 32"/>
                <a:gd name="T11" fmla="*/ 1 h 41"/>
                <a:gd name="T12" fmla="*/ 3 w 32"/>
                <a:gd name="T13" fmla="*/ 1 h 41"/>
                <a:gd name="T14" fmla="*/ 3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41"/>
                <a:gd name="T26" fmla="*/ 32 w 32"/>
                <a:gd name="T27" fmla="*/ 41 h 4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3" name="Freeform 61">
              <a:extLst>
                <a:ext uri="{FF2B5EF4-FFF2-40B4-BE49-F238E27FC236}">
                  <a16:creationId xmlns:a16="http://schemas.microsoft.com/office/drawing/2014/main" id="{80137DBF-34C3-4B51-9175-81117FA682BD}"/>
                </a:ext>
              </a:extLst>
            </p:cNvPr>
            <p:cNvSpPr>
              <a:spLocks noChangeArrowheads="1"/>
            </p:cNvSpPr>
            <p:nvPr/>
          </p:nvSpPr>
          <p:spPr bwMode="auto">
            <a:xfrm>
              <a:off x="3965" y="1311"/>
              <a:ext cx="39" cy="22"/>
            </a:xfrm>
            <a:custGeom>
              <a:avLst/>
              <a:gdLst>
                <a:gd name="T0" fmla="*/ 3 w 45"/>
                <a:gd name="T1" fmla="*/ 0 h 32"/>
                <a:gd name="T2" fmla="*/ 0 w 45"/>
                <a:gd name="T3" fmla="*/ 1 h 32"/>
                <a:gd name="T4" fmla="*/ 3 w 45"/>
                <a:gd name="T5" fmla="*/ 1 h 32"/>
                <a:gd name="T6" fmla="*/ 3 w 45"/>
                <a:gd name="T7" fmla="*/ 1 h 32"/>
                <a:gd name="T8" fmla="*/ 3 w 45"/>
                <a:gd name="T9" fmla="*/ 1 h 32"/>
                <a:gd name="T10" fmla="*/ 3 w 45"/>
                <a:gd name="T11" fmla="*/ 0 h 32"/>
                <a:gd name="T12" fmla="*/ 0 60000 65536"/>
                <a:gd name="T13" fmla="*/ 0 60000 65536"/>
                <a:gd name="T14" fmla="*/ 0 60000 65536"/>
                <a:gd name="T15" fmla="*/ 0 60000 65536"/>
                <a:gd name="T16" fmla="*/ 0 60000 65536"/>
                <a:gd name="T17" fmla="*/ 0 60000 65536"/>
                <a:gd name="T18" fmla="*/ 0 w 45"/>
                <a:gd name="T19" fmla="*/ 0 h 32"/>
                <a:gd name="T20" fmla="*/ 45 w 45"/>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4" name="Freeform 62">
              <a:extLst>
                <a:ext uri="{FF2B5EF4-FFF2-40B4-BE49-F238E27FC236}">
                  <a16:creationId xmlns:a16="http://schemas.microsoft.com/office/drawing/2014/main" id="{58EC4B1F-2D51-474D-843D-617E590AAE86}"/>
                </a:ext>
              </a:extLst>
            </p:cNvPr>
            <p:cNvSpPr>
              <a:spLocks noChangeArrowheads="1"/>
            </p:cNvSpPr>
            <p:nvPr/>
          </p:nvSpPr>
          <p:spPr bwMode="auto">
            <a:xfrm>
              <a:off x="3908" y="1000"/>
              <a:ext cx="31" cy="52"/>
            </a:xfrm>
            <a:custGeom>
              <a:avLst/>
              <a:gdLst>
                <a:gd name="T0" fmla="*/ 4 w 35"/>
                <a:gd name="T1" fmla="*/ 0 h 74"/>
                <a:gd name="T2" fmla="*/ 4 w 35"/>
                <a:gd name="T3" fmla="*/ 1 h 74"/>
                <a:gd name="T4" fmla="*/ 4 w 35"/>
                <a:gd name="T5" fmla="*/ 1 h 74"/>
                <a:gd name="T6" fmla="*/ 0 w 35"/>
                <a:gd name="T7" fmla="*/ 1 h 74"/>
                <a:gd name="T8" fmla="*/ 4 w 35"/>
                <a:gd name="T9" fmla="*/ 1 h 74"/>
                <a:gd name="T10" fmla="*/ 4 w 35"/>
                <a:gd name="T11" fmla="*/ 1 h 74"/>
                <a:gd name="T12" fmla="*/ 4 w 35"/>
                <a:gd name="T13" fmla="*/ 1 h 74"/>
                <a:gd name="T14" fmla="*/ 4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 name="T24" fmla="*/ 0 w 35"/>
                <a:gd name="T25" fmla="*/ 0 h 74"/>
                <a:gd name="T26" fmla="*/ 35 w 35"/>
                <a:gd name="T27" fmla="*/ 74 h 7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5" name="Freeform 63">
              <a:extLst>
                <a:ext uri="{FF2B5EF4-FFF2-40B4-BE49-F238E27FC236}">
                  <a16:creationId xmlns:a16="http://schemas.microsoft.com/office/drawing/2014/main" id="{8F046F2C-5525-4104-BDCF-28232D18853E}"/>
                </a:ext>
              </a:extLst>
            </p:cNvPr>
            <p:cNvSpPr>
              <a:spLocks noChangeArrowheads="1"/>
            </p:cNvSpPr>
            <p:nvPr/>
          </p:nvSpPr>
          <p:spPr bwMode="auto">
            <a:xfrm>
              <a:off x="3967" y="992"/>
              <a:ext cx="22" cy="51"/>
            </a:xfrm>
            <a:custGeom>
              <a:avLst/>
              <a:gdLst>
                <a:gd name="T0" fmla="*/ 4 w 25"/>
                <a:gd name="T1" fmla="*/ 1 h 73"/>
                <a:gd name="T2" fmla="*/ 4 w 25"/>
                <a:gd name="T3" fmla="*/ 1 h 73"/>
                <a:gd name="T4" fmla="*/ 0 w 25"/>
                <a:gd name="T5" fmla="*/ 1 h 73"/>
                <a:gd name="T6" fmla="*/ 4 w 25"/>
                <a:gd name="T7" fmla="*/ 1 h 73"/>
                <a:gd name="T8" fmla="*/ 4 w 25"/>
                <a:gd name="T9" fmla="*/ 1 h 73"/>
                <a:gd name="T10" fmla="*/ 4 w 25"/>
                <a:gd name="T11" fmla="*/ 1 h 73"/>
                <a:gd name="T12" fmla="*/ 4 w 25"/>
                <a:gd name="T13" fmla="*/ 1 h 73"/>
                <a:gd name="T14" fmla="*/ 0 60000 65536"/>
                <a:gd name="T15" fmla="*/ 0 60000 65536"/>
                <a:gd name="T16" fmla="*/ 0 60000 65536"/>
                <a:gd name="T17" fmla="*/ 0 60000 65536"/>
                <a:gd name="T18" fmla="*/ 0 60000 65536"/>
                <a:gd name="T19" fmla="*/ 0 60000 65536"/>
                <a:gd name="T20" fmla="*/ 0 60000 65536"/>
                <a:gd name="T21" fmla="*/ 0 w 25"/>
                <a:gd name="T22" fmla="*/ 0 h 73"/>
                <a:gd name="T23" fmla="*/ 25 w 25"/>
                <a:gd name="T24" fmla="*/ 73 h 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6" name="Freeform 64">
              <a:extLst>
                <a:ext uri="{FF2B5EF4-FFF2-40B4-BE49-F238E27FC236}">
                  <a16:creationId xmlns:a16="http://schemas.microsoft.com/office/drawing/2014/main" id="{0FD6D2A4-52EC-4FD1-8729-03C3A9D5ADD4}"/>
                </a:ext>
              </a:extLst>
            </p:cNvPr>
            <p:cNvSpPr>
              <a:spLocks noChangeArrowheads="1"/>
            </p:cNvSpPr>
            <p:nvPr/>
          </p:nvSpPr>
          <p:spPr bwMode="auto">
            <a:xfrm>
              <a:off x="3992" y="976"/>
              <a:ext cx="12" cy="23"/>
            </a:xfrm>
            <a:custGeom>
              <a:avLst/>
              <a:gdLst>
                <a:gd name="T0" fmla="*/ 3 w 14"/>
                <a:gd name="T1" fmla="*/ 0 h 33"/>
                <a:gd name="T2" fmla="*/ 1 w 14"/>
                <a:gd name="T3" fmla="*/ 1 h 33"/>
                <a:gd name="T4" fmla="*/ 3 w 14"/>
                <a:gd name="T5" fmla="*/ 1 h 33"/>
                <a:gd name="T6" fmla="*/ 3 w 14"/>
                <a:gd name="T7" fmla="*/ 0 h 33"/>
                <a:gd name="T8" fmla="*/ 0 60000 65536"/>
                <a:gd name="T9" fmla="*/ 0 60000 65536"/>
                <a:gd name="T10" fmla="*/ 0 60000 65536"/>
                <a:gd name="T11" fmla="*/ 0 60000 65536"/>
                <a:gd name="T12" fmla="*/ 0 w 14"/>
                <a:gd name="T13" fmla="*/ 0 h 33"/>
                <a:gd name="T14" fmla="*/ 14 w 14"/>
                <a:gd name="T15" fmla="*/ 33 h 33"/>
              </a:gdLst>
              <a:ahLst/>
              <a:cxnLst>
                <a:cxn ang="T8">
                  <a:pos x="T0" y="T1"/>
                </a:cxn>
                <a:cxn ang="T9">
                  <a:pos x="T2" y="T3"/>
                </a:cxn>
                <a:cxn ang="T10">
                  <a:pos x="T4" y="T5"/>
                </a:cxn>
                <a:cxn ang="T11">
                  <a:pos x="T6" y="T7"/>
                </a:cxn>
              </a:cxnLst>
              <a:rect l="T12" t="T13" r="T14" b="T15"/>
              <a:pathLst>
                <a:path w="14" h="33">
                  <a:moveTo>
                    <a:pt x="11" y="0"/>
                  </a:moveTo>
                  <a:cubicBezTo>
                    <a:pt x="7" y="3"/>
                    <a:pt x="5" y="7"/>
                    <a:pt x="1" y="10"/>
                  </a:cubicBezTo>
                  <a:cubicBezTo>
                    <a:pt x="2" y="18"/>
                    <a:pt x="0" y="33"/>
                    <a:pt x="11" y="25"/>
                  </a:cubicBezTo>
                  <a:cubicBezTo>
                    <a:pt x="14" y="15"/>
                    <a:pt x="5" y="4"/>
                    <a:pt x="11"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7" name="Freeform 65">
              <a:extLst>
                <a:ext uri="{FF2B5EF4-FFF2-40B4-BE49-F238E27FC236}">
                  <a16:creationId xmlns:a16="http://schemas.microsoft.com/office/drawing/2014/main" id="{6EAB41ED-EDD8-4724-A687-E782AC38857D}"/>
                </a:ext>
              </a:extLst>
            </p:cNvPr>
            <p:cNvSpPr>
              <a:spLocks noChangeArrowheads="1"/>
            </p:cNvSpPr>
            <p:nvPr/>
          </p:nvSpPr>
          <p:spPr bwMode="auto">
            <a:xfrm>
              <a:off x="4004" y="987"/>
              <a:ext cx="24" cy="45"/>
            </a:xfrm>
            <a:custGeom>
              <a:avLst/>
              <a:gdLst>
                <a:gd name="T0" fmla="*/ 3 w 28"/>
                <a:gd name="T1" fmla="*/ 0 h 64"/>
                <a:gd name="T2" fmla="*/ 3 w 28"/>
                <a:gd name="T3" fmla="*/ 1 h 64"/>
                <a:gd name="T4" fmla="*/ 3 w 28"/>
                <a:gd name="T5" fmla="*/ 1 h 64"/>
                <a:gd name="T6" fmla="*/ 3 w 28"/>
                <a:gd name="T7" fmla="*/ 1 h 64"/>
                <a:gd name="T8" fmla="*/ 0 w 28"/>
                <a:gd name="T9" fmla="*/ 1 h 64"/>
                <a:gd name="T10" fmla="*/ 3 w 28"/>
                <a:gd name="T11" fmla="*/ 1 h 64"/>
                <a:gd name="T12" fmla="*/ 3 w 28"/>
                <a:gd name="T13" fmla="*/ 1 h 64"/>
                <a:gd name="T14" fmla="*/ 3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64"/>
                <a:gd name="T26" fmla="*/ 28 w 28"/>
                <a:gd name="T27" fmla="*/ 64 h 6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8" name="Freeform 66">
              <a:extLst>
                <a:ext uri="{FF2B5EF4-FFF2-40B4-BE49-F238E27FC236}">
                  <a16:creationId xmlns:a16="http://schemas.microsoft.com/office/drawing/2014/main" id="{81E9B04A-E67B-47F7-B0CB-1A4716BBF084}"/>
                </a:ext>
              </a:extLst>
            </p:cNvPr>
            <p:cNvSpPr>
              <a:spLocks noChangeArrowheads="1"/>
            </p:cNvSpPr>
            <p:nvPr/>
          </p:nvSpPr>
          <p:spPr bwMode="auto">
            <a:xfrm>
              <a:off x="3694" y="1052"/>
              <a:ext cx="14" cy="25"/>
            </a:xfrm>
            <a:custGeom>
              <a:avLst/>
              <a:gdLst>
                <a:gd name="T0" fmla="*/ 4 w 16"/>
                <a:gd name="T1" fmla="*/ 1 h 36"/>
                <a:gd name="T2" fmla="*/ 0 w 16"/>
                <a:gd name="T3" fmla="*/ 1 h 36"/>
                <a:gd name="T4" fmla="*/ 4 w 16"/>
                <a:gd name="T5" fmla="*/ 1 h 36"/>
                <a:gd name="T6" fmla="*/ 4 w 16"/>
                <a:gd name="T7" fmla="*/ 1 h 36"/>
                <a:gd name="T8" fmla="*/ 0 60000 65536"/>
                <a:gd name="T9" fmla="*/ 0 60000 65536"/>
                <a:gd name="T10" fmla="*/ 0 60000 65536"/>
                <a:gd name="T11" fmla="*/ 0 60000 65536"/>
                <a:gd name="T12" fmla="*/ 0 w 16"/>
                <a:gd name="T13" fmla="*/ 0 h 36"/>
                <a:gd name="T14" fmla="*/ 16 w 16"/>
                <a:gd name="T15" fmla="*/ 36 h 36"/>
              </a:gdLst>
              <a:ahLst/>
              <a:cxnLst>
                <a:cxn ang="T8">
                  <a:pos x="T0" y="T1"/>
                </a:cxn>
                <a:cxn ang="T9">
                  <a:pos x="T2" y="T3"/>
                </a:cxn>
                <a:cxn ang="T10">
                  <a:pos x="T4" y="T5"/>
                </a:cxn>
                <a:cxn ang="T11">
                  <a:pos x="T6" y="T7"/>
                </a:cxn>
              </a:cxnLst>
              <a:rect l="T12" t="T13" r="T14" b="T15"/>
              <a:pathLst>
                <a:path w="16" h="36">
                  <a:moveTo>
                    <a:pt x="14" y="3"/>
                  </a:moveTo>
                  <a:cubicBezTo>
                    <a:pt x="7" y="0"/>
                    <a:pt x="4" y="1"/>
                    <a:pt x="0" y="7"/>
                  </a:cubicBezTo>
                  <a:cubicBezTo>
                    <a:pt x="3" y="14"/>
                    <a:pt x="2" y="17"/>
                    <a:pt x="8" y="22"/>
                  </a:cubicBezTo>
                  <a:cubicBezTo>
                    <a:pt x="16" y="36"/>
                    <a:pt x="11" y="7"/>
                    <a:pt x="14" y="3"/>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69" name="Freeform 67">
              <a:extLst>
                <a:ext uri="{FF2B5EF4-FFF2-40B4-BE49-F238E27FC236}">
                  <a16:creationId xmlns:a16="http://schemas.microsoft.com/office/drawing/2014/main" id="{AEE90BC2-1E80-46EE-A4A0-919DA1EF6A67}"/>
                </a:ext>
              </a:extLst>
            </p:cNvPr>
            <p:cNvSpPr>
              <a:spLocks noChangeArrowheads="1"/>
            </p:cNvSpPr>
            <p:nvPr/>
          </p:nvSpPr>
          <p:spPr bwMode="auto">
            <a:xfrm>
              <a:off x="3683" y="1030"/>
              <a:ext cx="11" cy="14"/>
            </a:xfrm>
            <a:custGeom>
              <a:avLst/>
              <a:gdLst>
                <a:gd name="T0" fmla="*/ 3 w 13"/>
                <a:gd name="T1" fmla="*/ 1 h 20"/>
                <a:gd name="T2" fmla="*/ 1 w 13"/>
                <a:gd name="T3" fmla="*/ 1 h 20"/>
                <a:gd name="T4" fmla="*/ 3 w 13"/>
                <a:gd name="T5" fmla="*/ 1 h 20"/>
                <a:gd name="T6" fmla="*/ 3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0" name="Freeform 68">
              <a:extLst>
                <a:ext uri="{FF2B5EF4-FFF2-40B4-BE49-F238E27FC236}">
                  <a16:creationId xmlns:a16="http://schemas.microsoft.com/office/drawing/2014/main" id="{8482BFC7-F098-4238-975A-C5263F2D6419}"/>
                </a:ext>
              </a:extLst>
            </p:cNvPr>
            <p:cNvSpPr>
              <a:spLocks noChangeArrowheads="1"/>
            </p:cNvSpPr>
            <p:nvPr/>
          </p:nvSpPr>
          <p:spPr bwMode="auto">
            <a:xfrm>
              <a:off x="3678" y="1013"/>
              <a:ext cx="14" cy="14"/>
            </a:xfrm>
            <a:custGeom>
              <a:avLst/>
              <a:gdLst>
                <a:gd name="T0" fmla="*/ 4 w 16"/>
                <a:gd name="T1" fmla="*/ 1 h 19"/>
                <a:gd name="T2" fmla="*/ 0 w 16"/>
                <a:gd name="T3" fmla="*/ 1 h 19"/>
                <a:gd name="T4" fmla="*/ 4 w 16"/>
                <a:gd name="T5" fmla="*/ 1 h 19"/>
                <a:gd name="T6" fmla="*/ 4 w 16"/>
                <a:gd name="T7" fmla="*/ 1 h 19"/>
                <a:gd name="T8" fmla="*/ 0 60000 65536"/>
                <a:gd name="T9" fmla="*/ 0 60000 65536"/>
                <a:gd name="T10" fmla="*/ 0 60000 65536"/>
                <a:gd name="T11" fmla="*/ 0 60000 65536"/>
                <a:gd name="T12" fmla="*/ 0 w 16"/>
                <a:gd name="T13" fmla="*/ 0 h 19"/>
                <a:gd name="T14" fmla="*/ 16 w 16"/>
                <a:gd name="T15" fmla="*/ 19 h 19"/>
              </a:gdLst>
              <a:ahLst/>
              <a:cxnLst>
                <a:cxn ang="T8">
                  <a:pos x="T0" y="T1"/>
                </a:cxn>
                <a:cxn ang="T9">
                  <a:pos x="T2" y="T3"/>
                </a:cxn>
                <a:cxn ang="T10">
                  <a:pos x="T4" y="T5"/>
                </a:cxn>
                <a:cxn ang="T11">
                  <a:pos x="T6" y="T7"/>
                </a:cxn>
              </a:cxnLst>
              <a:rect l="T12" t="T13" r="T14" b="T15"/>
              <a:pathLst>
                <a:path w="16" h="19">
                  <a:moveTo>
                    <a:pt x="10" y="5"/>
                  </a:moveTo>
                  <a:cubicBezTo>
                    <a:pt x="4" y="0"/>
                    <a:pt x="1" y="3"/>
                    <a:pt x="0" y="10"/>
                  </a:cubicBezTo>
                  <a:cubicBezTo>
                    <a:pt x="4" y="15"/>
                    <a:pt x="7" y="16"/>
                    <a:pt x="12" y="19"/>
                  </a:cubicBezTo>
                  <a:cubicBezTo>
                    <a:pt x="16" y="12"/>
                    <a:pt x="14"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1" name="Freeform 69">
              <a:extLst>
                <a:ext uri="{FF2B5EF4-FFF2-40B4-BE49-F238E27FC236}">
                  <a16:creationId xmlns:a16="http://schemas.microsoft.com/office/drawing/2014/main" id="{D535E45F-915C-409B-9677-A65660A3B1CF}"/>
                </a:ext>
              </a:extLst>
            </p:cNvPr>
            <p:cNvSpPr>
              <a:spLocks noChangeArrowheads="1"/>
            </p:cNvSpPr>
            <p:nvPr/>
          </p:nvSpPr>
          <p:spPr bwMode="auto">
            <a:xfrm>
              <a:off x="3664" y="976"/>
              <a:ext cx="13" cy="18"/>
            </a:xfrm>
            <a:custGeom>
              <a:avLst/>
              <a:gdLst>
                <a:gd name="T0" fmla="*/ 6 w 14"/>
                <a:gd name="T1" fmla="*/ 0 h 25"/>
                <a:gd name="T2" fmla="*/ 0 w 14"/>
                <a:gd name="T3" fmla="*/ 1 h 25"/>
                <a:gd name="T4" fmla="*/ 7 w 14"/>
                <a:gd name="T5" fmla="*/ 1 h 25"/>
                <a:gd name="T6" fmla="*/ 6 w 14"/>
                <a:gd name="T7" fmla="*/ 0 h 25"/>
                <a:gd name="T8" fmla="*/ 0 60000 65536"/>
                <a:gd name="T9" fmla="*/ 0 60000 65536"/>
                <a:gd name="T10" fmla="*/ 0 60000 65536"/>
                <a:gd name="T11" fmla="*/ 0 60000 65536"/>
                <a:gd name="T12" fmla="*/ 0 w 14"/>
                <a:gd name="T13" fmla="*/ 0 h 25"/>
                <a:gd name="T14" fmla="*/ 14 w 14"/>
                <a:gd name="T15" fmla="*/ 25 h 25"/>
              </a:gdLst>
              <a:ahLst/>
              <a:cxnLst>
                <a:cxn ang="T8">
                  <a:pos x="T0" y="T1"/>
                </a:cxn>
                <a:cxn ang="T9">
                  <a:pos x="T2" y="T3"/>
                </a:cxn>
                <a:cxn ang="T10">
                  <a:pos x="T4" y="T5"/>
                </a:cxn>
                <a:cxn ang="T11">
                  <a:pos x="T6" y="T7"/>
                </a:cxn>
              </a:cxnLst>
              <a:rect l="T12" t="T13" r="T14" b="T15"/>
              <a:pathLst>
                <a:path w="14" h="25">
                  <a:moveTo>
                    <a:pt x="6" y="0"/>
                  </a:moveTo>
                  <a:cubicBezTo>
                    <a:pt x="4" y="5"/>
                    <a:pt x="3" y="9"/>
                    <a:pt x="0" y="13"/>
                  </a:cubicBezTo>
                  <a:cubicBezTo>
                    <a:pt x="1" y="24"/>
                    <a:pt x="1" y="25"/>
                    <a:pt x="12" y="24"/>
                  </a:cubicBezTo>
                  <a:cubicBezTo>
                    <a:pt x="14" y="12"/>
                    <a:pt x="8" y="10"/>
                    <a:pt x="6"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2" name="Freeform 70">
              <a:extLst>
                <a:ext uri="{FF2B5EF4-FFF2-40B4-BE49-F238E27FC236}">
                  <a16:creationId xmlns:a16="http://schemas.microsoft.com/office/drawing/2014/main" id="{0B331418-3043-46B9-A90A-5F4312FF1038}"/>
                </a:ext>
              </a:extLst>
            </p:cNvPr>
            <p:cNvSpPr>
              <a:spLocks noChangeArrowheads="1"/>
            </p:cNvSpPr>
            <p:nvPr/>
          </p:nvSpPr>
          <p:spPr bwMode="auto">
            <a:xfrm>
              <a:off x="3667" y="999"/>
              <a:ext cx="18" cy="13"/>
            </a:xfrm>
            <a:custGeom>
              <a:avLst/>
              <a:gdLst>
                <a:gd name="T0" fmla="*/ 2 w 22"/>
                <a:gd name="T1" fmla="*/ 0 h 18"/>
                <a:gd name="T2" fmla="*/ 2 w 22"/>
                <a:gd name="T3" fmla="*/ 1 h 18"/>
                <a:gd name="T4" fmla="*/ 2 w 22"/>
                <a:gd name="T5" fmla="*/ 1 h 18"/>
                <a:gd name="T6" fmla="*/ 2 w 22"/>
                <a:gd name="T7" fmla="*/ 0 h 18"/>
                <a:gd name="T8" fmla="*/ 0 60000 65536"/>
                <a:gd name="T9" fmla="*/ 0 60000 65536"/>
                <a:gd name="T10" fmla="*/ 0 60000 65536"/>
                <a:gd name="T11" fmla="*/ 0 60000 65536"/>
                <a:gd name="T12" fmla="*/ 0 w 22"/>
                <a:gd name="T13" fmla="*/ 0 h 18"/>
                <a:gd name="T14" fmla="*/ 22 w 22"/>
                <a:gd name="T15" fmla="*/ 18 h 18"/>
              </a:gdLst>
              <a:ahLst/>
              <a:cxnLst>
                <a:cxn ang="T8">
                  <a:pos x="T0" y="T1"/>
                </a:cxn>
                <a:cxn ang="T9">
                  <a:pos x="T2" y="T3"/>
                </a:cxn>
                <a:cxn ang="T10">
                  <a:pos x="T4" y="T5"/>
                </a:cxn>
                <a:cxn ang="T11">
                  <a:pos x="T6" y="T7"/>
                </a:cxn>
              </a:cxnLst>
              <a:rect l="T12" t="T13" r="T14" b="T15"/>
              <a:pathLst>
                <a:path w="22" h="18">
                  <a:moveTo>
                    <a:pt x="13" y="0"/>
                  </a:moveTo>
                  <a:cubicBezTo>
                    <a:pt x="0" y="8"/>
                    <a:pt x="9" y="12"/>
                    <a:pt x="19" y="18"/>
                  </a:cubicBezTo>
                  <a:cubicBezTo>
                    <a:pt x="20" y="11"/>
                    <a:pt x="22" y="8"/>
                    <a:pt x="14" y="6"/>
                  </a:cubicBezTo>
                  <a:cubicBezTo>
                    <a:pt x="9" y="3"/>
                    <a:pt x="9" y="5"/>
                    <a:pt x="13"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3" name="Freeform 71">
              <a:extLst>
                <a:ext uri="{FF2B5EF4-FFF2-40B4-BE49-F238E27FC236}">
                  <a16:creationId xmlns:a16="http://schemas.microsoft.com/office/drawing/2014/main" id="{9E810BA0-575D-4759-A378-B21495BFD5C4}"/>
                </a:ext>
              </a:extLst>
            </p:cNvPr>
            <p:cNvSpPr>
              <a:spLocks noChangeArrowheads="1"/>
            </p:cNvSpPr>
            <p:nvPr/>
          </p:nvSpPr>
          <p:spPr bwMode="auto">
            <a:xfrm>
              <a:off x="4628" y="1582"/>
              <a:ext cx="52" cy="56"/>
            </a:xfrm>
            <a:custGeom>
              <a:avLst/>
              <a:gdLst>
                <a:gd name="T0" fmla="*/ 3 w 60"/>
                <a:gd name="T1" fmla="*/ 1 h 81"/>
                <a:gd name="T2" fmla="*/ 3 w 60"/>
                <a:gd name="T3" fmla="*/ 1 h 81"/>
                <a:gd name="T4" fmla="*/ 3 w 60"/>
                <a:gd name="T5" fmla="*/ 1 h 81"/>
                <a:gd name="T6" fmla="*/ 3 w 60"/>
                <a:gd name="T7" fmla="*/ 1 h 81"/>
                <a:gd name="T8" fmla="*/ 3 w 60"/>
                <a:gd name="T9" fmla="*/ 1 h 81"/>
                <a:gd name="T10" fmla="*/ 3 w 60"/>
                <a:gd name="T11" fmla="*/ 1 h 81"/>
                <a:gd name="T12" fmla="*/ 3 w 60"/>
                <a:gd name="T13" fmla="*/ 1 h 81"/>
                <a:gd name="T14" fmla="*/ 3 w 60"/>
                <a:gd name="T15" fmla="*/ 1 h 81"/>
                <a:gd name="T16" fmla="*/ 3 w 60"/>
                <a:gd name="T17" fmla="*/ 1 h 81"/>
                <a:gd name="T18" fmla="*/ 3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81"/>
                <a:gd name="T32" fmla="*/ 60 w 60"/>
                <a:gd name="T33" fmla="*/ 81 h 8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4" name="Freeform 72">
              <a:extLst>
                <a:ext uri="{FF2B5EF4-FFF2-40B4-BE49-F238E27FC236}">
                  <a16:creationId xmlns:a16="http://schemas.microsoft.com/office/drawing/2014/main" id="{3B4774E6-08C0-4782-BA9E-15A94F415E62}"/>
                </a:ext>
              </a:extLst>
            </p:cNvPr>
            <p:cNvSpPr>
              <a:spLocks noChangeArrowheads="1"/>
            </p:cNvSpPr>
            <p:nvPr/>
          </p:nvSpPr>
          <p:spPr bwMode="auto">
            <a:xfrm>
              <a:off x="4894" y="1536"/>
              <a:ext cx="61" cy="43"/>
            </a:xfrm>
            <a:custGeom>
              <a:avLst/>
              <a:gdLst>
                <a:gd name="T0" fmla="*/ 3 w 71"/>
                <a:gd name="T1" fmla="*/ 1 h 61"/>
                <a:gd name="T2" fmla="*/ 3 w 71"/>
                <a:gd name="T3" fmla="*/ 1 h 61"/>
                <a:gd name="T4" fmla="*/ 1 w 71"/>
                <a:gd name="T5" fmla="*/ 1 h 61"/>
                <a:gd name="T6" fmla="*/ 3 w 71"/>
                <a:gd name="T7" fmla="*/ 1 h 61"/>
                <a:gd name="T8" fmla="*/ 3 w 71"/>
                <a:gd name="T9" fmla="*/ 1 h 61"/>
                <a:gd name="T10" fmla="*/ 3 w 71"/>
                <a:gd name="T11" fmla="*/ 1 h 61"/>
                <a:gd name="T12" fmla="*/ 3 w 71"/>
                <a:gd name="T13" fmla="*/ 0 h 61"/>
                <a:gd name="T14" fmla="*/ 4 w 71"/>
                <a:gd name="T15" fmla="*/ 1 h 61"/>
                <a:gd name="T16" fmla="*/ 3 w 71"/>
                <a:gd name="T17" fmla="*/ 1 h 61"/>
                <a:gd name="T18" fmla="*/ 3 w 71"/>
                <a:gd name="T19" fmla="*/ 1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
                <a:gd name="T31" fmla="*/ 0 h 61"/>
                <a:gd name="T32" fmla="*/ 71 w 71"/>
                <a:gd name="T33" fmla="*/ 61 h 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5" name="Freeform 73">
              <a:extLst>
                <a:ext uri="{FF2B5EF4-FFF2-40B4-BE49-F238E27FC236}">
                  <a16:creationId xmlns:a16="http://schemas.microsoft.com/office/drawing/2014/main" id="{F4C704DA-FB08-435A-8146-3C078EEAF10C}"/>
                </a:ext>
              </a:extLst>
            </p:cNvPr>
            <p:cNvSpPr>
              <a:spLocks noChangeArrowheads="1"/>
            </p:cNvSpPr>
            <p:nvPr/>
          </p:nvSpPr>
          <p:spPr bwMode="auto">
            <a:xfrm>
              <a:off x="4710" y="1513"/>
              <a:ext cx="20" cy="21"/>
            </a:xfrm>
            <a:custGeom>
              <a:avLst/>
              <a:gdLst>
                <a:gd name="T0" fmla="*/ 3 w 23"/>
                <a:gd name="T1" fmla="*/ 0 h 30"/>
                <a:gd name="T2" fmla="*/ 0 w 23"/>
                <a:gd name="T3" fmla="*/ 1 h 30"/>
                <a:gd name="T4" fmla="*/ 3 w 23"/>
                <a:gd name="T5" fmla="*/ 1 h 30"/>
                <a:gd name="T6" fmla="*/ 3 w 23"/>
                <a:gd name="T7" fmla="*/ 0 h 30"/>
                <a:gd name="T8" fmla="*/ 0 60000 65536"/>
                <a:gd name="T9" fmla="*/ 0 60000 65536"/>
                <a:gd name="T10" fmla="*/ 0 60000 65536"/>
                <a:gd name="T11" fmla="*/ 0 60000 65536"/>
                <a:gd name="T12" fmla="*/ 0 w 23"/>
                <a:gd name="T13" fmla="*/ 0 h 30"/>
                <a:gd name="T14" fmla="*/ 23 w 23"/>
                <a:gd name="T15" fmla="*/ 30 h 30"/>
              </a:gdLst>
              <a:ahLst/>
              <a:cxnLst>
                <a:cxn ang="T8">
                  <a:pos x="T0" y="T1"/>
                </a:cxn>
                <a:cxn ang="T9">
                  <a:pos x="T2" y="T3"/>
                </a:cxn>
                <a:cxn ang="T10">
                  <a:pos x="T4" y="T5"/>
                </a:cxn>
                <a:cxn ang="T11">
                  <a:pos x="T6" y="T7"/>
                </a:cxn>
              </a:cxnLst>
              <a:rect l="T12" t="T13" r="T14" b="T15"/>
              <a:pathLst>
                <a:path w="23" h="30">
                  <a:moveTo>
                    <a:pt x="9" y="0"/>
                  </a:moveTo>
                  <a:cubicBezTo>
                    <a:pt x="8" y="7"/>
                    <a:pt x="3" y="8"/>
                    <a:pt x="0" y="14"/>
                  </a:cubicBezTo>
                  <a:cubicBezTo>
                    <a:pt x="3" y="21"/>
                    <a:pt x="8" y="24"/>
                    <a:pt x="12" y="30"/>
                  </a:cubicBezTo>
                  <a:cubicBezTo>
                    <a:pt x="23" y="15"/>
                    <a:pt x="4" y="9"/>
                    <a:pt x="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6" name="Freeform 74">
              <a:extLst>
                <a:ext uri="{FF2B5EF4-FFF2-40B4-BE49-F238E27FC236}">
                  <a16:creationId xmlns:a16="http://schemas.microsoft.com/office/drawing/2014/main" id="{10F582B7-3B9A-4E2B-9D0A-58AACCCE490B}"/>
                </a:ext>
              </a:extLst>
            </p:cNvPr>
            <p:cNvSpPr>
              <a:spLocks noChangeArrowheads="1"/>
            </p:cNvSpPr>
            <p:nvPr/>
          </p:nvSpPr>
          <p:spPr bwMode="auto">
            <a:xfrm>
              <a:off x="4701" y="1492"/>
              <a:ext cx="23" cy="16"/>
            </a:xfrm>
            <a:custGeom>
              <a:avLst/>
              <a:gdLst>
                <a:gd name="T0" fmla="*/ 4 w 26"/>
                <a:gd name="T1" fmla="*/ 0 h 23"/>
                <a:gd name="T2" fmla="*/ 0 w 26"/>
                <a:gd name="T3" fmla="*/ 1 h 23"/>
                <a:gd name="T4" fmla="*/ 4 w 26"/>
                <a:gd name="T5" fmla="*/ 1 h 23"/>
                <a:gd name="T6" fmla="*/ 4 w 26"/>
                <a:gd name="T7" fmla="*/ 0 h 23"/>
                <a:gd name="T8" fmla="*/ 0 60000 65536"/>
                <a:gd name="T9" fmla="*/ 0 60000 65536"/>
                <a:gd name="T10" fmla="*/ 0 60000 65536"/>
                <a:gd name="T11" fmla="*/ 0 60000 65536"/>
                <a:gd name="T12" fmla="*/ 0 w 26"/>
                <a:gd name="T13" fmla="*/ 0 h 23"/>
                <a:gd name="T14" fmla="*/ 26 w 26"/>
                <a:gd name="T15" fmla="*/ 23 h 23"/>
              </a:gdLst>
              <a:ahLst/>
              <a:cxnLst>
                <a:cxn ang="T8">
                  <a:pos x="T0" y="T1"/>
                </a:cxn>
                <a:cxn ang="T9">
                  <a:pos x="T2" y="T3"/>
                </a:cxn>
                <a:cxn ang="T10">
                  <a:pos x="T4" y="T5"/>
                </a:cxn>
                <a:cxn ang="T11">
                  <a:pos x="T6" y="T7"/>
                </a:cxn>
              </a:cxnLst>
              <a:rect l="T12" t="T13" r="T14" b="T15"/>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7" name="Freeform 75">
              <a:extLst>
                <a:ext uri="{FF2B5EF4-FFF2-40B4-BE49-F238E27FC236}">
                  <a16:creationId xmlns:a16="http://schemas.microsoft.com/office/drawing/2014/main" id="{AC688077-B5DD-442A-A762-DCF5BB5E4F9B}"/>
                </a:ext>
              </a:extLst>
            </p:cNvPr>
            <p:cNvSpPr>
              <a:spLocks noChangeArrowheads="1"/>
            </p:cNvSpPr>
            <p:nvPr/>
          </p:nvSpPr>
          <p:spPr bwMode="auto">
            <a:xfrm>
              <a:off x="4525" y="1311"/>
              <a:ext cx="27" cy="31"/>
            </a:xfrm>
            <a:custGeom>
              <a:avLst/>
              <a:gdLst>
                <a:gd name="T0" fmla="*/ 3 w 32"/>
                <a:gd name="T1" fmla="*/ 0 h 44"/>
                <a:gd name="T2" fmla="*/ 3 w 32"/>
                <a:gd name="T3" fmla="*/ 1 h 44"/>
                <a:gd name="T4" fmla="*/ 3 w 32"/>
                <a:gd name="T5" fmla="*/ 1 h 44"/>
                <a:gd name="T6" fmla="*/ 3 w 32"/>
                <a:gd name="T7" fmla="*/ 1 h 44"/>
                <a:gd name="T8" fmla="*/ 3 w 32"/>
                <a:gd name="T9" fmla="*/ 0 h 44"/>
                <a:gd name="T10" fmla="*/ 0 60000 65536"/>
                <a:gd name="T11" fmla="*/ 0 60000 65536"/>
                <a:gd name="T12" fmla="*/ 0 60000 65536"/>
                <a:gd name="T13" fmla="*/ 0 60000 65536"/>
                <a:gd name="T14" fmla="*/ 0 60000 65536"/>
                <a:gd name="T15" fmla="*/ 0 w 32"/>
                <a:gd name="T16" fmla="*/ 0 h 44"/>
                <a:gd name="T17" fmla="*/ 32 w 32"/>
                <a:gd name="T18" fmla="*/ 44 h 44"/>
              </a:gdLst>
              <a:ahLst/>
              <a:cxnLst>
                <a:cxn ang="T10">
                  <a:pos x="T0" y="T1"/>
                </a:cxn>
                <a:cxn ang="T11">
                  <a:pos x="T2" y="T3"/>
                </a:cxn>
                <a:cxn ang="T12">
                  <a:pos x="T4" y="T5"/>
                </a:cxn>
                <a:cxn ang="T13">
                  <a:pos x="T6" y="T7"/>
                </a:cxn>
                <a:cxn ang="T14">
                  <a:pos x="T8" y="T9"/>
                </a:cxn>
              </a:cxnLst>
              <a:rect l="T15" t="T16" r="T17" b="T18"/>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8" name="Freeform 76">
              <a:extLst>
                <a:ext uri="{FF2B5EF4-FFF2-40B4-BE49-F238E27FC236}">
                  <a16:creationId xmlns:a16="http://schemas.microsoft.com/office/drawing/2014/main" id="{1D62DC1F-74C6-42F6-A53B-6E0F9D982F6C}"/>
                </a:ext>
              </a:extLst>
            </p:cNvPr>
            <p:cNvSpPr>
              <a:spLocks noChangeArrowheads="1"/>
            </p:cNvSpPr>
            <p:nvPr/>
          </p:nvSpPr>
          <p:spPr bwMode="auto">
            <a:xfrm>
              <a:off x="4564" y="1351"/>
              <a:ext cx="30" cy="31"/>
            </a:xfrm>
            <a:custGeom>
              <a:avLst/>
              <a:gdLst>
                <a:gd name="T0" fmla="*/ 4 w 34"/>
                <a:gd name="T1" fmla="*/ 0 h 44"/>
                <a:gd name="T2" fmla="*/ 4 w 34"/>
                <a:gd name="T3" fmla="*/ 1 h 44"/>
                <a:gd name="T4" fmla="*/ 4 w 34"/>
                <a:gd name="T5" fmla="*/ 1 h 44"/>
                <a:gd name="T6" fmla="*/ 4 w 34"/>
                <a:gd name="T7" fmla="*/ 1 h 44"/>
                <a:gd name="T8" fmla="*/ 4 w 34"/>
                <a:gd name="T9" fmla="*/ 0 h 44"/>
                <a:gd name="T10" fmla="*/ 0 60000 65536"/>
                <a:gd name="T11" fmla="*/ 0 60000 65536"/>
                <a:gd name="T12" fmla="*/ 0 60000 65536"/>
                <a:gd name="T13" fmla="*/ 0 60000 65536"/>
                <a:gd name="T14" fmla="*/ 0 60000 65536"/>
                <a:gd name="T15" fmla="*/ 0 w 34"/>
                <a:gd name="T16" fmla="*/ 0 h 44"/>
                <a:gd name="T17" fmla="*/ 34 w 34"/>
                <a:gd name="T18" fmla="*/ 44 h 44"/>
              </a:gdLst>
              <a:ahLst/>
              <a:cxnLst>
                <a:cxn ang="T10">
                  <a:pos x="T0" y="T1"/>
                </a:cxn>
                <a:cxn ang="T11">
                  <a:pos x="T2" y="T3"/>
                </a:cxn>
                <a:cxn ang="T12">
                  <a:pos x="T4" y="T5"/>
                </a:cxn>
                <a:cxn ang="T13">
                  <a:pos x="T6" y="T7"/>
                </a:cxn>
                <a:cxn ang="T14">
                  <a:pos x="T8" y="T9"/>
                </a:cxn>
              </a:cxnLst>
              <a:rect l="T15" t="T16" r="T17" b="T18"/>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79" name="Freeform 77">
              <a:extLst>
                <a:ext uri="{FF2B5EF4-FFF2-40B4-BE49-F238E27FC236}">
                  <a16:creationId xmlns:a16="http://schemas.microsoft.com/office/drawing/2014/main" id="{04C4422C-F737-4DC3-A30F-4889508A4700}"/>
                </a:ext>
              </a:extLst>
            </p:cNvPr>
            <p:cNvSpPr>
              <a:spLocks noChangeArrowheads="1"/>
            </p:cNvSpPr>
            <p:nvPr/>
          </p:nvSpPr>
          <p:spPr bwMode="auto">
            <a:xfrm>
              <a:off x="4595" y="1410"/>
              <a:ext cx="32" cy="26"/>
            </a:xfrm>
            <a:custGeom>
              <a:avLst/>
              <a:gdLst>
                <a:gd name="T0" fmla="*/ 3 w 38"/>
                <a:gd name="T1" fmla="*/ 1 h 37"/>
                <a:gd name="T2" fmla="*/ 3 w 38"/>
                <a:gd name="T3" fmla="*/ 1 h 37"/>
                <a:gd name="T4" fmla="*/ 3 w 38"/>
                <a:gd name="T5" fmla="*/ 1 h 37"/>
                <a:gd name="T6" fmla="*/ 3 w 38"/>
                <a:gd name="T7" fmla="*/ 1 h 37"/>
                <a:gd name="T8" fmla="*/ 3 w 38"/>
                <a:gd name="T9" fmla="*/ 1 h 37"/>
                <a:gd name="T10" fmla="*/ 0 60000 65536"/>
                <a:gd name="T11" fmla="*/ 0 60000 65536"/>
                <a:gd name="T12" fmla="*/ 0 60000 65536"/>
                <a:gd name="T13" fmla="*/ 0 60000 65536"/>
                <a:gd name="T14" fmla="*/ 0 60000 65536"/>
                <a:gd name="T15" fmla="*/ 0 w 38"/>
                <a:gd name="T16" fmla="*/ 0 h 37"/>
                <a:gd name="T17" fmla="*/ 38 w 38"/>
                <a:gd name="T18" fmla="*/ 37 h 37"/>
              </a:gdLst>
              <a:ahLst/>
              <a:cxnLst>
                <a:cxn ang="T10">
                  <a:pos x="T0" y="T1"/>
                </a:cxn>
                <a:cxn ang="T11">
                  <a:pos x="T2" y="T3"/>
                </a:cxn>
                <a:cxn ang="T12">
                  <a:pos x="T4" y="T5"/>
                </a:cxn>
                <a:cxn ang="T13">
                  <a:pos x="T6" y="T7"/>
                </a:cxn>
                <a:cxn ang="T14">
                  <a:pos x="T8" y="T9"/>
                </a:cxn>
              </a:cxnLst>
              <a:rect l="T15" t="T16" r="T17" b="T18"/>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0" name="Freeform 78">
              <a:extLst>
                <a:ext uri="{FF2B5EF4-FFF2-40B4-BE49-F238E27FC236}">
                  <a16:creationId xmlns:a16="http://schemas.microsoft.com/office/drawing/2014/main" id="{A7DC8E09-6087-4102-AAF4-4B49BD94F211}"/>
                </a:ext>
              </a:extLst>
            </p:cNvPr>
            <p:cNvSpPr>
              <a:spLocks noChangeArrowheads="1"/>
            </p:cNvSpPr>
            <p:nvPr/>
          </p:nvSpPr>
          <p:spPr bwMode="auto">
            <a:xfrm>
              <a:off x="4634" y="1400"/>
              <a:ext cx="32" cy="25"/>
            </a:xfrm>
            <a:custGeom>
              <a:avLst/>
              <a:gdLst>
                <a:gd name="T0" fmla="*/ 3 w 38"/>
                <a:gd name="T1" fmla="*/ 1 h 34"/>
                <a:gd name="T2" fmla="*/ 3 w 38"/>
                <a:gd name="T3" fmla="*/ 1 h 34"/>
                <a:gd name="T4" fmla="*/ 3 w 38"/>
                <a:gd name="T5" fmla="*/ 1 h 34"/>
                <a:gd name="T6" fmla="*/ 3 w 38"/>
                <a:gd name="T7" fmla="*/ 1 h 34"/>
                <a:gd name="T8" fmla="*/ 3 w 38"/>
                <a:gd name="T9" fmla="*/ 1 h 34"/>
                <a:gd name="T10" fmla="*/ 0 60000 65536"/>
                <a:gd name="T11" fmla="*/ 0 60000 65536"/>
                <a:gd name="T12" fmla="*/ 0 60000 65536"/>
                <a:gd name="T13" fmla="*/ 0 60000 65536"/>
                <a:gd name="T14" fmla="*/ 0 60000 65536"/>
                <a:gd name="T15" fmla="*/ 0 w 38"/>
                <a:gd name="T16" fmla="*/ 0 h 34"/>
                <a:gd name="T17" fmla="*/ 38 w 38"/>
                <a:gd name="T18" fmla="*/ 34 h 34"/>
              </a:gdLst>
              <a:ahLst/>
              <a:cxnLst>
                <a:cxn ang="T10">
                  <a:pos x="T0" y="T1"/>
                </a:cxn>
                <a:cxn ang="T11">
                  <a:pos x="T2" y="T3"/>
                </a:cxn>
                <a:cxn ang="T12">
                  <a:pos x="T4" y="T5"/>
                </a:cxn>
                <a:cxn ang="T13">
                  <a:pos x="T6" y="T7"/>
                </a:cxn>
                <a:cxn ang="T14">
                  <a:pos x="T8" y="T9"/>
                </a:cxn>
              </a:cxnLst>
              <a:rect l="T15" t="T16" r="T17" b="T18"/>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1" name="Freeform 79">
              <a:extLst>
                <a:ext uri="{FF2B5EF4-FFF2-40B4-BE49-F238E27FC236}">
                  <a16:creationId xmlns:a16="http://schemas.microsoft.com/office/drawing/2014/main" id="{D8EC08DC-7577-48DD-99EE-C629AD935146}"/>
                </a:ext>
              </a:extLst>
            </p:cNvPr>
            <p:cNvSpPr>
              <a:spLocks noChangeArrowheads="1"/>
            </p:cNvSpPr>
            <p:nvPr/>
          </p:nvSpPr>
          <p:spPr bwMode="auto">
            <a:xfrm>
              <a:off x="4623" y="1367"/>
              <a:ext cx="30" cy="19"/>
            </a:xfrm>
            <a:custGeom>
              <a:avLst/>
              <a:gdLst>
                <a:gd name="T0" fmla="*/ 3 w 35"/>
                <a:gd name="T1" fmla="*/ 1 h 27"/>
                <a:gd name="T2" fmla="*/ 3 w 35"/>
                <a:gd name="T3" fmla="*/ 1 h 27"/>
                <a:gd name="T4" fmla="*/ 3 w 35"/>
                <a:gd name="T5" fmla="*/ 1 h 27"/>
                <a:gd name="T6" fmla="*/ 3 w 35"/>
                <a:gd name="T7" fmla="*/ 1 h 27"/>
                <a:gd name="T8" fmla="*/ 3 w 35"/>
                <a:gd name="T9" fmla="*/ 1 h 27"/>
                <a:gd name="T10" fmla="*/ 0 60000 65536"/>
                <a:gd name="T11" fmla="*/ 0 60000 65536"/>
                <a:gd name="T12" fmla="*/ 0 60000 65536"/>
                <a:gd name="T13" fmla="*/ 0 60000 65536"/>
                <a:gd name="T14" fmla="*/ 0 60000 65536"/>
                <a:gd name="T15" fmla="*/ 0 w 35"/>
                <a:gd name="T16" fmla="*/ 0 h 27"/>
                <a:gd name="T17" fmla="*/ 35 w 35"/>
                <a:gd name="T18" fmla="*/ 27 h 27"/>
              </a:gdLst>
              <a:ahLst/>
              <a:cxnLst>
                <a:cxn ang="T10">
                  <a:pos x="T0" y="T1"/>
                </a:cxn>
                <a:cxn ang="T11">
                  <a:pos x="T2" y="T3"/>
                </a:cxn>
                <a:cxn ang="T12">
                  <a:pos x="T4" y="T5"/>
                </a:cxn>
                <a:cxn ang="T13">
                  <a:pos x="T6" y="T7"/>
                </a:cxn>
                <a:cxn ang="T14">
                  <a:pos x="T8" y="T9"/>
                </a:cxn>
              </a:cxnLst>
              <a:rect l="T15" t="T16" r="T17" b="T18"/>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2" name="Freeform 80">
              <a:extLst>
                <a:ext uri="{FF2B5EF4-FFF2-40B4-BE49-F238E27FC236}">
                  <a16:creationId xmlns:a16="http://schemas.microsoft.com/office/drawing/2014/main" id="{857C8ECB-CD46-4393-B0E7-B71B613FC84A}"/>
                </a:ext>
              </a:extLst>
            </p:cNvPr>
            <p:cNvSpPr>
              <a:spLocks noChangeArrowheads="1"/>
            </p:cNvSpPr>
            <p:nvPr/>
          </p:nvSpPr>
          <p:spPr bwMode="auto">
            <a:xfrm>
              <a:off x="4593" y="1343"/>
              <a:ext cx="30" cy="33"/>
            </a:xfrm>
            <a:custGeom>
              <a:avLst/>
              <a:gdLst>
                <a:gd name="T0" fmla="*/ 3 w 35"/>
                <a:gd name="T1" fmla="*/ 1 h 47"/>
                <a:gd name="T2" fmla="*/ 3 w 35"/>
                <a:gd name="T3" fmla="*/ 1 h 47"/>
                <a:gd name="T4" fmla="*/ 3 w 35"/>
                <a:gd name="T5" fmla="*/ 1 h 47"/>
                <a:gd name="T6" fmla="*/ 3 w 35"/>
                <a:gd name="T7" fmla="*/ 1 h 47"/>
                <a:gd name="T8" fmla="*/ 3 w 35"/>
                <a:gd name="T9" fmla="*/ 1 h 47"/>
                <a:gd name="T10" fmla="*/ 3 w 35"/>
                <a:gd name="T11" fmla="*/ 1 h 47"/>
                <a:gd name="T12" fmla="*/ 0 60000 65536"/>
                <a:gd name="T13" fmla="*/ 0 60000 65536"/>
                <a:gd name="T14" fmla="*/ 0 60000 65536"/>
                <a:gd name="T15" fmla="*/ 0 60000 65536"/>
                <a:gd name="T16" fmla="*/ 0 60000 65536"/>
                <a:gd name="T17" fmla="*/ 0 60000 65536"/>
                <a:gd name="T18" fmla="*/ 0 w 35"/>
                <a:gd name="T19" fmla="*/ 0 h 47"/>
                <a:gd name="T20" fmla="*/ 35 w 35"/>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3" name="Freeform 81">
              <a:extLst>
                <a:ext uri="{FF2B5EF4-FFF2-40B4-BE49-F238E27FC236}">
                  <a16:creationId xmlns:a16="http://schemas.microsoft.com/office/drawing/2014/main" id="{028DDE1A-9228-428E-AEA7-85E08E388E83}"/>
                </a:ext>
              </a:extLst>
            </p:cNvPr>
            <p:cNvSpPr>
              <a:spLocks noChangeArrowheads="1"/>
            </p:cNvSpPr>
            <p:nvPr/>
          </p:nvSpPr>
          <p:spPr bwMode="auto">
            <a:xfrm>
              <a:off x="4556" y="1329"/>
              <a:ext cx="27" cy="24"/>
            </a:xfrm>
            <a:custGeom>
              <a:avLst/>
              <a:gdLst>
                <a:gd name="T0" fmla="*/ 3 w 32"/>
                <a:gd name="T1" fmla="*/ 1 h 35"/>
                <a:gd name="T2" fmla="*/ 3 w 32"/>
                <a:gd name="T3" fmla="*/ 1 h 35"/>
                <a:gd name="T4" fmla="*/ 3 w 32"/>
                <a:gd name="T5" fmla="*/ 1 h 35"/>
                <a:gd name="T6" fmla="*/ 3 w 32"/>
                <a:gd name="T7" fmla="*/ 1 h 35"/>
                <a:gd name="T8" fmla="*/ 3 w 32"/>
                <a:gd name="T9" fmla="*/ 1 h 35"/>
                <a:gd name="T10" fmla="*/ 0 60000 65536"/>
                <a:gd name="T11" fmla="*/ 0 60000 65536"/>
                <a:gd name="T12" fmla="*/ 0 60000 65536"/>
                <a:gd name="T13" fmla="*/ 0 60000 65536"/>
                <a:gd name="T14" fmla="*/ 0 60000 65536"/>
                <a:gd name="T15" fmla="*/ 0 w 32"/>
                <a:gd name="T16" fmla="*/ 0 h 35"/>
                <a:gd name="T17" fmla="*/ 32 w 32"/>
                <a:gd name="T18" fmla="*/ 35 h 35"/>
              </a:gdLst>
              <a:ahLst/>
              <a:cxnLst>
                <a:cxn ang="T10">
                  <a:pos x="T0" y="T1"/>
                </a:cxn>
                <a:cxn ang="T11">
                  <a:pos x="T2" y="T3"/>
                </a:cxn>
                <a:cxn ang="T12">
                  <a:pos x="T4" y="T5"/>
                </a:cxn>
                <a:cxn ang="T13">
                  <a:pos x="T6" y="T7"/>
                </a:cxn>
                <a:cxn ang="T14">
                  <a:pos x="T8" y="T9"/>
                </a:cxn>
              </a:cxnLst>
              <a:rect l="T15" t="T16" r="T17" b="T18"/>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4" name="Freeform 82">
              <a:extLst>
                <a:ext uri="{FF2B5EF4-FFF2-40B4-BE49-F238E27FC236}">
                  <a16:creationId xmlns:a16="http://schemas.microsoft.com/office/drawing/2014/main" id="{4879523E-C272-47B7-AC75-785315060687}"/>
                </a:ext>
              </a:extLst>
            </p:cNvPr>
            <p:cNvSpPr>
              <a:spLocks noChangeArrowheads="1"/>
            </p:cNvSpPr>
            <p:nvPr/>
          </p:nvSpPr>
          <p:spPr bwMode="auto">
            <a:xfrm>
              <a:off x="4602" y="1378"/>
              <a:ext cx="27" cy="24"/>
            </a:xfrm>
            <a:custGeom>
              <a:avLst/>
              <a:gdLst>
                <a:gd name="T0" fmla="*/ 3 w 32"/>
                <a:gd name="T1" fmla="*/ 1 h 35"/>
                <a:gd name="T2" fmla="*/ 3 w 32"/>
                <a:gd name="T3" fmla="*/ 1 h 35"/>
                <a:gd name="T4" fmla="*/ 3 w 32"/>
                <a:gd name="T5" fmla="*/ 1 h 35"/>
                <a:gd name="T6" fmla="*/ 3 w 32"/>
                <a:gd name="T7" fmla="*/ 1 h 35"/>
                <a:gd name="T8" fmla="*/ 3 w 32"/>
                <a:gd name="T9" fmla="*/ 1 h 35"/>
                <a:gd name="T10" fmla="*/ 0 60000 65536"/>
                <a:gd name="T11" fmla="*/ 0 60000 65536"/>
                <a:gd name="T12" fmla="*/ 0 60000 65536"/>
                <a:gd name="T13" fmla="*/ 0 60000 65536"/>
                <a:gd name="T14" fmla="*/ 0 60000 65536"/>
                <a:gd name="T15" fmla="*/ 0 w 32"/>
                <a:gd name="T16" fmla="*/ 0 h 35"/>
                <a:gd name="T17" fmla="*/ 32 w 32"/>
                <a:gd name="T18" fmla="*/ 35 h 35"/>
              </a:gdLst>
              <a:ahLst/>
              <a:cxnLst>
                <a:cxn ang="T10">
                  <a:pos x="T0" y="T1"/>
                </a:cxn>
                <a:cxn ang="T11">
                  <a:pos x="T2" y="T3"/>
                </a:cxn>
                <a:cxn ang="T12">
                  <a:pos x="T4" y="T5"/>
                </a:cxn>
                <a:cxn ang="T13">
                  <a:pos x="T6" y="T7"/>
                </a:cxn>
                <a:cxn ang="T14">
                  <a:pos x="T8" y="T9"/>
                </a:cxn>
              </a:cxnLst>
              <a:rect l="T15" t="T16" r="T17" b="T18"/>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5" name="Freeform 83">
              <a:extLst>
                <a:ext uri="{FF2B5EF4-FFF2-40B4-BE49-F238E27FC236}">
                  <a16:creationId xmlns:a16="http://schemas.microsoft.com/office/drawing/2014/main" id="{C8129BE9-8428-439D-A7A6-C7CC4FFFECD9}"/>
                </a:ext>
              </a:extLst>
            </p:cNvPr>
            <p:cNvSpPr>
              <a:spLocks noChangeArrowheads="1"/>
            </p:cNvSpPr>
            <p:nvPr/>
          </p:nvSpPr>
          <p:spPr bwMode="auto">
            <a:xfrm>
              <a:off x="2750" y="93"/>
              <a:ext cx="162" cy="101"/>
            </a:xfrm>
            <a:custGeom>
              <a:avLst/>
              <a:gdLst>
                <a:gd name="T0" fmla="*/ 11 w 189"/>
                <a:gd name="T1" fmla="*/ 1 h 144"/>
                <a:gd name="T2" fmla="*/ 11 w 189"/>
                <a:gd name="T3" fmla="*/ 1 h 144"/>
                <a:gd name="T4" fmla="*/ 11 w 189"/>
                <a:gd name="T5" fmla="*/ 1 h 144"/>
                <a:gd name="T6" fmla="*/ 11 w 189"/>
                <a:gd name="T7" fmla="*/ 1 h 144"/>
                <a:gd name="T8" fmla="*/ 8 w 189"/>
                <a:gd name="T9" fmla="*/ 1 h 144"/>
                <a:gd name="T10" fmla="*/ 7 w 189"/>
                <a:gd name="T11" fmla="*/ 1 h 144"/>
                <a:gd name="T12" fmla="*/ 6 w 189"/>
                <a:gd name="T13" fmla="*/ 1 h 144"/>
                <a:gd name="T14" fmla="*/ 4 w 189"/>
                <a:gd name="T15" fmla="*/ 1 h 144"/>
                <a:gd name="T16" fmla="*/ 4 w 189"/>
                <a:gd name="T17" fmla="*/ 1 h 144"/>
                <a:gd name="T18" fmla="*/ 5 w 189"/>
                <a:gd name="T19" fmla="*/ 1 h 144"/>
                <a:gd name="T20" fmla="*/ 7 w 189"/>
                <a:gd name="T21" fmla="*/ 1 h 144"/>
                <a:gd name="T22" fmla="*/ 6 w 189"/>
                <a:gd name="T23" fmla="*/ 1 h 144"/>
                <a:gd name="T24" fmla="*/ 5 w 189"/>
                <a:gd name="T25" fmla="*/ 1 h 144"/>
                <a:gd name="T26" fmla="*/ 4 w 189"/>
                <a:gd name="T27" fmla="*/ 1 h 144"/>
                <a:gd name="T28" fmla="*/ 3 w 189"/>
                <a:gd name="T29" fmla="*/ 1 h 144"/>
                <a:gd name="T30" fmla="*/ 3 w 189"/>
                <a:gd name="T31" fmla="*/ 1 h 144"/>
                <a:gd name="T32" fmla="*/ 3 w 189"/>
                <a:gd name="T33" fmla="*/ 1 h 144"/>
                <a:gd name="T34" fmla="*/ 3 w 189"/>
                <a:gd name="T35" fmla="*/ 1 h 144"/>
                <a:gd name="T36" fmla="*/ 3 w 189"/>
                <a:gd name="T37" fmla="*/ 1 h 144"/>
                <a:gd name="T38" fmla="*/ 4 w 189"/>
                <a:gd name="T39" fmla="*/ 1 h 144"/>
                <a:gd name="T40" fmla="*/ 6 w 189"/>
                <a:gd name="T41" fmla="*/ 1 h 144"/>
                <a:gd name="T42" fmla="*/ 7 w 189"/>
                <a:gd name="T43" fmla="*/ 1 h 144"/>
                <a:gd name="T44" fmla="*/ 11 w 189"/>
                <a:gd name="T45" fmla="*/ 1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9"/>
                <a:gd name="T70" fmla="*/ 0 h 144"/>
                <a:gd name="T71" fmla="*/ 189 w 189"/>
                <a:gd name="T72" fmla="*/ 144 h 1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6" name="Freeform 84">
              <a:extLst>
                <a:ext uri="{FF2B5EF4-FFF2-40B4-BE49-F238E27FC236}">
                  <a16:creationId xmlns:a16="http://schemas.microsoft.com/office/drawing/2014/main" id="{75470141-5716-4F99-80E6-A3125094E577}"/>
                </a:ext>
              </a:extLst>
            </p:cNvPr>
            <p:cNvSpPr>
              <a:spLocks noChangeArrowheads="1"/>
            </p:cNvSpPr>
            <p:nvPr/>
          </p:nvSpPr>
          <p:spPr bwMode="auto">
            <a:xfrm>
              <a:off x="2847" y="191"/>
              <a:ext cx="46" cy="11"/>
            </a:xfrm>
            <a:custGeom>
              <a:avLst/>
              <a:gdLst>
                <a:gd name="T0" fmla="*/ 3 w 53"/>
                <a:gd name="T1" fmla="*/ 0 h 17"/>
                <a:gd name="T2" fmla="*/ 3 w 53"/>
                <a:gd name="T3" fmla="*/ 1 h 17"/>
                <a:gd name="T4" fmla="*/ 3 w 53"/>
                <a:gd name="T5" fmla="*/ 1 h 17"/>
                <a:gd name="T6" fmla="*/ 3 w 53"/>
                <a:gd name="T7" fmla="*/ 1 h 17"/>
                <a:gd name="T8" fmla="*/ 3 w 53"/>
                <a:gd name="T9" fmla="*/ 0 h 17"/>
                <a:gd name="T10" fmla="*/ 0 60000 65536"/>
                <a:gd name="T11" fmla="*/ 0 60000 65536"/>
                <a:gd name="T12" fmla="*/ 0 60000 65536"/>
                <a:gd name="T13" fmla="*/ 0 60000 65536"/>
                <a:gd name="T14" fmla="*/ 0 60000 65536"/>
                <a:gd name="T15" fmla="*/ 0 w 53"/>
                <a:gd name="T16" fmla="*/ 0 h 17"/>
                <a:gd name="T17" fmla="*/ 53 w 53"/>
                <a:gd name="T18" fmla="*/ 17 h 17"/>
              </a:gdLst>
              <a:ahLst/>
              <a:cxnLst>
                <a:cxn ang="T10">
                  <a:pos x="T0" y="T1"/>
                </a:cxn>
                <a:cxn ang="T11">
                  <a:pos x="T2" y="T3"/>
                </a:cxn>
                <a:cxn ang="T12">
                  <a:pos x="T4" y="T5"/>
                </a:cxn>
                <a:cxn ang="T13">
                  <a:pos x="T6" y="T7"/>
                </a:cxn>
                <a:cxn ang="T14">
                  <a:pos x="T8" y="T9"/>
                </a:cxn>
              </a:cxnLst>
              <a:rect l="T15" t="T16" r="T17" b="T18"/>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7" name="Freeform 85">
              <a:extLst>
                <a:ext uri="{FF2B5EF4-FFF2-40B4-BE49-F238E27FC236}">
                  <a16:creationId xmlns:a16="http://schemas.microsoft.com/office/drawing/2014/main" id="{BA37F801-7E2E-4A97-8A15-C3599D9FF566}"/>
                </a:ext>
              </a:extLst>
            </p:cNvPr>
            <p:cNvSpPr>
              <a:spLocks noChangeArrowheads="1"/>
            </p:cNvSpPr>
            <p:nvPr/>
          </p:nvSpPr>
          <p:spPr bwMode="auto">
            <a:xfrm>
              <a:off x="3082" y="45"/>
              <a:ext cx="49" cy="26"/>
            </a:xfrm>
            <a:custGeom>
              <a:avLst/>
              <a:gdLst>
                <a:gd name="T0" fmla="*/ 3 w 57"/>
                <a:gd name="T1" fmla="*/ 1 h 37"/>
                <a:gd name="T2" fmla="*/ 3 w 57"/>
                <a:gd name="T3" fmla="*/ 1 h 37"/>
                <a:gd name="T4" fmla="*/ 3 w 57"/>
                <a:gd name="T5" fmla="*/ 1 h 37"/>
                <a:gd name="T6" fmla="*/ 3 w 57"/>
                <a:gd name="T7" fmla="*/ 1 h 37"/>
                <a:gd name="T8" fmla="*/ 3 w 57"/>
                <a:gd name="T9" fmla="*/ 0 h 37"/>
                <a:gd name="T10" fmla="*/ 3 w 57"/>
                <a:gd name="T11" fmla="*/ 1 h 37"/>
                <a:gd name="T12" fmla="*/ 0 60000 65536"/>
                <a:gd name="T13" fmla="*/ 0 60000 65536"/>
                <a:gd name="T14" fmla="*/ 0 60000 65536"/>
                <a:gd name="T15" fmla="*/ 0 60000 65536"/>
                <a:gd name="T16" fmla="*/ 0 60000 65536"/>
                <a:gd name="T17" fmla="*/ 0 60000 65536"/>
                <a:gd name="T18" fmla="*/ 0 w 57"/>
                <a:gd name="T19" fmla="*/ 0 h 37"/>
                <a:gd name="T20" fmla="*/ 57 w 57"/>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8" name="Freeform 86">
              <a:extLst>
                <a:ext uri="{FF2B5EF4-FFF2-40B4-BE49-F238E27FC236}">
                  <a16:creationId xmlns:a16="http://schemas.microsoft.com/office/drawing/2014/main" id="{D1C32B49-E212-4010-B189-80E63560BE39}"/>
                </a:ext>
              </a:extLst>
            </p:cNvPr>
            <p:cNvSpPr>
              <a:spLocks noChangeArrowheads="1"/>
            </p:cNvSpPr>
            <p:nvPr/>
          </p:nvSpPr>
          <p:spPr bwMode="auto">
            <a:xfrm>
              <a:off x="3117" y="57"/>
              <a:ext cx="58" cy="19"/>
            </a:xfrm>
            <a:custGeom>
              <a:avLst/>
              <a:gdLst>
                <a:gd name="T0" fmla="*/ 3 w 68"/>
                <a:gd name="T1" fmla="*/ 0 h 26"/>
                <a:gd name="T2" fmla="*/ 3 w 68"/>
                <a:gd name="T3" fmla="*/ 1 h 26"/>
                <a:gd name="T4" fmla="*/ 3 w 68"/>
                <a:gd name="T5" fmla="*/ 1 h 26"/>
                <a:gd name="T6" fmla="*/ 3 w 68"/>
                <a:gd name="T7" fmla="*/ 1 h 26"/>
                <a:gd name="T8" fmla="*/ 3 w 68"/>
                <a:gd name="T9" fmla="*/ 0 h 26"/>
                <a:gd name="T10" fmla="*/ 0 60000 65536"/>
                <a:gd name="T11" fmla="*/ 0 60000 65536"/>
                <a:gd name="T12" fmla="*/ 0 60000 65536"/>
                <a:gd name="T13" fmla="*/ 0 60000 65536"/>
                <a:gd name="T14" fmla="*/ 0 60000 65536"/>
                <a:gd name="T15" fmla="*/ 0 w 68"/>
                <a:gd name="T16" fmla="*/ 0 h 26"/>
                <a:gd name="T17" fmla="*/ 68 w 68"/>
                <a:gd name="T18" fmla="*/ 26 h 26"/>
              </a:gdLst>
              <a:ahLst/>
              <a:cxnLst>
                <a:cxn ang="T10">
                  <a:pos x="T0" y="T1"/>
                </a:cxn>
                <a:cxn ang="T11">
                  <a:pos x="T2" y="T3"/>
                </a:cxn>
                <a:cxn ang="T12">
                  <a:pos x="T4" y="T5"/>
                </a:cxn>
                <a:cxn ang="T13">
                  <a:pos x="T6" y="T7"/>
                </a:cxn>
                <a:cxn ang="T14">
                  <a:pos x="T8" y="T9"/>
                </a:cxn>
              </a:cxnLst>
              <a:rect l="T15" t="T16" r="T17" b="T18"/>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89" name="Freeform 87">
              <a:extLst>
                <a:ext uri="{FF2B5EF4-FFF2-40B4-BE49-F238E27FC236}">
                  <a16:creationId xmlns:a16="http://schemas.microsoft.com/office/drawing/2014/main" id="{CD9BF87E-F3F2-4BED-971C-A05C78DD3A08}"/>
                </a:ext>
              </a:extLst>
            </p:cNvPr>
            <p:cNvSpPr>
              <a:spLocks noChangeArrowheads="1"/>
            </p:cNvSpPr>
            <p:nvPr/>
          </p:nvSpPr>
          <p:spPr bwMode="auto">
            <a:xfrm>
              <a:off x="3179" y="60"/>
              <a:ext cx="58" cy="30"/>
            </a:xfrm>
            <a:custGeom>
              <a:avLst/>
              <a:gdLst>
                <a:gd name="T0" fmla="*/ 5 w 66"/>
                <a:gd name="T1" fmla="*/ 1 h 43"/>
                <a:gd name="T2" fmla="*/ 4 w 66"/>
                <a:gd name="T3" fmla="*/ 1 h 43"/>
                <a:gd name="T4" fmla="*/ 4 w 66"/>
                <a:gd name="T5" fmla="*/ 1 h 43"/>
                <a:gd name="T6" fmla="*/ 4 w 66"/>
                <a:gd name="T7" fmla="*/ 1 h 43"/>
                <a:gd name="T8" fmla="*/ 4 w 66"/>
                <a:gd name="T9" fmla="*/ 1 h 43"/>
                <a:gd name="T10" fmla="*/ 6 w 66"/>
                <a:gd name="T11" fmla="*/ 1 h 43"/>
                <a:gd name="T12" fmla="*/ 5 w 66"/>
                <a:gd name="T13" fmla="*/ 1 h 43"/>
                <a:gd name="T14" fmla="*/ 0 60000 65536"/>
                <a:gd name="T15" fmla="*/ 0 60000 65536"/>
                <a:gd name="T16" fmla="*/ 0 60000 65536"/>
                <a:gd name="T17" fmla="*/ 0 60000 65536"/>
                <a:gd name="T18" fmla="*/ 0 60000 65536"/>
                <a:gd name="T19" fmla="*/ 0 60000 65536"/>
                <a:gd name="T20" fmla="*/ 0 60000 65536"/>
                <a:gd name="T21" fmla="*/ 0 w 66"/>
                <a:gd name="T22" fmla="*/ 0 h 43"/>
                <a:gd name="T23" fmla="*/ 66 w 66"/>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0" name="Freeform 88">
              <a:extLst>
                <a:ext uri="{FF2B5EF4-FFF2-40B4-BE49-F238E27FC236}">
                  <a16:creationId xmlns:a16="http://schemas.microsoft.com/office/drawing/2014/main" id="{DAA5DE9E-D7DA-4D9D-8A58-0097B41E8F37}"/>
                </a:ext>
              </a:extLst>
            </p:cNvPr>
            <p:cNvSpPr>
              <a:spLocks noChangeArrowheads="1"/>
            </p:cNvSpPr>
            <p:nvPr/>
          </p:nvSpPr>
          <p:spPr bwMode="auto">
            <a:xfrm>
              <a:off x="3581" y="85"/>
              <a:ext cx="101" cy="29"/>
            </a:xfrm>
            <a:custGeom>
              <a:avLst/>
              <a:gdLst>
                <a:gd name="T0" fmla="*/ 3 w 117"/>
                <a:gd name="T1" fmla="*/ 0 h 41"/>
                <a:gd name="T2" fmla="*/ 3 w 117"/>
                <a:gd name="T3" fmla="*/ 1 h 41"/>
                <a:gd name="T4" fmla="*/ 3 w 117"/>
                <a:gd name="T5" fmla="*/ 1 h 41"/>
                <a:gd name="T6" fmla="*/ 5 w 117"/>
                <a:gd name="T7" fmla="*/ 1 h 41"/>
                <a:gd name="T8" fmla="*/ 8 w 117"/>
                <a:gd name="T9" fmla="*/ 1 h 41"/>
                <a:gd name="T10" fmla="*/ 6 w 117"/>
                <a:gd name="T11" fmla="*/ 1 h 41"/>
                <a:gd name="T12" fmla="*/ 3 w 117"/>
                <a:gd name="T13" fmla="*/ 0 h 41"/>
                <a:gd name="T14" fmla="*/ 0 60000 65536"/>
                <a:gd name="T15" fmla="*/ 0 60000 65536"/>
                <a:gd name="T16" fmla="*/ 0 60000 65536"/>
                <a:gd name="T17" fmla="*/ 0 60000 65536"/>
                <a:gd name="T18" fmla="*/ 0 60000 65536"/>
                <a:gd name="T19" fmla="*/ 0 60000 65536"/>
                <a:gd name="T20" fmla="*/ 0 60000 65536"/>
                <a:gd name="T21" fmla="*/ 0 w 117"/>
                <a:gd name="T22" fmla="*/ 0 h 41"/>
                <a:gd name="T23" fmla="*/ 117 w 117"/>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1" name="Freeform 89">
              <a:extLst>
                <a:ext uri="{FF2B5EF4-FFF2-40B4-BE49-F238E27FC236}">
                  <a16:creationId xmlns:a16="http://schemas.microsoft.com/office/drawing/2014/main" id="{352FBB2F-4FC7-4EB4-9361-75F84D4FDED3}"/>
                </a:ext>
              </a:extLst>
            </p:cNvPr>
            <p:cNvSpPr>
              <a:spLocks noChangeArrowheads="1"/>
            </p:cNvSpPr>
            <p:nvPr/>
          </p:nvSpPr>
          <p:spPr bwMode="auto">
            <a:xfrm>
              <a:off x="3684" y="84"/>
              <a:ext cx="53" cy="23"/>
            </a:xfrm>
            <a:custGeom>
              <a:avLst/>
              <a:gdLst>
                <a:gd name="T0" fmla="*/ 3 w 62"/>
                <a:gd name="T1" fmla="*/ 1 h 32"/>
                <a:gd name="T2" fmla="*/ 3 w 62"/>
                <a:gd name="T3" fmla="*/ 1 h 32"/>
                <a:gd name="T4" fmla="*/ 3 w 62"/>
                <a:gd name="T5" fmla="*/ 1 h 32"/>
                <a:gd name="T6" fmla="*/ 3 w 62"/>
                <a:gd name="T7" fmla="*/ 1 h 32"/>
                <a:gd name="T8" fmla="*/ 3 w 62"/>
                <a:gd name="T9" fmla="*/ 1 h 32"/>
                <a:gd name="T10" fmla="*/ 0 60000 65536"/>
                <a:gd name="T11" fmla="*/ 0 60000 65536"/>
                <a:gd name="T12" fmla="*/ 0 60000 65536"/>
                <a:gd name="T13" fmla="*/ 0 60000 65536"/>
                <a:gd name="T14" fmla="*/ 0 60000 65536"/>
                <a:gd name="T15" fmla="*/ 0 w 62"/>
                <a:gd name="T16" fmla="*/ 0 h 32"/>
                <a:gd name="T17" fmla="*/ 62 w 62"/>
                <a:gd name="T18" fmla="*/ 32 h 32"/>
              </a:gdLst>
              <a:ahLst/>
              <a:cxnLst>
                <a:cxn ang="T10">
                  <a:pos x="T0" y="T1"/>
                </a:cxn>
                <a:cxn ang="T11">
                  <a:pos x="T2" y="T3"/>
                </a:cxn>
                <a:cxn ang="T12">
                  <a:pos x="T4" y="T5"/>
                </a:cxn>
                <a:cxn ang="T13">
                  <a:pos x="T6" y="T7"/>
                </a:cxn>
                <a:cxn ang="T14">
                  <a:pos x="T8" y="T9"/>
                </a:cxn>
              </a:cxnLst>
              <a:rect l="T15" t="T16" r="T17" b="T18"/>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2" name="Freeform 90">
              <a:extLst>
                <a:ext uri="{FF2B5EF4-FFF2-40B4-BE49-F238E27FC236}">
                  <a16:creationId xmlns:a16="http://schemas.microsoft.com/office/drawing/2014/main" id="{32747161-7AEF-4382-8ABE-797E12A2D867}"/>
                </a:ext>
              </a:extLst>
            </p:cNvPr>
            <p:cNvSpPr>
              <a:spLocks noChangeArrowheads="1"/>
            </p:cNvSpPr>
            <p:nvPr/>
          </p:nvSpPr>
          <p:spPr bwMode="auto">
            <a:xfrm>
              <a:off x="3660" y="111"/>
              <a:ext cx="42" cy="16"/>
            </a:xfrm>
            <a:custGeom>
              <a:avLst/>
              <a:gdLst>
                <a:gd name="T0" fmla="*/ 3 w 49"/>
                <a:gd name="T1" fmla="*/ 1 h 23"/>
                <a:gd name="T2" fmla="*/ 3 w 49"/>
                <a:gd name="T3" fmla="*/ 1 h 23"/>
                <a:gd name="T4" fmla="*/ 3 w 49"/>
                <a:gd name="T5" fmla="*/ 1 h 23"/>
                <a:gd name="T6" fmla="*/ 3 w 49"/>
                <a:gd name="T7" fmla="*/ 1 h 23"/>
                <a:gd name="T8" fmla="*/ 0 60000 65536"/>
                <a:gd name="T9" fmla="*/ 0 60000 65536"/>
                <a:gd name="T10" fmla="*/ 0 60000 65536"/>
                <a:gd name="T11" fmla="*/ 0 60000 65536"/>
                <a:gd name="T12" fmla="*/ 0 w 49"/>
                <a:gd name="T13" fmla="*/ 0 h 23"/>
                <a:gd name="T14" fmla="*/ 49 w 49"/>
                <a:gd name="T15" fmla="*/ 23 h 23"/>
              </a:gdLst>
              <a:ahLst/>
              <a:cxnLst>
                <a:cxn ang="T8">
                  <a:pos x="T0" y="T1"/>
                </a:cxn>
                <a:cxn ang="T9">
                  <a:pos x="T2" y="T3"/>
                </a:cxn>
                <a:cxn ang="T10">
                  <a:pos x="T4" y="T5"/>
                </a:cxn>
                <a:cxn ang="T11">
                  <a:pos x="T6" y="T7"/>
                </a:cxn>
              </a:cxnLst>
              <a:rect l="T12" t="T13" r="T14" b="T15"/>
              <a:pathLst>
                <a:path w="49" h="23">
                  <a:moveTo>
                    <a:pt x="20" y="1"/>
                  </a:moveTo>
                  <a:cubicBezTo>
                    <a:pt x="15" y="2"/>
                    <a:pt x="8" y="0"/>
                    <a:pt x="6" y="5"/>
                  </a:cubicBezTo>
                  <a:cubicBezTo>
                    <a:pt x="0" y="19"/>
                    <a:pt x="32" y="21"/>
                    <a:pt x="38" y="23"/>
                  </a:cubicBezTo>
                  <a:cubicBezTo>
                    <a:pt x="49" y="6"/>
                    <a:pt x="35" y="3"/>
                    <a:pt x="20" y="1"/>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3" name="Freeform 91">
              <a:extLst>
                <a:ext uri="{FF2B5EF4-FFF2-40B4-BE49-F238E27FC236}">
                  <a16:creationId xmlns:a16="http://schemas.microsoft.com/office/drawing/2014/main" id="{05561972-F8DB-4248-9317-94FB2D6D64CE}"/>
                </a:ext>
              </a:extLst>
            </p:cNvPr>
            <p:cNvSpPr>
              <a:spLocks noChangeArrowheads="1"/>
            </p:cNvSpPr>
            <p:nvPr/>
          </p:nvSpPr>
          <p:spPr bwMode="auto">
            <a:xfrm>
              <a:off x="3950" y="321"/>
              <a:ext cx="87" cy="106"/>
            </a:xfrm>
            <a:custGeom>
              <a:avLst/>
              <a:gdLst>
                <a:gd name="T0" fmla="*/ 3 w 102"/>
                <a:gd name="T1" fmla="*/ 0 h 152"/>
                <a:gd name="T2" fmla="*/ 0 w 102"/>
                <a:gd name="T3" fmla="*/ 1 h 152"/>
                <a:gd name="T4" fmla="*/ 3 w 102"/>
                <a:gd name="T5" fmla="*/ 1 h 152"/>
                <a:gd name="T6" fmla="*/ 3 w 102"/>
                <a:gd name="T7" fmla="*/ 1 h 152"/>
                <a:gd name="T8" fmla="*/ 3 w 102"/>
                <a:gd name="T9" fmla="*/ 1 h 152"/>
                <a:gd name="T10" fmla="*/ 5 w 102"/>
                <a:gd name="T11" fmla="*/ 1 h 152"/>
                <a:gd name="T12" fmla="*/ 5 w 102"/>
                <a:gd name="T13" fmla="*/ 1 h 152"/>
                <a:gd name="T14" fmla="*/ 4 w 102"/>
                <a:gd name="T15" fmla="*/ 1 h 152"/>
                <a:gd name="T16" fmla="*/ 3 w 102"/>
                <a:gd name="T17" fmla="*/ 1 h 152"/>
                <a:gd name="T18" fmla="*/ 3 w 102"/>
                <a:gd name="T19" fmla="*/ 1 h 152"/>
                <a:gd name="T20" fmla="*/ 3 w 102"/>
                <a:gd name="T21" fmla="*/ 1 h 152"/>
                <a:gd name="T22" fmla="*/ 3 w 102"/>
                <a:gd name="T23" fmla="*/ 1 h 152"/>
                <a:gd name="T24" fmla="*/ 3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2"/>
                <a:gd name="T40" fmla="*/ 0 h 152"/>
                <a:gd name="T41" fmla="*/ 102 w 102"/>
                <a:gd name="T42" fmla="*/ 152 h 1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4" name="Freeform 92">
              <a:extLst>
                <a:ext uri="{FF2B5EF4-FFF2-40B4-BE49-F238E27FC236}">
                  <a16:creationId xmlns:a16="http://schemas.microsoft.com/office/drawing/2014/main" id="{F5AEBC64-F7DA-4C0B-9B27-A7DB17DD30B5}"/>
                </a:ext>
              </a:extLst>
            </p:cNvPr>
            <p:cNvSpPr>
              <a:spLocks noChangeArrowheads="1"/>
            </p:cNvSpPr>
            <p:nvPr/>
          </p:nvSpPr>
          <p:spPr bwMode="auto">
            <a:xfrm>
              <a:off x="4020" y="431"/>
              <a:ext cx="63" cy="73"/>
            </a:xfrm>
            <a:custGeom>
              <a:avLst/>
              <a:gdLst>
                <a:gd name="T0" fmla="*/ 3 w 74"/>
                <a:gd name="T1" fmla="*/ 1 h 103"/>
                <a:gd name="T2" fmla="*/ 4 w 74"/>
                <a:gd name="T3" fmla="*/ 1 h 103"/>
                <a:gd name="T4" fmla="*/ 3 w 74"/>
                <a:gd name="T5" fmla="*/ 1 h 103"/>
                <a:gd name="T6" fmla="*/ 3 w 74"/>
                <a:gd name="T7" fmla="*/ 1 h 103"/>
                <a:gd name="T8" fmla="*/ 3 w 74"/>
                <a:gd name="T9" fmla="*/ 1 h 103"/>
                <a:gd name="T10" fmla="*/ 3 w 74"/>
                <a:gd name="T11" fmla="*/ 1 h 103"/>
                <a:gd name="T12" fmla="*/ 0 w 74"/>
                <a:gd name="T13" fmla="*/ 1 h 103"/>
                <a:gd name="T14" fmla="*/ 3 w 74"/>
                <a:gd name="T15" fmla="*/ 1 h 103"/>
                <a:gd name="T16" fmla="*/ 3 w 74"/>
                <a:gd name="T17" fmla="*/ 1 h 103"/>
                <a:gd name="T18" fmla="*/ 2 w 74"/>
                <a:gd name="T19" fmla="*/ 1 h 103"/>
                <a:gd name="T20" fmla="*/ 3 w 74"/>
                <a:gd name="T21" fmla="*/ 1 h 103"/>
                <a:gd name="T22" fmla="*/ 3 w 74"/>
                <a:gd name="T23" fmla="*/ 1 h 103"/>
                <a:gd name="T24" fmla="*/ 3 w 74"/>
                <a:gd name="T25" fmla="*/ 1 h 103"/>
                <a:gd name="T26" fmla="*/ 3 w 74"/>
                <a:gd name="T27" fmla="*/ 1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4"/>
                <a:gd name="T43" fmla="*/ 0 h 103"/>
                <a:gd name="T44" fmla="*/ 74 w 74"/>
                <a:gd name="T45" fmla="*/ 103 h 1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5" name="Freeform 93">
              <a:extLst>
                <a:ext uri="{FF2B5EF4-FFF2-40B4-BE49-F238E27FC236}">
                  <a16:creationId xmlns:a16="http://schemas.microsoft.com/office/drawing/2014/main" id="{07EF6796-AB11-4CFA-974F-55EEFCD9BD27}"/>
                </a:ext>
              </a:extLst>
            </p:cNvPr>
            <p:cNvSpPr>
              <a:spLocks noChangeArrowheads="1"/>
            </p:cNvSpPr>
            <p:nvPr/>
          </p:nvSpPr>
          <p:spPr bwMode="auto">
            <a:xfrm>
              <a:off x="3978" y="506"/>
              <a:ext cx="126" cy="176"/>
            </a:xfrm>
            <a:custGeom>
              <a:avLst/>
              <a:gdLst>
                <a:gd name="T0" fmla="*/ 6 w 146"/>
                <a:gd name="T1" fmla="*/ 1 h 252"/>
                <a:gd name="T2" fmla="*/ 4 w 146"/>
                <a:gd name="T3" fmla="*/ 1 h 252"/>
                <a:gd name="T4" fmla="*/ 4 w 146"/>
                <a:gd name="T5" fmla="*/ 1 h 252"/>
                <a:gd name="T6" fmla="*/ 3 w 146"/>
                <a:gd name="T7" fmla="*/ 1 h 252"/>
                <a:gd name="T8" fmla="*/ 3 w 146"/>
                <a:gd name="T9" fmla="*/ 1 h 252"/>
                <a:gd name="T10" fmla="*/ 3 w 146"/>
                <a:gd name="T11" fmla="*/ 1 h 252"/>
                <a:gd name="T12" fmla="*/ 3 w 146"/>
                <a:gd name="T13" fmla="*/ 1 h 252"/>
                <a:gd name="T14" fmla="*/ 3 w 146"/>
                <a:gd name="T15" fmla="*/ 1 h 252"/>
                <a:gd name="T16" fmla="*/ 3 w 146"/>
                <a:gd name="T17" fmla="*/ 1 h 252"/>
                <a:gd name="T18" fmla="*/ 3 w 146"/>
                <a:gd name="T19" fmla="*/ 1 h 252"/>
                <a:gd name="T20" fmla="*/ 3 w 146"/>
                <a:gd name="T21" fmla="*/ 1 h 252"/>
                <a:gd name="T22" fmla="*/ 3 w 146"/>
                <a:gd name="T23" fmla="*/ 1 h 252"/>
                <a:gd name="T24" fmla="*/ 4 w 146"/>
                <a:gd name="T25" fmla="*/ 1 h 252"/>
                <a:gd name="T26" fmla="*/ 3 w 146"/>
                <a:gd name="T27" fmla="*/ 1 h 252"/>
                <a:gd name="T28" fmla="*/ 3 w 146"/>
                <a:gd name="T29" fmla="*/ 1 h 252"/>
                <a:gd name="T30" fmla="*/ 5 w 146"/>
                <a:gd name="T31" fmla="*/ 1 h 252"/>
                <a:gd name="T32" fmla="*/ 6 w 146"/>
                <a:gd name="T33" fmla="*/ 1 h 252"/>
                <a:gd name="T34" fmla="*/ 8 w 146"/>
                <a:gd name="T35" fmla="*/ 1 h 252"/>
                <a:gd name="T36" fmla="*/ 8 w 146"/>
                <a:gd name="T37" fmla="*/ 1 h 252"/>
                <a:gd name="T38" fmla="*/ 9 w 146"/>
                <a:gd name="T39" fmla="*/ 1 h 252"/>
                <a:gd name="T40" fmla="*/ 10 w 146"/>
                <a:gd name="T41" fmla="*/ 1 h 252"/>
                <a:gd name="T42" fmla="*/ 10 w 146"/>
                <a:gd name="T43" fmla="*/ 1 h 252"/>
                <a:gd name="T44" fmla="*/ 9 w 146"/>
                <a:gd name="T45" fmla="*/ 1 h 252"/>
                <a:gd name="T46" fmla="*/ 9 w 146"/>
                <a:gd name="T47" fmla="*/ 1 h 252"/>
                <a:gd name="T48" fmla="*/ 7 w 146"/>
                <a:gd name="T49" fmla="*/ 0 h 252"/>
                <a:gd name="T50" fmla="*/ 6 w 146"/>
                <a:gd name="T51" fmla="*/ 1 h 252"/>
                <a:gd name="T52" fmla="*/ 7 w 146"/>
                <a:gd name="T53" fmla="*/ 1 h 252"/>
                <a:gd name="T54" fmla="*/ 7 w 146"/>
                <a:gd name="T55" fmla="*/ 1 h 252"/>
                <a:gd name="T56" fmla="*/ 6 w 146"/>
                <a:gd name="T57" fmla="*/ 1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6"/>
                <a:gd name="T88" fmla="*/ 0 h 252"/>
                <a:gd name="T89" fmla="*/ 146 w 146"/>
                <a:gd name="T90" fmla="*/ 252 h 2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6" name="Freeform 94">
              <a:extLst>
                <a:ext uri="{FF2B5EF4-FFF2-40B4-BE49-F238E27FC236}">
                  <a16:creationId xmlns:a16="http://schemas.microsoft.com/office/drawing/2014/main" id="{8E48D9D6-8CB8-4E89-AAF9-97E8604956F7}"/>
                </a:ext>
              </a:extLst>
            </p:cNvPr>
            <p:cNvSpPr>
              <a:spLocks noChangeArrowheads="1"/>
            </p:cNvSpPr>
            <p:nvPr/>
          </p:nvSpPr>
          <p:spPr bwMode="auto">
            <a:xfrm>
              <a:off x="2758" y="35"/>
              <a:ext cx="60" cy="28"/>
            </a:xfrm>
            <a:custGeom>
              <a:avLst/>
              <a:gdLst>
                <a:gd name="T0" fmla="*/ 3 w 70"/>
                <a:gd name="T1" fmla="*/ 0 h 40"/>
                <a:gd name="T2" fmla="*/ 4 w 70"/>
                <a:gd name="T3" fmla="*/ 1 h 40"/>
                <a:gd name="T4" fmla="*/ 3 w 70"/>
                <a:gd name="T5" fmla="*/ 1 h 40"/>
                <a:gd name="T6" fmla="*/ 3 w 70"/>
                <a:gd name="T7" fmla="*/ 1 h 40"/>
                <a:gd name="T8" fmla="*/ 3 w 70"/>
                <a:gd name="T9" fmla="*/ 1 h 40"/>
                <a:gd name="T10" fmla="*/ 1 w 70"/>
                <a:gd name="T11" fmla="*/ 1 h 40"/>
                <a:gd name="T12" fmla="*/ 3 w 70"/>
                <a:gd name="T13" fmla="*/ 1 h 40"/>
                <a:gd name="T14" fmla="*/ 3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
                <a:gd name="T25" fmla="*/ 0 h 40"/>
                <a:gd name="T26" fmla="*/ 70 w 70"/>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7" name="Freeform 95">
              <a:extLst>
                <a:ext uri="{FF2B5EF4-FFF2-40B4-BE49-F238E27FC236}">
                  <a16:creationId xmlns:a16="http://schemas.microsoft.com/office/drawing/2014/main" id="{FC363AE8-76A0-4BDD-9BA6-095742697674}"/>
                </a:ext>
              </a:extLst>
            </p:cNvPr>
            <p:cNvSpPr>
              <a:spLocks noChangeArrowheads="1"/>
            </p:cNvSpPr>
            <p:nvPr/>
          </p:nvSpPr>
          <p:spPr bwMode="auto">
            <a:xfrm>
              <a:off x="2635" y="43"/>
              <a:ext cx="22" cy="21"/>
            </a:xfrm>
            <a:custGeom>
              <a:avLst/>
              <a:gdLst>
                <a:gd name="T0" fmla="*/ 3 w 26"/>
                <a:gd name="T1" fmla="*/ 0 h 29"/>
                <a:gd name="T2" fmla="*/ 0 w 26"/>
                <a:gd name="T3" fmla="*/ 1 h 29"/>
                <a:gd name="T4" fmla="*/ 3 w 26"/>
                <a:gd name="T5" fmla="*/ 1 h 29"/>
                <a:gd name="T6" fmla="*/ 3 w 26"/>
                <a:gd name="T7" fmla="*/ 0 h 29"/>
                <a:gd name="T8" fmla="*/ 0 60000 65536"/>
                <a:gd name="T9" fmla="*/ 0 60000 65536"/>
                <a:gd name="T10" fmla="*/ 0 60000 65536"/>
                <a:gd name="T11" fmla="*/ 0 60000 65536"/>
                <a:gd name="T12" fmla="*/ 0 w 26"/>
                <a:gd name="T13" fmla="*/ 0 h 29"/>
                <a:gd name="T14" fmla="*/ 26 w 26"/>
                <a:gd name="T15" fmla="*/ 29 h 29"/>
              </a:gdLst>
              <a:ahLst/>
              <a:cxnLst>
                <a:cxn ang="T8">
                  <a:pos x="T0" y="T1"/>
                </a:cxn>
                <a:cxn ang="T9">
                  <a:pos x="T2" y="T3"/>
                </a:cxn>
                <a:cxn ang="T10">
                  <a:pos x="T4" y="T5"/>
                </a:cxn>
                <a:cxn ang="T11">
                  <a:pos x="T6" y="T7"/>
                </a:cxn>
              </a:cxnLst>
              <a:rect l="T12" t="T13" r="T14" b="T15"/>
              <a:pathLst>
                <a:path w="26" h="29">
                  <a:moveTo>
                    <a:pt x="18" y="0"/>
                  </a:moveTo>
                  <a:cubicBezTo>
                    <a:pt x="9" y="6"/>
                    <a:pt x="4" y="7"/>
                    <a:pt x="0" y="18"/>
                  </a:cubicBezTo>
                  <a:cubicBezTo>
                    <a:pt x="7" y="25"/>
                    <a:pt x="9" y="29"/>
                    <a:pt x="18" y="26"/>
                  </a:cubicBezTo>
                  <a:cubicBezTo>
                    <a:pt x="22" y="14"/>
                    <a:pt x="26" y="12"/>
                    <a:pt x="18"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8" name="Freeform 96">
              <a:extLst>
                <a:ext uri="{FF2B5EF4-FFF2-40B4-BE49-F238E27FC236}">
                  <a16:creationId xmlns:a16="http://schemas.microsoft.com/office/drawing/2014/main" id="{E1408780-51A1-4ECC-B073-C663CD98E1CB}"/>
                </a:ext>
              </a:extLst>
            </p:cNvPr>
            <p:cNvSpPr>
              <a:spLocks noChangeArrowheads="1"/>
            </p:cNvSpPr>
            <p:nvPr/>
          </p:nvSpPr>
          <p:spPr bwMode="auto">
            <a:xfrm>
              <a:off x="2663" y="42"/>
              <a:ext cx="42" cy="25"/>
            </a:xfrm>
            <a:custGeom>
              <a:avLst/>
              <a:gdLst>
                <a:gd name="T0" fmla="*/ 3 w 49"/>
                <a:gd name="T1" fmla="*/ 1 h 36"/>
                <a:gd name="T2" fmla="*/ 0 w 49"/>
                <a:gd name="T3" fmla="*/ 1 h 36"/>
                <a:gd name="T4" fmla="*/ 3 w 49"/>
                <a:gd name="T5" fmla="*/ 1 h 36"/>
                <a:gd name="T6" fmla="*/ 3 w 49"/>
                <a:gd name="T7" fmla="*/ 1 h 36"/>
                <a:gd name="T8" fmla="*/ 3 w 49"/>
                <a:gd name="T9" fmla="*/ 1 h 36"/>
                <a:gd name="T10" fmla="*/ 3 w 49"/>
                <a:gd name="T11" fmla="*/ 1 h 36"/>
                <a:gd name="T12" fmla="*/ 0 60000 65536"/>
                <a:gd name="T13" fmla="*/ 0 60000 65536"/>
                <a:gd name="T14" fmla="*/ 0 60000 65536"/>
                <a:gd name="T15" fmla="*/ 0 60000 65536"/>
                <a:gd name="T16" fmla="*/ 0 60000 65536"/>
                <a:gd name="T17" fmla="*/ 0 60000 65536"/>
                <a:gd name="T18" fmla="*/ 0 w 49"/>
                <a:gd name="T19" fmla="*/ 0 h 36"/>
                <a:gd name="T20" fmla="*/ 49 w 49"/>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99" name="Freeform 97">
              <a:extLst>
                <a:ext uri="{FF2B5EF4-FFF2-40B4-BE49-F238E27FC236}">
                  <a16:creationId xmlns:a16="http://schemas.microsoft.com/office/drawing/2014/main" id="{E2E8000D-BD36-4AD4-9EBE-03FFE68CA369}"/>
                </a:ext>
              </a:extLst>
            </p:cNvPr>
            <p:cNvSpPr>
              <a:spLocks noChangeArrowheads="1"/>
            </p:cNvSpPr>
            <p:nvPr/>
          </p:nvSpPr>
          <p:spPr bwMode="auto">
            <a:xfrm>
              <a:off x="2733" y="34"/>
              <a:ext cx="23" cy="15"/>
            </a:xfrm>
            <a:custGeom>
              <a:avLst/>
              <a:gdLst>
                <a:gd name="T0" fmla="*/ 3 w 27"/>
                <a:gd name="T1" fmla="*/ 0 h 22"/>
                <a:gd name="T2" fmla="*/ 3 w 27"/>
                <a:gd name="T3" fmla="*/ 1 h 22"/>
                <a:gd name="T4" fmla="*/ 3 w 27"/>
                <a:gd name="T5" fmla="*/ 1 h 22"/>
                <a:gd name="T6" fmla="*/ 3 w 27"/>
                <a:gd name="T7" fmla="*/ 0 h 22"/>
                <a:gd name="T8" fmla="*/ 0 60000 65536"/>
                <a:gd name="T9" fmla="*/ 0 60000 65536"/>
                <a:gd name="T10" fmla="*/ 0 60000 65536"/>
                <a:gd name="T11" fmla="*/ 0 60000 65536"/>
                <a:gd name="T12" fmla="*/ 0 w 27"/>
                <a:gd name="T13" fmla="*/ 0 h 22"/>
                <a:gd name="T14" fmla="*/ 27 w 27"/>
                <a:gd name="T15" fmla="*/ 22 h 22"/>
              </a:gdLst>
              <a:ahLst/>
              <a:cxnLst>
                <a:cxn ang="T8">
                  <a:pos x="T0" y="T1"/>
                </a:cxn>
                <a:cxn ang="T9">
                  <a:pos x="T2" y="T3"/>
                </a:cxn>
                <a:cxn ang="T10">
                  <a:pos x="T4" y="T5"/>
                </a:cxn>
                <a:cxn ang="T11">
                  <a:pos x="T6" y="T7"/>
                </a:cxn>
              </a:cxnLst>
              <a:rect l="T12" t="T13" r="T14" b="T15"/>
              <a:pathLst>
                <a:path w="27" h="22">
                  <a:moveTo>
                    <a:pt x="11" y="0"/>
                  </a:moveTo>
                  <a:cubicBezTo>
                    <a:pt x="8" y="4"/>
                    <a:pt x="0" y="8"/>
                    <a:pt x="3" y="12"/>
                  </a:cubicBezTo>
                  <a:cubicBezTo>
                    <a:pt x="6" y="17"/>
                    <a:pt x="19" y="22"/>
                    <a:pt x="19" y="22"/>
                  </a:cubicBezTo>
                  <a:cubicBezTo>
                    <a:pt x="27" y="10"/>
                    <a:pt x="15" y="11"/>
                    <a:pt x="11"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0" name="Freeform 98">
              <a:extLst>
                <a:ext uri="{FF2B5EF4-FFF2-40B4-BE49-F238E27FC236}">
                  <a16:creationId xmlns:a16="http://schemas.microsoft.com/office/drawing/2014/main" id="{25A8E05F-C616-41B1-B71D-0F6469A14DA0}"/>
                </a:ext>
              </a:extLst>
            </p:cNvPr>
            <p:cNvSpPr>
              <a:spLocks noChangeArrowheads="1"/>
            </p:cNvSpPr>
            <p:nvPr/>
          </p:nvSpPr>
          <p:spPr bwMode="auto">
            <a:xfrm>
              <a:off x="2712" y="50"/>
              <a:ext cx="17" cy="13"/>
            </a:xfrm>
            <a:custGeom>
              <a:avLst/>
              <a:gdLst>
                <a:gd name="T0" fmla="*/ 3 w 20"/>
                <a:gd name="T1" fmla="*/ 0 h 18"/>
                <a:gd name="T2" fmla="*/ 3 w 20"/>
                <a:gd name="T3" fmla="*/ 1 h 18"/>
                <a:gd name="T4" fmla="*/ 3 w 20"/>
                <a:gd name="T5" fmla="*/ 0 h 18"/>
                <a:gd name="T6" fmla="*/ 0 60000 65536"/>
                <a:gd name="T7" fmla="*/ 0 60000 65536"/>
                <a:gd name="T8" fmla="*/ 0 60000 65536"/>
                <a:gd name="T9" fmla="*/ 0 w 20"/>
                <a:gd name="T10" fmla="*/ 0 h 18"/>
                <a:gd name="T11" fmla="*/ 20 w 20"/>
                <a:gd name="T12" fmla="*/ 18 h 18"/>
              </a:gdLst>
              <a:ahLst/>
              <a:cxnLst>
                <a:cxn ang="T6">
                  <a:pos x="T0" y="T1"/>
                </a:cxn>
                <a:cxn ang="T7">
                  <a:pos x="T2" y="T3"/>
                </a:cxn>
                <a:cxn ang="T8">
                  <a:pos x="T4" y="T5"/>
                </a:cxn>
              </a:cxnLst>
              <a:rect l="T9" t="T10" r="T11" b="T12"/>
              <a:pathLst>
                <a:path w="20" h="18">
                  <a:moveTo>
                    <a:pt x="11" y="0"/>
                  </a:moveTo>
                  <a:cubicBezTo>
                    <a:pt x="1" y="14"/>
                    <a:pt x="0" y="9"/>
                    <a:pt x="9" y="18"/>
                  </a:cubicBezTo>
                  <a:cubicBezTo>
                    <a:pt x="20" y="14"/>
                    <a:pt x="16" y="18"/>
                    <a:pt x="11"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1" name="Freeform 99">
              <a:extLst>
                <a:ext uri="{FF2B5EF4-FFF2-40B4-BE49-F238E27FC236}">
                  <a16:creationId xmlns:a16="http://schemas.microsoft.com/office/drawing/2014/main" id="{1236FFE8-9C85-4D7E-BE3C-43DBD3A871D1}"/>
                </a:ext>
              </a:extLst>
            </p:cNvPr>
            <p:cNvSpPr>
              <a:spLocks noChangeArrowheads="1"/>
            </p:cNvSpPr>
            <p:nvPr/>
          </p:nvSpPr>
          <p:spPr bwMode="auto">
            <a:xfrm>
              <a:off x="4023" y="65"/>
              <a:ext cx="21" cy="31"/>
            </a:xfrm>
            <a:custGeom>
              <a:avLst/>
              <a:gdLst>
                <a:gd name="T0" fmla="*/ 4 w 24"/>
                <a:gd name="T1" fmla="*/ 0 h 44"/>
                <a:gd name="T2" fmla="*/ 4 w 24"/>
                <a:gd name="T3" fmla="*/ 1 h 44"/>
                <a:gd name="T4" fmla="*/ 0 w 24"/>
                <a:gd name="T5" fmla="*/ 1 h 44"/>
                <a:gd name="T6" fmla="*/ 4 w 24"/>
                <a:gd name="T7" fmla="*/ 1 h 44"/>
                <a:gd name="T8" fmla="*/ 4 w 24"/>
                <a:gd name="T9" fmla="*/ 0 h 44"/>
                <a:gd name="T10" fmla="*/ 0 60000 65536"/>
                <a:gd name="T11" fmla="*/ 0 60000 65536"/>
                <a:gd name="T12" fmla="*/ 0 60000 65536"/>
                <a:gd name="T13" fmla="*/ 0 60000 65536"/>
                <a:gd name="T14" fmla="*/ 0 60000 65536"/>
                <a:gd name="T15" fmla="*/ 0 w 24"/>
                <a:gd name="T16" fmla="*/ 0 h 44"/>
                <a:gd name="T17" fmla="*/ 24 w 24"/>
                <a:gd name="T18" fmla="*/ 44 h 44"/>
              </a:gdLst>
              <a:ahLst/>
              <a:cxnLst>
                <a:cxn ang="T10">
                  <a:pos x="T0" y="T1"/>
                </a:cxn>
                <a:cxn ang="T11">
                  <a:pos x="T2" y="T3"/>
                </a:cxn>
                <a:cxn ang="T12">
                  <a:pos x="T4" y="T5"/>
                </a:cxn>
                <a:cxn ang="T13">
                  <a:pos x="T6" y="T7"/>
                </a:cxn>
                <a:cxn ang="T14">
                  <a:pos x="T8" y="T9"/>
                </a:cxn>
              </a:cxnLst>
              <a:rect l="T15" t="T16" r="T17" b="T18"/>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2" name="Freeform 100">
              <a:extLst>
                <a:ext uri="{FF2B5EF4-FFF2-40B4-BE49-F238E27FC236}">
                  <a16:creationId xmlns:a16="http://schemas.microsoft.com/office/drawing/2014/main" id="{3E773FBE-F174-405C-8CDA-5F590D90A9E0}"/>
                </a:ext>
              </a:extLst>
            </p:cNvPr>
            <p:cNvSpPr>
              <a:spLocks noChangeArrowheads="1"/>
            </p:cNvSpPr>
            <p:nvPr/>
          </p:nvSpPr>
          <p:spPr bwMode="auto">
            <a:xfrm>
              <a:off x="3007" y="1423"/>
              <a:ext cx="35" cy="17"/>
            </a:xfrm>
            <a:custGeom>
              <a:avLst/>
              <a:gdLst>
                <a:gd name="T0" fmla="*/ 3 w 41"/>
                <a:gd name="T1" fmla="*/ 0 h 24"/>
                <a:gd name="T2" fmla="*/ 3 w 41"/>
                <a:gd name="T3" fmla="*/ 1 h 24"/>
                <a:gd name="T4" fmla="*/ 3 w 41"/>
                <a:gd name="T5" fmla="*/ 0 h 24"/>
                <a:gd name="T6" fmla="*/ 0 60000 65536"/>
                <a:gd name="T7" fmla="*/ 0 60000 65536"/>
                <a:gd name="T8" fmla="*/ 0 60000 65536"/>
                <a:gd name="T9" fmla="*/ 0 w 41"/>
                <a:gd name="T10" fmla="*/ 0 h 24"/>
                <a:gd name="T11" fmla="*/ 41 w 41"/>
                <a:gd name="T12" fmla="*/ 24 h 24"/>
              </a:gdLst>
              <a:ahLst/>
              <a:cxnLst>
                <a:cxn ang="T6">
                  <a:pos x="T0" y="T1"/>
                </a:cxn>
                <a:cxn ang="T7">
                  <a:pos x="T2" y="T3"/>
                </a:cxn>
                <a:cxn ang="T8">
                  <a:pos x="T4" y="T5"/>
                </a:cxn>
              </a:cxnLst>
              <a:rect l="T9" t="T10" r="T11" b="T12"/>
              <a:pathLst>
                <a:path w="41" h="24">
                  <a:moveTo>
                    <a:pt x="30" y="0"/>
                  </a:moveTo>
                  <a:cubicBezTo>
                    <a:pt x="4" y="4"/>
                    <a:pt x="0" y="17"/>
                    <a:pt x="26" y="24"/>
                  </a:cubicBezTo>
                  <a:cubicBezTo>
                    <a:pt x="41" y="19"/>
                    <a:pt x="38" y="10"/>
                    <a:pt x="30"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3" name="Freeform 101">
              <a:extLst>
                <a:ext uri="{FF2B5EF4-FFF2-40B4-BE49-F238E27FC236}">
                  <a16:creationId xmlns:a16="http://schemas.microsoft.com/office/drawing/2014/main" id="{CB39246B-E600-4AE9-A865-CA10ACC196A4}"/>
                </a:ext>
              </a:extLst>
            </p:cNvPr>
            <p:cNvSpPr>
              <a:spLocks noChangeArrowheads="1"/>
            </p:cNvSpPr>
            <p:nvPr/>
          </p:nvSpPr>
          <p:spPr bwMode="auto">
            <a:xfrm>
              <a:off x="3053" y="1416"/>
              <a:ext cx="11" cy="14"/>
            </a:xfrm>
            <a:custGeom>
              <a:avLst/>
              <a:gdLst>
                <a:gd name="T0" fmla="*/ 3 w 13"/>
                <a:gd name="T1" fmla="*/ 1 h 20"/>
                <a:gd name="T2" fmla="*/ 1 w 13"/>
                <a:gd name="T3" fmla="*/ 1 h 20"/>
                <a:gd name="T4" fmla="*/ 3 w 13"/>
                <a:gd name="T5" fmla="*/ 1 h 20"/>
                <a:gd name="T6" fmla="*/ 3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4" name="Freeform 102">
              <a:extLst>
                <a:ext uri="{FF2B5EF4-FFF2-40B4-BE49-F238E27FC236}">
                  <a16:creationId xmlns:a16="http://schemas.microsoft.com/office/drawing/2014/main" id="{6904E349-3BDC-4559-939B-D54108B4AF89}"/>
                </a:ext>
              </a:extLst>
            </p:cNvPr>
            <p:cNvSpPr>
              <a:spLocks noChangeArrowheads="1"/>
            </p:cNvSpPr>
            <p:nvPr/>
          </p:nvSpPr>
          <p:spPr bwMode="auto">
            <a:xfrm>
              <a:off x="2976" y="1272"/>
              <a:ext cx="10" cy="14"/>
            </a:xfrm>
            <a:custGeom>
              <a:avLst/>
              <a:gdLst>
                <a:gd name="T0" fmla="*/ 2 w 13"/>
                <a:gd name="T1" fmla="*/ 1 h 20"/>
                <a:gd name="T2" fmla="*/ 1 w 13"/>
                <a:gd name="T3" fmla="*/ 1 h 20"/>
                <a:gd name="T4" fmla="*/ 2 w 13"/>
                <a:gd name="T5" fmla="*/ 1 h 20"/>
                <a:gd name="T6" fmla="*/ 2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5" name="Freeform 103">
              <a:extLst>
                <a:ext uri="{FF2B5EF4-FFF2-40B4-BE49-F238E27FC236}">
                  <a16:creationId xmlns:a16="http://schemas.microsoft.com/office/drawing/2014/main" id="{0CC13430-2DFA-4EF5-9552-73CC6DDEE8A6}"/>
                </a:ext>
              </a:extLst>
            </p:cNvPr>
            <p:cNvSpPr>
              <a:spLocks noChangeArrowheads="1"/>
            </p:cNvSpPr>
            <p:nvPr/>
          </p:nvSpPr>
          <p:spPr bwMode="auto">
            <a:xfrm>
              <a:off x="3045" y="1204"/>
              <a:ext cx="12" cy="18"/>
            </a:xfrm>
            <a:custGeom>
              <a:avLst/>
              <a:gdLst>
                <a:gd name="T0" fmla="*/ 3 w 14"/>
                <a:gd name="T1" fmla="*/ 0 h 25"/>
                <a:gd name="T2" fmla="*/ 0 w 14"/>
                <a:gd name="T3" fmla="*/ 1 h 25"/>
                <a:gd name="T4" fmla="*/ 3 w 14"/>
                <a:gd name="T5" fmla="*/ 1 h 25"/>
                <a:gd name="T6" fmla="*/ 3 w 14"/>
                <a:gd name="T7" fmla="*/ 0 h 25"/>
                <a:gd name="T8" fmla="*/ 0 60000 65536"/>
                <a:gd name="T9" fmla="*/ 0 60000 65536"/>
                <a:gd name="T10" fmla="*/ 0 60000 65536"/>
                <a:gd name="T11" fmla="*/ 0 60000 65536"/>
                <a:gd name="T12" fmla="*/ 0 w 14"/>
                <a:gd name="T13" fmla="*/ 0 h 25"/>
                <a:gd name="T14" fmla="*/ 14 w 14"/>
                <a:gd name="T15" fmla="*/ 25 h 25"/>
              </a:gdLst>
              <a:ahLst/>
              <a:cxnLst>
                <a:cxn ang="T8">
                  <a:pos x="T0" y="T1"/>
                </a:cxn>
                <a:cxn ang="T9">
                  <a:pos x="T2" y="T3"/>
                </a:cxn>
                <a:cxn ang="T10">
                  <a:pos x="T4" y="T5"/>
                </a:cxn>
                <a:cxn ang="T11">
                  <a:pos x="T6" y="T7"/>
                </a:cxn>
              </a:cxnLst>
              <a:rect l="T12" t="T13" r="T14" b="T15"/>
              <a:pathLst>
                <a:path w="14" h="25">
                  <a:moveTo>
                    <a:pt x="6" y="0"/>
                  </a:moveTo>
                  <a:cubicBezTo>
                    <a:pt x="4" y="5"/>
                    <a:pt x="3" y="9"/>
                    <a:pt x="0" y="13"/>
                  </a:cubicBezTo>
                  <a:cubicBezTo>
                    <a:pt x="1" y="24"/>
                    <a:pt x="1" y="25"/>
                    <a:pt x="12" y="24"/>
                  </a:cubicBezTo>
                  <a:cubicBezTo>
                    <a:pt x="14" y="12"/>
                    <a:pt x="8" y="10"/>
                    <a:pt x="6"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6" name="Freeform 104">
              <a:extLst>
                <a:ext uri="{FF2B5EF4-FFF2-40B4-BE49-F238E27FC236}">
                  <a16:creationId xmlns:a16="http://schemas.microsoft.com/office/drawing/2014/main" id="{AF618B57-87F3-4E7E-B50B-AEA19072B21B}"/>
                </a:ext>
              </a:extLst>
            </p:cNvPr>
            <p:cNvSpPr>
              <a:spLocks noChangeArrowheads="1"/>
            </p:cNvSpPr>
            <p:nvPr/>
          </p:nvSpPr>
          <p:spPr bwMode="auto">
            <a:xfrm>
              <a:off x="3017" y="1203"/>
              <a:ext cx="13" cy="18"/>
            </a:xfrm>
            <a:custGeom>
              <a:avLst/>
              <a:gdLst>
                <a:gd name="T0" fmla="*/ 6 w 14"/>
                <a:gd name="T1" fmla="*/ 0 h 25"/>
                <a:gd name="T2" fmla="*/ 0 w 14"/>
                <a:gd name="T3" fmla="*/ 1 h 25"/>
                <a:gd name="T4" fmla="*/ 7 w 14"/>
                <a:gd name="T5" fmla="*/ 1 h 25"/>
                <a:gd name="T6" fmla="*/ 6 w 14"/>
                <a:gd name="T7" fmla="*/ 0 h 25"/>
                <a:gd name="T8" fmla="*/ 0 60000 65536"/>
                <a:gd name="T9" fmla="*/ 0 60000 65536"/>
                <a:gd name="T10" fmla="*/ 0 60000 65536"/>
                <a:gd name="T11" fmla="*/ 0 60000 65536"/>
                <a:gd name="T12" fmla="*/ 0 w 14"/>
                <a:gd name="T13" fmla="*/ 0 h 25"/>
                <a:gd name="T14" fmla="*/ 14 w 14"/>
                <a:gd name="T15" fmla="*/ 25 h 25"/>
              </a:gdLst>
              <a:ahLst/>
              <a:cxnLst>
                <a:cxn ang="T8">
                  <a:pos x="T0" y="T1"/>
                </a:cxn>
                <a:cxn ang="T9">
                  <a:pos x="T2" y="T3"/>
                </a:cxn>
                <a:cxn ang="T10">
                  <a:pos x="T4" y="T5"/>
                </a:cxn>
                <a:cxn ang="T11">
                  <a:pos x="T6" y="T7"/>
                </a:cxn>
              </a:cxnLst>
              <a:rect l="T12" t="T13" r="T14" b="T15"/>
              <a:pathLst>
                <a:path w="14" h="25">
                  <a:moveTo>
                    <a:pt x="6" y="0"/>
                  </a:moveTo>
                  <a:cubicBezTo>
                    <a:pt x="4" y="5"/>
                    <a:pt x="3" y="9"/>
                    <a:pt x="0" y="13"/>
                  </a:cubicBezTo>
                  <a:cubicBezTo>
                    <a:pt x="1" y="24"/>
                    <a:pt x="1" y="25"/>
                    <a:pt x="12" y="24"/>
                  </a:cubicBezTo>
                  <a:cubicBezTo>
                    <a:pt x="14" y="12"/>
                    <a:pt x="8" y="10"/>
                    <a:pt x="6" y="0"/>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7" name="Freeform 105">
              <a:extLst>
                <a:ext uri="{FF2B5EF4-FFF2-40B4-BE49-F238E27FC236}">
                  <a16:creationId xmlns:a16="http://schemas.microsoft.com/office/drawing/2014/main" id="{6D344AD1-046F-4A42-BB43-A171F9AE35E0}"/>
                </a:ext>
              </a:extLst>
            </p:cNvPr>
            <p:cNvSpPr>
              <a:spLocks noChangeArrowheads="1"/>
            </p:cNvSpPr>
            <p:nvPr/>
          </p:nvSpPr>
          <p:spPr bwMode="auto">
            <a:xfrm>
              <a:off x="3004" y="1224"/>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8" name="Freeform 106">
              <a:extLst>
                <a:ext uri="{FF2B5EF4-FFF2-40B4-BE49-F238E27FC236}">
                  <a16:creationId xmlns:a16="http://schemas.microsoft.com/office/drawing/2014/main" id="{25C4591B-43B3-4FFE-8D90-8BCE67E44D50}"/>
                </a:ext>
              </a:extLst>
            </p:cNvPr>
            <p:cNvSpPr>
              <a:spLocks noChangeArrowheads="1"/>
            </p:cNvSpPr>
            <p:nvPr/>
          </p:nvSpPr>
          <p:spPr bwMode="auto">
            <a:xfrm>
              <a:off x="2976" y="1256"/>
              <a:ext cx="10" cy="14"/>
            </a:xfrm>
            <a:custGeom>
              <a:avLst/>
              <a:gdLst>
                <a:gd name="T0" fmla="*/ 2 w 13"/>
                <a:gd name="T1" fmla="*/ 1 h 20"/>
                <a:gd name="T2" fmla="*/ 1 w 13"/>
                <a:gd name="T3" fmla="*/ 1 h 20"/>
                <a:gd name="T4" fmla="*/ 2 w 13"/>
                <a:gd name="T5" fmla="*/ 1 h 20"/>
                <a:gd name="T6" fmla="*/ 2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09" name="Freeform 107">
              <a:extLst>
                <a:ext uri="{FF2B5EF4-FFF2-40B4-BE49-F238E27FC236}">
                  <a16:creationId xmlns:a16="http://schemas.microsoft.com/office/drawing/2014/main" id="{6CDBF717-0124-4D17-8F3E-B6FA5658B595}"/>
                </a:ext>
              </a:extLst>
            </p:cNvPr>
            <p:cNvSpPr>
              <a:spLocks noChangeArrowheads="1"/>
            </p:cNvSpPr>
            <p:nvPr/>
          </p:nvSpPr>
          <p:spPr bwMode="auto">
            <a:xfrm>
              <a:off x="2997" y="1243"/>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0" name="Freeform 108">
              <a:extLst>
                <a:ext uri="{FF2B5EF4-FFF2-40B4-BE49-F238E27FC236}">
                  <a16:creationId xmlns:a16="http://schemas.microsoft.com/office/drawing/2014/main" id="{CA770113-DCB0-4577-ABE4-6D071E56654B}"/>
                </a:ext>
              </a:extLst>
            </p:cNvPr>
            <p:cNvSpPr>
              <a:spLocks noChangeArrowheads="1"/>
            </p:cNvSpPr>
            <p:nvPr/>
          </p:nvSpPr>
          <p:spPr bwMode="auto">
            <a:xfrm>
              <a:off x="2154" y="320"/>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1" name="Freeform 109">
              <a:extLst>
                <a:ext uri="{FF2B5EF4-FFF2-40B4-BE49-F238E27FC236}">
                  <a16:creationId xmlns:a16="http://schemas.microsoft.com/office/drawing/2014/main" id="{4550ECCC-E935-4E01-9D93-7FDDB95FA9AD}"/>
                </a:ext>
              </a:extLst>
            </p:cNvPr>
            <p:cNvSpPr>
              <a:spLocks noChangeArrowheads="1"/>
            </p:cNvSpPr>
            <p:nvPr/>
          </p:nvSpPr>
          <p:spPr bwMode="auto">
            <a:xfrm>
              <a:off x="2084" y="288"/>
              <a:ext cx="12" cy="14"/>
            </a:xfrm>
            <a:custGeom>
              <a:avLst/>
              <a:gdLst>
                <a:gd name="T0" fmla="*/ 6 w 13"/>
                <a:gd name="T1" fmla="*/ 1 h 20"/>
                <a:gd name="T2" fmla="*/ 1 w 13"/>
                <a:gd name="T3" fmla="*/ 1 h 20"/>
                <a:gd name="T4" fmla="*/ 6 w 13"/>
                <a:gd name="T5" fmla="*/ 1 h 20"/>
                <a:gd name="T6" fmla="*/ 6 w 13"/>
                <a:gd name="T7" fmla="*/ 1 h 20"/>
                <a:gd name="T8" fmla="*/ 0 60000 65536"/>
                <a:gd name="T9" fmla="*/ 0 60000 65536"/>
                <a:gd name="T10" fmla="*/ 0 60000 65536"/>
                <a:gd name="T11" fmla="*/ 0 60000 65536"/>
                <a:gd name="T12" fmla="*/ 0 w 13"/>
                <a:gd name="T13" fmla="*/ 0 h 20"/>
                <a:gd name="T14" fmla="*/ 13 w 13"/>
                <a:gd name="T15" fmla="*/ 20 h 20"/>
              </a:gdLst>
              <a:ahLst/>
              <a:cxnLst>
                <a:cxn ang="T8">
                  <a:pos x="T0" y="T1"/>
                </a:cxn>
                <a:cxn ang="T9">
                  <a:pos x="T2" y="T3"/>
                </a:cxn>
                <a:cxn ang="T10">
                  <a:pos x="T4" y="T5"/>
                </a:cxn>
                <a:cxn ang="T11">
                  <a:pos x="T6" y="T7"/>
                </a:cxn>
              </a:cxnLst>
              <a:rect l="T12" t="T13" r="T14" b="T15"/>
              <a:pathLst>
                <a:path w="13" h="20">
                  <a:moveTo>
                    <a:pt x="10" y="5"/>
                  </a:moveTo>
                  <a:cubicBezTo>
                    <a:pt x="3" y="0"/>
                    <a:pt x="5" y="6"/>
                    <a:pt x="1" y="11"/>
                  </a:cubicBezTo>
                  <a:cubicBezTo>
                    <a:pt x="0" y="18"/>
                    <a:pt x="2" y="19"/>
                    <a:pt x="9" y="20"/>
                  </a:cubicBezTo>
                  <a:cubicBezTo>
                    <a:pt x="13" y="14"/>
                    <a:pt x="10" y="12"/>
                    <a:pt x="10" y="5"/>
                  </a:cubicBezTo>
                  <a:close/>
                </a:path>
              </a:pathLst>
            </a:custGeom>
            <a:solidFill>
              <a:srgbClr val="231F2D">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sp>
          <p:nvSpPr>
            <p:cNvPr id="112" name="Freeform 110">
              <a:extLst>
                <a:ext uri="{FF2B5EF4-FFF2-40B4-BE49-F238E27FC236}">
                  <a16:creationId xmlns:a16="http://schemas.microsoft.com/office/drawing/2014/main" id="{896565CC-DAAB-4BE4-A33B-75016E7F2582}"/>
                </a:ext>
              </a:extLst>
            </p:cNvPr>
            <p:cNvSpPr>
              <a:spLocks noChangeArrowheads="1"/>
            </p:cNvSpPr>
            <p:nvPr/>
          </p:nvSpPr>
          <p:spPr bwMode="auto">
            <a:xfrm>
              <a:off x="1810" y="85"/>
              <a:ext cx="2370" cy="1537"/>
            </a:xfrm>
            <a:custGeom>
              <a:avLst/>
              <a:gdLst>
                <a:gd name="T0" fmla="*/ 5636 w 2060"/>
                <a:gd name="T1" fmla="*/ 194 h 1644"/>
                <a:gd name="T2" fmla="*/ 4154 w 2060"/>
                <a:gd name="T3" fmla="*/ 177 h 1644"/>
                <a:gd name="T4" fmla="*/ 1967 w 2060"/>
                <a:gd name="T5" fmla="*/ 193 h 1644"/>
                <a:gd name="T6" fmla="*/ 578 w 2060"/>
                <a:gd name="T7" fmla="*/ 226 h 1644"/>
                <a:gd name="T8" fmla="*/ 150 w 2060"/>
                <a:gd name="T9" fmla="*/ 280 h 1644"/>
                <a:gd name="T10" fmla="*/ 1812 w 2060"/>
                <a:gd name="T11" fmla="*/ 316 h 1644"/>
                <a:gd name="T12" fmla="*/ 3828 w 2060"/>
                <a:gd name="T13" fmla="*/ 311 h 1644"/>
                <a:gd name="T14" fmla="*/ 4945 w 2060"/>
                <a:gd name="T15" fmla="*/ 339 h 1644"/>
                <a:gd name="T16" fmla="*/ 5636 w 2060"/>
                <a:gd name="T17" fmla="*/ 432 h 1644"/>
                <a:gd name="T18" fmla="*/ 6203 w 2060"/>
                <a:gd name="T19" fmla="*/ 484 h 1644"/>
                <a:gd name="T20" fmla="*/ 8782 w 2060"/>
                <a:gd name="T21" fmla="*/ 468 h 1644"/>
                <a:gd name="T22" fmla="*/ 10183 w 2060"/>
                <a:gd name="T23" fmla="*/ 411 h 1644"/>
                <a:gd name="T24" fmla="*/ 11032 w 2060"/>
                <a:gd name="T25" fmla="*/ 344 h 1644"/>
                <a:gd name="T26" fmla="*/ 12446 w 2060"/>
                <a:gd name="T27" fmla="*/ 298 h 1644"/>
                <a:gd name="T28" fmla="*/ 9936 w 2060"/>
                <a:gd name="T29" fmla="*/ 255 h 1644"/>
                <a:gd name="T30" fmla="*/ 10183 w 2060"/>
                <a:gd name="T31" fmla="*/ 244 h 1644"/>
                <a:gd name="T32" fmla="*/ 12510 w 2060"/>
                <a:gd name="T33" fmla="*/ 273 h 1644"/>
                <a:gd name="T34" fmla="*/ 13693 w 2060"/>
                <a:gd name="T35" fmla="*/ 236 h 1644"/>
                <a:gd name="T36" fmla="*/ 13042 w 2060"/>
                <a:gd name="T37" fmla="*/ 228 h 1644"/>
                <a:gd name="T38" fmla="*/ 11587 w 2060"/>
                <a:gd name="T39" fmla="*/ 213 h 1644"/>
                <a:gd name="T40" fmla="*/ 14234 w 2060"/>
                <a:gd name="T41" fmla="*/ 227 h 1644"/>
                <a:gd name="T42" fmla="*/ 16152 w 2060"/>
                <a:gd name="T43" fmla="*/ 254 h 1644"/>
                <a:gd name="T44" fmla="*/ 17133 w 2060"/>
                <a:gd name="T45" fmla="*/ 308 h 1644"/>
                <a:gd name="T46" fmla="*/ 20046 w 2060"/>
                <a:gd name="T47" fmla="*/ 252 h 1644"/>
                <a:gd name="T48" fmla="*/ 21239 w 2060"/>
                <a:gd name="T49" fmla="*/ 306 h 1644"/>
                <a:gd name="T50" fmla="*/ 21292 w 2060"/>
                <a:gd name="T51" fmla="*/ 261 h 1644"/>
                <a:gd name="T52" fmla="*/ 21942 w 2060"/>
                <a:gd name="T53" fmla="*/ 238 h 1644"/>
                <a:gd name="T54" fmla="*/ 22235 w 2060"/>
                <a:gd name="T55" fmla="*/ 162 h 1644"/>
                <a:gd name="T56" fmla="*/ 22739 w 2060"/>
                <a:gd name="T57" fmla="*/ 158 h 1644"/>
                <a:gd name="T58" fmla="*/ 22981 w 2060"/>
                <a:gd name="T59" fmla="*/ 127 h 1644"/>
                <a:gd name="T60" fmla="*/ 22517 w 2060"/>
                <a:gd name="T61" fmla="*/ 67 h 1644"/>
                <a:gd name="T62" fmla="*/ 23682 w 2060"/>
                <a:gd name="T63" fmla="*/ 32 h 1644"/>
                <a:gd name="T64" fmla="*/ 24275 w 2060"/>
                <a:gd name="T65" fmla="*/ 62 h 1644"/>
                <a:gd name="T66" fmla="*/ 24218 w 2060"/>
                <a:gd name="T67" fmla="*/ 36 h 1644"/>
                <a:gd name="T68" fmla="*/ 24623 w 2060"/>
                <a:gd name="T69" fmla="*/ 16 h 1644"/>
                <a:gd name="T70" fmla="*/ 25411 w 2060"/>
                <a:gd name="T71" fmla="*/ 0 h 1644"/>
                <a:gd name="T72" fmla="*/ 22699 w 2060"/>
                <a:gd name="T73" fmla="*/ 19 h 1644"/>
                <a:gd name="T74" fmla="*/ 19731 w 2060"/>
                <a:gd name="T75" fmla="*/ 25 h 1644"/>
                <a:gd name="T76" fmla="*/ 16826 w 2060"/>
                <a:gd name="T77" fmla="*/ 8 h 1644"/>
                <a:gd name="T78" fmla="*/ 14100 w 2060"/>
                <a:gd name="T79" fmla="*/ 20 h 1644"/>
                <a:gd name="T80" fmla="*/ 12963 w 2060"/>
                <a:gd name="T81" fmla="*/ 50 h 1644"/>
                <a:gd name="T82" fmla="*/ 11545 w 2060"/>
                <a:gd name="T83" fmla="*/ 41 h 1644"/>
                <a:gd name="T84" fmla="*/ 9452 w 2060"/>
                <a:gd name="T85" fmla="*/ 54 h 1644"/>
                <a:gd name="T86" fmla="*/ 8317 w 2060"/>
                <a:gd name="T87" fmla="*/ 41 h 1644"/>
                <a:gd name="T88" fmla="*/ 4544 w 2060"/>
                <a:gd name="T89" fmla="*/ 74 h 1644"/>
                <a:gd name="T90" fmla="*/ 6685 w 2060"/>
                <a:gd name="T91" fmla="*/ 63 h 1644"/>
                <a:gd name="T92" fmla="*/ 7948 w 2060"/>
                <a:gd name="T93" fmla="*/ 81 h 1644"/>
                <a:gd name="T94" fmla="*/ 5533 w 2060"/>
                <a:gd name="T95" fmla="*/ 106 h 1644"/>
                <a:gd name="T96" fmla="*/ 3433 w 2060"/>
                <a:gd name="T97" fmla="*/ 123 h 1644"/>
                <a:gd name="T98" fmla="*/ 2081 w 2060"/>
                <a:gd name="T99" fmla="*/ 158 h 1644"/>
                <a:gd name="T100" fmla="*/ 3534 w 2060"/>
                <a:gd name="T101" fmla="*/ 165 h 1644"/>
                <a:gd name="T102" fmla="*/ 4747 w 2060"/>
                <a:gd name="T103" fmla="*/ 169 h 1644"/>
                <a:gd name="T104" fmla="*/ 6146 w 2060"/>
                <a:gd name="T105" fmla="*/ 177 h 1644"/>
                <a:gd name="T106" fmla="*/ 6072 w 2060"/>
                <a:gd name="T107" fmla="*/ 153 h 1644"/>
                <a:gd name="T108" fmla="*/ 7388 w 2060"/>
                <a:gd name="T109" fmla="*/ 164 h 1644"/>
                <a:gd name="T110" fmla="*/ 8549 w 2060"/>
                <a:gd name="T111" fmla="*/ 138 h 1644"/>
                <a:gd name="T112" fmla="*/ 9632 w 2060"/>
                <a:gd name="T113" fmla="*/ 143 h 1644"/>
                <a:gd name="T114" fmla="*/ 7961 w 2060"/>
                <a:gd name="T115" fmla="*/ 179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060"/>
                <a:gd name="T175" fmla="*/ 0 h 1644"/>
                <a:gd name="T176" fmla="*/ 2060 w 2060"/>
                <a:gd name="T177" fmla="*/ 1644 h 164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363046">
                <a:alpha val="20000"/>
              </a:srgbClr>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a:p>
          </p:txBody>
        </p:sp>
      </p:grpSp>
      <p:sp>
        <p:nvSpPr>
          <p:cNvPr id="113" name="TextBox 12">
            <a:extLst>
              <a:ext uri="{FF2B5EF4-FFF2-40B4-BE49-F238E27FC236}">
                <a16:creationId xmlns:a16="http://schemas.microsoft.com/office/drawing/2014/main" id="{60380E5E-339D-4CA5-A53F-D477D0A06275}"/>
              </a:ext>
            </a:extLst>
          </p:cNvPr>
          <p:cNvSpPr>
            <a:spLocks noChangeArrowheads="1"/>
          </p:cNvSpPr>
          <p:nvPr/>
        </p:nvSpPr>
        <p:spPr bwMode="auto">
          <a:xfrm>
            <a:off x="419390" y="2844800"/>
            <a:ext cx="115220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08" tIns="60955" rIns="121908" bIns="60955">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1219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8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请各位老师批评指正！</a:t>
            </a:r>
          </a:p>
        </p:txBody>
      </p:sp>
    </p:spTree>
    <p:extLst>
      <p:ext uri="{BB962C8B-B14F-4D97-AF65-F5344CB8AC3E}">
        <p14:creationId xmlns:p14="http://schemas.microsoft.com/office/powerpoint/2010/main" val="317197334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7729</TotalTime>
  <Words>2977</Words>
  <Application>Microsoft Office PowerPoint</Application>
  <PresentationFormat>宽屏</PresentationFormat>
  <Paragraphs>455</Paragraphs>
  <Slides>29</Slides>
  <Notes>23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40" baseType="lpstr">
      <vt:lpstr>Arial Unicode MS</vt:lpstr>
      <vt:lpstr>等线</vt:lpstr>
      <vt:lpstr>等线 Light</vt:lpstr>
      <vt:lpstr>方正兰亭黑_GBK</vt:lpstr>
      <vt:lpstr>宋体</vt:lpstr>
      <vt:lpstr>微软雅黑</vt:lpstr>
      <vt:lpstr>Arial</vt:lpstr>
      <vt:lpstr>Times New Roman</vt:lpstr>
      <vt:lpstr>Wingdings</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xc</dc:creator>
  <cp:lastModifiedBy>xc</cp:lastModifiedBy>
  <cp:revision>758</cp:revision>
  <dcterms:created xsi:type="dcterms:W3CDTF">2019-05-10T03:36:09Z</dcterms:created>
  <dcterms:modified xsi:type="dcterms:W3CDTF">2019-05-21T13:23:13Z</dcterms:modified>
</cp:coreProperties>
</file>