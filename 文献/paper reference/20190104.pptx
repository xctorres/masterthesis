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2.xml" ContentType="application/vnd.openxmlformats-officedocument.themeOverr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66" r:id="rId2"/>
    <p:sldId id="258" r:id="rId3"/>
    <p:sldId id="272" r:id="rId4"/>
    <p:sldId id="328" r:id="rId5"/>
    <p:sldId id="331" r:id="rId6"/>
    <p:sldId id="330" r:id="rId7"/>
    <p:sldId id="335" r:id="rId8"/>
    <p:sldId id="329" r:id="rId9"/>
    <p:sldId id="332" r:id="rId10"/>
    <p:sldId id="333" r:id="rId11"/>
    <p:sldId id="334" r:id="rId12"/>
    <p:sldId id="337" r:id="rId13"/>
    <p:sldId id="338" r:id="rId14"/>
    <p:sldId id="261" r:id="rId15"/>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4A4A"/>
    <a:srgbClr val="F68A00"/>
    <a:srgbClr val="FEF3D2"/>
    <a:srgbClr val="EAE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60" autoAdjust="0"/>
    <p:restoredTop sz="76500" autoAdjust="0"/>
  </p:normalViewPr>
  <p:slideViewPr>
    <p:cSldViewPr snapToGrid="0">
      <p:cViewPr varScale="1">
        <p:scale>
          <a:sx n="66" d="100"/>
          <a:sy n="66" d="100"/>
        </p:scale>
        <p:origin x="763" y="48"/>
      </p:cViewPr>
      <p:guideLst/>
    </p:cSldViewPr>
  </p:slideViewPr>
  <p:notesTextViewPr>
    <p:cViewPr>
      <p:scale>
        <a:sx n="100" d="100"/>
        <a:sy n="100" d="100"/>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06CF4-FA77-4E71-BDBB-B62F97D48318}" type="datetimeFigureOut">
              <a:rPr lang="zh-CN" altLang="en-US" smtClean="0"/>
              <a:t>2019/1/8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EA511-84E0-4AE0-9842-AB0E10994BF1}" type="slidenum">
              <a:rPr lang="zh-CN" altLang="en-US" smtClean="0"/>
              <a:t>‹#›</a:t>
            </a:fld>
            <a:endParaRPr lang="zh-CN" altLang="en-US"/>
          </a:p>
        </p:txBody>
      </p:sp>
    </p:spTree>
    <p:extLst>
      <p:ext uri="{BB962C8B-B14F-4D97-AF65-F5344CB8AC3E}">
        <p14:creationId xmlns:p14="http://schemas.microsoft.com/office/powerpoint/2010/main" val="66011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extLst>
      <p:ext uri="{BB962C8B-B14F-4D97-AF65-F5344CB8AC3E}">
        <p14:creationId xmlns:p14="http://schemas.microsoft.com/office/powerpoint/2010/main" val="83744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7EA511-84E0-4AE0-9842-AB0E10994BF1}" type="slidenum">
              <a:rPr lang="zh-CN" altLang="en-US" smtClean="0"/>
              <a:t>2</a:t>
            </a:fld>
            <a:endParaRPr lang="zh-CN" altLang="en-US"/>
          </a:p>
        </p:txBody>
      </p:sp>
    </p:spTree>
    <p:extLst>
      <p:ext uri="{BB962C8B-B14F-4D97-AF65-F5344CB8AC3E}">
        <p14:creationId xmlns:p14="http://schemas.microsoft.com/office/powerpoint/2010/main" val="104740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综合实验结果分析可知，在上述四种索引中，本文提出的 TG 时空索引结构在基于时间点的交通数据区域查询上性能最优， STG 时空索引结构在基于时间范围的交通数据区域查询上性能最优。虽然在基于时间点的区域查询上 STG 的性能稍逊于 TG 的性能，但是在基于时间范围的区域查询上 SGT 的性能优势明显，在同时有基于时间点和基于时间范围的时空区域查询需求下，STG 时空索引方法应该是一个最佳的索引选择。此外实验表明，基于 STG 时空索引，数据量级对于时空区域查询的性能影响不大，该特性非常适合在拥有海量数据的</a:t>
            </a:r>
            <a:r>
              <a:rPr lang="zh-CN" altLang="en-US" sz="1200" b="1" dirty="0">
                <a:solidFill>
                  <a:srgbClr val="FF0000"/>
                </a:solidFill>
              </a:rPr>
              <a:t>智能交通领域</a:t>
            </a:r>
            <a:r>
              <a:rPr lang="zh-CN" altLang="en-US" sz="1200" dirty="0"/>
              <a:t>中应用。 </a:t>
            </a:r>
          </a:p>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3</a:t>
            </a:fld>
            <a:endParaRPr lang="zh-CN" altLang="en-US"/>
          </a:p>
        </p:txBody>
      </p:sp>
    </p:spTree>
    <p:extLst>
      <p:ext uri="{BB962C8B-B14F-4D97-AF65-F5344CB8AC3E}">
        <p14:creationId xmlns:p14="http://schemas.microsoft.com/office/powerpoint/2010/main" val="2997756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4</a:t>
            </a:fld>
            <a:endParaRPr lang="zh-CN" altLang="en-US"/>
          </a:p>
        </p:txBody>
      </p:sp>
    </p:spTree>
    <p:extLst>
      <p:ext uri="{BB962C8B-B14F-4D97-AF65-F5344CB8AC3E}">
        <p14:creationId xmlns:p14="http://schemas.microsoft.com/office/powerpoint/2010/main" val="1322819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t>综合实验结果分析可知，在上述四种索引中，本文提出的 TG 时空索引结构在基于时间点的交通数据区域查询上性能最优， STG 时空索引结构在基于时间范围的交通数据区域查询上性能最优。虽然在基于时间点的区域查询上 STG 的性能稍逊于 TG 的性能，但是在基于时间范围的区域查询上 SGT 的性能优势明显，在同时有基于时间点和基于时间范围的时空区域查询需求下，STG 时空索引方法应该是一个最佳的索引选择。此外实验表明，基于 STG 时空索引，数据量级对于时空区域查询的性能影响不大，该特性非常适合在拥有海量数据的</a:t>
            </a:r>
            <a:r>
              <a:rPr lang="zh-CN" altLang="en-US" sz="1200" b="1">
                <a:solidFill>
                  <a:srgbClr val="FF0000"/>
                </a:solidFill>
              </a:rPr>
              <a:t>智能交通领域</a:t>
            </a:r>
            <a:r>
              <a:rPr lang="zh-CN" altLang="en-US" sz="1200"/>
              <a:t>中应用。 </a:t>
            </a:r>
          </a:p>
          <a:p>
            <a:endParaRPr lang="en-US" altLang="zh-CN"/>
          </a:p>
          <a:p>
            <a:r>
              <a:rPr lang="en-US" altLang="zh-CN"/>
              <a:t>https://www.cnblogs.com/happyliu/p/9572738.html</a:t>
            </a:r>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5</a:t>
            </a:fld>
            <a:endParaRPr lang="zh-CN" altLang="en-US"/>
          </a:p>
        </p:txBody>
      </p:sp>
    </p:spTree>
    <p:extLst>
      <p:ext uri="{BB962C8B-B14F-4D97-AF65-F5344CB8AC3E}">
        <p14:creationId xmlns:p14="http://schemas.microsoft.com/office/powerpoint/2010/main" val="1948839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7EA511-84E0-4AE0-9842-AB0E10994BF1}" type="slidenum">
              <a:rPr lang="zh-CN" altLang="en-US" smtClean="0"/>
              <a:t>6</a:t>
            </a:fld>
            <a:endParaRPr lang="zh-CN" altLang="en-US"/>
          </a:p>
        </p:txBody>
      </p:sp>
    </p:spTree>
    <p:extLst>
      <p:ext uri="{BB962C8B-B14F-4D97-AF65-F5344CB8AC3E}">
        <p14:creationId xmlns:p14="http://schemas.microsoft.com/office/powerpoint/2010/main" val="1960421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7</a:t>
            </a:fld>
            <a:endParaRPr lang="zh-CN" altLang="en-US"/>
          </a:p>
        </p:txBody>
      </p:sp>
    </p:spTree>
    <p:extLst>
      <p:ext uri="{BB962C8B-B14F-4D97-AF65-F5344CB8AC3E}">
        <p14:creationId xmlns:p14="http://schemas.microsoft.com/office/powerpoint/2010/main" val="1404504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8</a:t>
            </a:fld>
            <a:endParaRPr lang="zh-CN" altLang="en-US"/>
          </a:p>
        </p:txBody>
      </p:sp>
    </p:spTree>
    <p:extLst>
      <p:ext uri="{BB962C8B-B14F-4D97-AF65-F5344CB8AC3E}">
        <p14:creationId xmlns:p14="http://schemas.microsoft.com/office/powerpoint/2010/main" val="1052274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9</a:t>
            </a:fld>
            <a:endParaRPr lang="zh-CN" altLang="en-US"/>
          </a:p>
        </p:txBody>
      </p:sp>
    </p:spTree>
    <p:extLst>
      <p:ext uri="{BB962C8B-B14F-4D97-AF65-F5344CB8AC3E}">
        <p14:creationId xmlns:p14="http://schemas.microsoft.com/office/powerpoint/2010/main" val="3197756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综合实验结果分析可知，在上述四种索引中，本文提出的 TG 时空索引结构在基于时间点的交通数据区域查询上性能最优， STG 时空索引结构在基于时间范围的交通数据区域查询上性能最优。虽然在基于时间点的区域查询上 STG 的性能稍逊于 TG 的性能，但是在基于时间范围的区域查询上 SGT 的性能优势明显，在同时有基于时间点和基于时间范围的时空区域查询需求下，STG 时空索引方法应该是一个最佳的索引选择。此外实验表明，基于 STG 时空索引，数据量级对于时空区域查询的性能影响不大，该特性非常适合在拥有海量数据的</a:t>
            </a:r>
            <a:r>
              <a:rPr lang="zh-CN" altLang="en-US" sz="1200" b="1" dirty="0">
                <a:solidFill>
                  <a:srgbClr val="FF0000"/>
                </a:solidFill>
              </a:rPr>
              <a:t>智能交通领域</a:t>
            </a:r>
            <a:r>
              <a:rPr lang="zh-CN" altLang="en-US" sz="1200" dirty="0"/>
              <a:t>中应用。 </a:t>
            </a:r>
          </a:p>
          <a:p>
            <a:endParaRPr lang="en-US" altLang="zh-CN" dirty="0"/>
          </a:p>
          <a:p>
            <a:r>
              <a:rPr lang="en-US" altLang="zh-CN" dirty="0"/>
              <a:t>https://www.cnblogs.com/happyliu/p/9572738.html</a:t>
            </a:r>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10</a:t>
            </a:fld>
            <a:endParaRPr lang="zh-CN" altLang="en-US"/>
          </a:p>
        </p:txBody>
      </p:sp>
    </p:spTree>
    <p:extLst>
      <p:ext uri="{BB962C8B-B14F-4D97-AF65-F5344CB8AC3E}">
        <p14:creationId xmlns:p14="http://schemas.microsoft.com/office/powerpoint/2010/main" val="2755474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综合实验结果分析可知，在上述四种索引中，本文提出的 TG 时空索引结构在基于时间点的交通数据区域查询上性能最优， STG 时空索引结构在基于时间范围的交通数据区域查询上性能最优。虽然在基于时间点的区域查询上 STG 的性能稍逊于 TG 的性能，但是在基于时间范围的区域查询上 SGT 的性能优势明显，在同时有基于时间点和基于时间范围的时空区域查询需求下，STG 时空索引方法应该是一个最佳的索引选择。此外实验表明，基于 STG 时空索引，数据量级对于时空区域查询的性能影响不大，该特性非常适合在拥有海量数据的</a:t>
            </a:r>
            <a:r>
              <a:rPr lang="zh-CN" altLang="en-US" sz="1200" b="1" dirty="0">
                <a:solidFill>
                  <a:srgbClr val="FF0000"/>
                </a:solidFill>
              </a:rPr>
              <a:t>智能交通领域</a:t>
            </a:r>
            <a:r>
              <a:rPr lang="zh-CN" altLang="en-US" sz="1200" dirty="0"/>
              <a:t>中应用。 </a:t>
            </a:r>
          </a:p>
          <a:p>
            <a:endParaRPr lang="en-US" altLang="zh-CN" dirty="0"/>
          </a:p>
          <a:p>
            <a:r>
              <a:rPr lang="en-US" altLang="zh-CN" dirty="0"/>
              <a:t>https://www.cnblogs.com/happyliu/p/9572738.html</a:t>
            </a:r>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11</a:t>
            </a:fld>
            <a:endParaRPr lang="zh-CN" altLang="en-US"/>
          </a:p>
        </p:txBody>
      </p:sp>
    </p:spTree>
    <p:extLst>
      <p:ext uri="{BB962C8B-B14F-4D97-AF65-F5344CB8AC3E}">
        <p14:creationId xmlns:p14="http://schemas.microsoft.com/office/powerpoint/2010/main" val="3837219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7EA511-84E0-4AE0-9842-AB0E10994BF1}" type="slidenum">
              <a:rPr lang="zh-CN" altLang="en-US" smtClean="0"/>
              <a:t>14</a:t>
            </a:fld>
            <a:endParaRPr lang="zh-CN" altLang="en-US"/>
          </a:p>
        </p:txBody>
      </p:sp>
    </p:spTree>
    <p:extLst>
      <p:ext uri="{BB962C8B-B14F-4D97-AF65-F5344CB8AC3E}">
        <p14:creationId xmlns:p14="http://schemas.microsoft.com/office/powerpoint/2010/main" val="12604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801" name="副标题 2"/>
          <p:cNvSpPr>
            <a:spLocks noGrp="1"/>
          </p:cNvSpPr>
          <p:nvPr userDrawn="1">
            <p:ph type="subTitle" idx="1" hasCustomPrompt="1"/>
          </p:nvPr>
        </p:nvSpPr>
        <p:spPr>
          <a:xfrm>
            <a:off x="5572448" y="4964164"/>
            <a:ext cx="5948040" cy="558799"/>
          </a:xfrm>
          <a:solidFill>
            <a:schemeClr val="bg1"/>
          </a:solidFill>
        </p:spPr>
        <p:txBody>
          <a:bodyPr lIns="90000" rIns="90000" anchor="t">
            <a:normAutofit/>
          </a:bodyPr>
          <a:lstStyle>
            <a:lvl1pPr marL="0" marR="0" indent="0" algn="l" defTabSz="914354"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pPr marL="0" marR="0" lvl="0" indent="0" algn="l" defTabSz="91435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dirty="0"/>
              <a:t>Click to edit Master subtitle style</a:t>
            </a:r>
          </a:p>
        </p:txBody>
      </p:sp>
      <p:sp>
        <p:nvSpPr>
          <p:cNvPr id="9802" name="标题 1"/>
          <p:cNvSpPr>
            <a:spLocks noGrp="1"/>
          </p:cNvSpPr>
          <p:nvPr userDrawn="1">
            <p:ph type="ctrTitle" hasCustomPrompt="1"/>
          </p:nvPr>
        </p:nvSpPr>
        <p:spPr>
          <a:xfrm>
            <a:off x="5572448" y="3908142"/>
            <a:ext cx="5948040" cy="1056022"/>
          </a:xfrm>
          <a:solidFill>
            <a:schemeClr val="bg1"/>
          </a:solidFill>
        </p:spPr>
        <p:txBody>
          <a:bodyPr lIns="90000" rIns="90000" anchor="b">
            <a:normAutofit/>
          </a:bodyPr>
          <a:lstStyle>
            <a:lvl1pPr algn="l">
              <a:defRPr sz="3600" b="1">
                <a:solidFill>
                  <a:schemeClr val="tx1"/>
                </a:solidFill>
              </a:defRPr>
            </a:lvl1pPr>
          </a:lstStyle>
          <a:p>
            <a:r>
              <a:rPr lang="en-US" altLang="zh-CN" dirty="0"/>
              <a:t>Click to edit Master title style</a:t>
            </a:r>
            <a:endParaRPr lang="zh-CN" altLang="en-US" dirty="0"/>
          </a:p>
        </p:txBody>
      </p:sp>
      <p:sp>
        <p:nvSpPr>
          <p:cNvPr id="4" name="图片占位符 3"/>
          <p:cNvSpPr>
            <a:spLocks noGrp="1"/>
          </p:cNvSpPr>
          <p:nvPr>
            <p:ph type="pic" sz="quarter" idx="10"/>
          </p:nvPr>
        </p:nvSpPr>
        <p:spPr>
          <a:xfrm>
            <a:off x="0" y="1123950"/>
            <a:ext cx="12192000" cy="2576513"/>
          </a:xfrm>
          <a:solidFill>
            <a:schemeClr val="bg1">
              <a:lumMod val="85000"/>
            </a:schemeClr>
          </a:solidFill>
        </p:spPr>
        <p:txBody>
          <a:bodyPr/>
          <a:lstStyle/>
          <a:p>
            <a:endParaRPr lang="zh-CN" altLang="en-US"/>
          </a:p>
        </p:txBody>
      </p:sp>
      <p:sp>
        <p:nvSpPr>
          <p:cNvPr id="9" name="文本占位符 8"/>
          <p:cNvSpPr>
            <a:spLocks noGrp="1"/>
          </p:cNvSpPr>
          <p:nvPr>
            <p:ph type="body" sz="quarter" idx="11"/>
          </p:nvPr>
        </p:nvSpPr>
        <p:spPr>
          <a:xfrm>
            <a:off x="5572448" y="932155"/>
            <a:ext cx="4402073" cy="2959250"/>
          </a:xfrm>
          <a:prstGeom prst="parallelogram">
            <a:avLst>
              <a:gd name="adj" fmla="val 60400"/>
            </a:avLst>
          </a:prstGeom>
          <a:solidFill>
            <a:schemeClr val="tx1">
              <a:alpha val="60000"/>
            </a:schemeClr>
          </a:solidFill>
          <a:ln w="76200">
            <a:solidFill>
              <a:schemeClr val="bg1"/>
            </a:solidFill>
          </a:ln>
        </p:spPr>
        <p:txBody>
          <a:bodyPr/>
          <a:lstStyle>
            <a:lvl1pPr>
              <a:defRPr>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endParaRPr lang="zh-CN" altLang="en-US" dirty="0"/>
          </a:p>
        </p:txBody>
      </p:sp>
    </p:spTree>
    <p:extLst>
      <p:ext uri="{BB962C8B-B14F-4D97-AF65-F5344CB8AC3E}">
        <p14:creationId xmlns:p14="http://schemas.microsoft.com/office/powerpoint/2010/main" val="288258688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20" name="标题 1"/>
          <p:cNvSpPr>
            <a:spLocks noGrp="1"/>
          </p:cNvSpPr>
          <p:nvPr userDrawn="1">
            <p:ph type="title" hasCustomPrompt="1"/>
          </p:nvPr>
        </p:nvSpPr>
        <p:spPr>
          <a:xfrm>
            <a:off x="4554245" y="2817990"/>
            <a:ext cx="6966242" cy="804151"/>
          </a:xfrm>
          <a:noFill/>
        </p:spPr>
        <p:txBody>
          <a:bodyPr lIns="90000" rIns="90000" anchor="b">
            <a:normAutofit/>
          </a:bodyPr>
          <a:lstStyle>
            <a:lvl1pPr>
              <a:defRPr sz="2400" b="1">
                <a:solidFill>
                  <a:schemeClr val="tx1"/>
                </a:solidFill>
              </a:defRPr>
            </a:lvl1pPr>
          </a:lstStyle>
          <a:p>
            <a:r>
              <a:rPr lang="en-US" altLang="zh-CN" dirty="0"/>
              <a:t>Click to edit Master title style</a:t>
            </a:r>
            <a:endParaRPr lang="zh-CN" altLang="en-US" dirty="0"/>
          </a:p>
        </p:txBody>
      </p:sp>
      <p:sp>
        <p:nvSpPr>
          <p:cNvPr id="21" name="文本占位符 2"/>
          <p:cNvSpPr>
            <a:spLocks noGrp="1"/>
          </p:cNvSpPr>
          <p:nvPr userDrawn="1">
            <p:ph type="body" idx="1" hasCustomPrompt="1"/>
          </p:nvPr>
        </p:nvSpPr>
        <p:spPr>
          <a:xfrm>
            <a:off x="4554245" y="3708142"/>
            <a:ext cx="6966242" cy="1082874"/>
          </a:xfrm>
          <a:noFill/>
        </p:spPr>
        <p:txBody>
          <a:bodyPr lIns="90000" rIns="90000" anchor="t">
            <a:normAutofit/>
          </a:bodyPr>
          <a:lstStyle>
            <a:lvl1pPr marL="0" indent="0">
              <a:lnSpc>
                <a:spcPct val="150000"/>
              </a:lnSpc>
              <a:spcBef>
                <a:spcPts val="0"/>
              </a:spcBef>
              <a:buNone/>
              <a:defRPr sz="1200">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ltLang="zh-CN" dirty="0"/>
              <a:t>Edit Master text styles</a:t>
            </a:r>
          </a:p>
        </p:txBody>
      </p:sp>
      <p:cxnSp>
        <p:nvCxnSpPr>
          <p:cNvPr id="3" name="直接连接符 2"/>
          <p:cNvCxnSpPr>
            <a:cxnSpLocks/>
          </p:cNvCxnSpPr>
          <p:nvPr userDrawn="1"/>
        </p:nvCxnSpPr>
        <p:spPr>
          <a:xfrm>
            <a:off x="4554245" y="3665141"/>
            <a:ext cx="6966242"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图片占位符 3"/>
          <p:cNvSpPr>
            <a:spLocks noGrp="1"/>
          </p:cNvSpPr>
          <p:nvPr>
            <p:ph type="pic" sz="quarter" idx="10"/>
          </p:nvPr>
        </p:nvSpPr>
        <p:spPr>
          <a:xfrm>
            <a:off x="0" y="1123950"/>
            <a:ext cx="12192000" cy="1621257"/>
          </a:xfrm>
          <a:solidFill>
            <a:schemeClr val="bg1">
              <a:lumMod val="85000"/>
            </a:schemeClr>
          </a:solidFill>
        </p:spPr>
        <p:txBody>
          <a:bodyPr vert="horz" lIns="91440" tIns="45720" rIns="91440" bIns="45720" rtlCol="0">
            <a:normAutofit/>
          </a:bodyPr>
          <a:lstStyle>
            <a:lvl1pPr>
              <a:defRPr lang="zh-CN" altLang="en-US" dirty="0"/>
            </a:lvl1pPr>
          </a:lstStyle>
          <a:p>
            <a:pPr lvl="0"/>
            <a:endParaRPr lang="zh-CN" altLang="en-US" dirty="0"/>
          </a:p>
        </p:txBody>
      </p:sp>
      <p:sp>
        <p:nvSpPr>
          <p:cNvPr id="11" name="文本占位符 8"/>
          <p:cNvSpPr>
            <a:spLocks noGrp="1"/>
          </p:cNvSpPr>
          <p:nvPr>
            <p:ph type="body" sz="quarter" idx="17"/>
          </p:nvPr>
        </p:nvSpPr>
        <p:spPr>
          <a:xfrm>
            <a:off x="669925" y="932155"/>
            <a:ext cx="4402073" cy="2959250"/>
          </a:xfrm>
          <a:prstGeom prst="parallelogram">
            <a:avLst>
              <a:gd name="adj" fmla="val 60400"/>
            </a:avLst>
          </a:prstGeom>
          <a:solidFill>
            <a:schemeClr val="tx1">
              <a:alpha val="60000"/>
            </a:schemeClr>
          </a:solidFill>
          <a:ln w="76200">
            <a:solidFill>
              <a:schemeClr val="bg1"/>
            </a:solidFill>
          </a:ln>
        </p:spPr>
        <p:txBody>
          <a:bodyPr vert="horz" lIns="91440" tIns="45720" rIns="91440" bIns="45720" rtlCol="0">
            <a:normAutofit/>
          </a:bodyPr>
          <a:lstStyle>
            <a:lvl1pPr>
              <a:defRPr lang="zh-CN" altLang="en-US" dirty="0">
                <a:solidFill>
                  <a:schemeClr val="tx1">
                    <a:alpha val="0"/>
                  </a:schemeClr>
                </a:solidFill>
              </a:defRPr>
            </a:lvl1pPr>
          </a:lstStyle>
          <a:p>
            <a:pPr lvl="0"/>
            <a:endParaRPr lang="zh-CN" altLang="en-US" dirty="0"/>
          </a:p>
        </p:txBody>
      </p:sp>
      <p:sp>
        <p:nvSpPr>
          <p:cNvPr id="2" name="日期占位符 1"/>
          <p:cNvSpPr>
            <a:spLocks noGrp="1"/>
          </p:cNvSpPr>
          <p:nvPr>
            <p:ph type="dt" sz="half" idx="18"/>
          </p:nvPr>
        </p:nvSpPr>
        <p:spPr/>
        <p:txBody>
          <a:bodyPr/>
          <a:lstStyle/>
          <a:p>
            <a:fld id="{6489D9C7-5DC6-4263-87FF-7C99F6FB63C3}" type="datetime1">
              <a:rPr lang="zh-CN" altLang="en-US" smtClean="0"/>
              <a:pPr/>
              <a:t>2019/1/8</a:t>
            </a:fld>
            <a:endParaRPr lang="zh-CN" altLang="en-US"/>
          </a:p>
        </p:txBody>
      </p:sp>
      <p:sp>
        <p:nvSpPr>
          <p:cNvPr id="4" name="页脚占位符 3"/>
          <p:cNvSpPr>
            <a:spLocks noGrp="1"/>
          </p:cNvSpPr>
          <p:nvPr>
            <p:ph type="ftr" sz="quarter" idx="19"/>
          </p:nvPr>
        </p:nvSpPr>
        <p:spPr/>
        <p:txBody>
          <a:bodyPr/>
          <a:lstStyle/>
          <a:p>
            <a:r>
              <a:rPr lang="en-US" altLang="zh-CN"/>
              <a:t>www.islide.cc</a:t>
            </a:r>
            <a:endParaRPr lang="zh-CN" altLang="en-US" dirty="0"/>
          </a:p>
        </p:txBody>
      </p:sp>
      <p:sp>
        <p:nvSpPr>
          <p:cNvPr id="5" name="灯片编号占位符 4"/>
          <p:cNvSpPr>
            <a:spLocks noGrp="1"/>
          </p:cNvSpPr>
          <p:nvPr>
            <p:ph type="sldNum" sz="quarter" idx="20"/>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28533342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924" y="430031"/>
            <a:ext cx="10850563" cy="500891"/>
          </a:xfrm>
          <a:solidFill>
            <a:schemeClr val="bg1"/>
          </a:solidFill>
        </p:spPr>
        <p:txBody>
          <a:bodyPr lIns="0" rIns="0"/>
          <a:lstStyle/>
          <a:p>
            <a:r>
              <a:rPr lang="en-US" altLang="zh-CN" dirty="0"/>
              <a:t>Click to edit Master title style</a:t>
            </a:r>
            <a:endParaRPr lang="zh-CN" altLang="en-US" dirty="0"/>
          </a:p>
        </p:txBody>
      </p:sp>
      <p:sp>
        <p:nvSpPr>
          <p:cNvPr id="3" name="内容占位符 2"/>
          <p:cNvSpPr>
            <a:spLocks noGrp="1"/>
          </p:cNvSpPr>
          <p:nvPr>
            <p:ph idx="1" hasCustomPrompt="1"/>
          </p:nvPr>
        </p:nvSpPr>
        <p:spPr/>
        <p:txBody>
          <a:body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7" name="日期占位符 6"/>
          <p:cNvSpPr>
            <a:spLocks noGrp="1"/>
          </p:cNvSpPr>
          <p:nvPr>
            <p:ph type="dt" sz="half" idx="10"/>
          </p:nvPr>
        </p:nvSpPr>
        <p:spPr/>
        <p:txBody>
          <a:bodyPr/>
          <a:lstStyle/>
          <a:p>
            <a:fld id="{6489D9C7-5DC6-4263-87FF-7C99F6FB63C3}" type="datetime1">
              <a:rPr lang="zh-CN" altLang="en-US" smtClean="0"/>
              <a:pPr/>
              <a:t>2019/1/8</a:t>
            </a:fld>
            <a:endParaRPr lang="zh-CN" altLang="en-US"/>
          </a:p>
        </p:txBody>
      </p:sp>
      <p:sp>
        <p:nvSpPr>
          <p:cNvPr id="8" name="页脚占位符 7"/>
          <p:cNvSpPr>
            <a:spLocks noGrp="1"/>
          </p:cNvSpPr>
          <p:nvPr>
            <p:ph type="ftr" sz="quarter" idx="11"/>
          </p:nvPr>
        </p:nvSpPr>
        <p:spPr/>
        <p:txBody>
          <a:bodyPr/>
          <a:lstStyle/>
          <a:p>
            <a:r>
              <a:rPr lang="en-US" altLang="zh-CN" dirty="0"/>
              <a:t>www.islide.cc </a:t>
            </a:r>
            <a:r>
              <a:rPr lang="zh-CN" altLang="en-US" dirty="0"/>
              <a:t>「 让</a:t>
            </a:r>
            <a:r>
              <a:rPr lang="en-US" altLang="zh-CN" dirty="0"/>
              <a:t>PPT</a:t>
            </a:r>
            <a:r>
              <a:rPr lang="zh-CN" altLang="en-US" dirty="0"/>
              <a:t>设计简单起来！」</a:t>
            </a:r>
          </a:p>
        </p:txBody>
      </p:sp>
      <p:sp>
        <p:nvSpPr>
          <p:cNvPr id="9" name="灯片编号占位符 8"/>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568967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lIns="0" rIns="0"/>
          <a:lstStyle/>
          <a:p>
            <a:r>
              <a:rPr lang="en-US" altLang="zh-CN" dirty="0"/>
              <a:t>Click to edit Master title style</a:t>
            </a:r>
            <a:endParaRPr lang="zh-CN" altLang="en-US" dirty="0"/>
          </a:p>
        </p:txBody>
      </p:sp>
      <p:sp>
        <p:nvSpPr>
          <p:cNvPr id="3" name="日期占位符 2"/>
          <p:cNvSpPr>
            <a:spLocks noGrp="1"/>
          </p:cNvSpPr>
          <p:nvPr>
            <p:ph type="dt" sz="half" idx="10"/>
          </p:nvPr>
        </p:nvSpPr>
        <p:spPr/>
        <p:txBody>
          <a:bodyPr/>
          <a:lstStyle/>
          <a:p>
            <a:fld id="{6489D9C7-5DC6-4263-87FF-7C99F6FB63C3}" type="datetime1">
              <a:rPr lang="zh-CN" altLang="en-US" smtClean="0"/>
              <a:pPr/>
              <a:t>2019/1/8</a:t>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pPr/>
              <a:t>‹#›</a:t>
            </a:fld>
            <a:endParaRPr lang="zh-CN" altLang="en-US"/>
          </a:p>
        </p:txBody>
      </p:sp>
    </p:spTree>
    <p:extLst>
      <p:ext uri="{BB962C8B-B14F-4D97-AF65-F5344CB8AC3E}">
        <p14:creationId xmlns:p14="http://schemas.microsoft.com/office/powerpoint/2010/main" val="758174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772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3" name="标题 1"/>
          <p:cNvSpPr>
            <a:spLocks noGrp="1"/>
          </p:cNvSpPr>
          <p:nvPr userDrawn="1">
            <p:ph type="ctrTitle" hasCustomPrompt="1"/>
          </p:nvPr>
        </p:nvSpPr>
        <p:spPr>
          <a:xfrm>
            <a:off x="2049240" y="3892064"/>
            <a:ext cx="4482645" cy="973538"/>
          </a:xfrm>
        </p:spPr>
        <p:txBody>
          <a:bodyPr lIns="90000" rIns="90000" anchor="b">
            <a:normAutofit/>
          </a:bodyPr>
          <a:lstStyle>
            <a:lvl1pPr marL="0" indent="0" algn="l">
              <a:buFont typeface="Arial" panose="020B0604020202020204" pitchFamily="34" charset="0"/>
              <a:buNone/>
              <a:defRPr sz="3200">
                <a:solidFill>
                  <a:schemeClr val="tx1"/>
                </a:solidFill>
              </a:defRPr>
            </a:lvl1pPr>
          </a:lstStyle>
          <a:p>
            <a:r>
              <a:rPr lang="en-US" altLang="zh-CN" dirty="0"/>
              <a:t>Conclusion</a:t>
            </a:r>
            <a:endParaRPr lang="zh-CN" altLang="en-US" dirty="0"/>
          </a:p>
        </p:txBody>
      </p:sp>
      <p:sp>
        <p:nvSpPr>
          <p:cNvPr id="14" name="文本占位符 62"/>
          <p:cNvSpPr>
            <a:spLocks noGrp="1"/>
          </p:cNvSpPr>
          <p:nvPr>
            <p:ph type="body" sz="quarter" idx="17" hasCustomPrompt="1"/>
          </p:nvPr>
        </p:nvSpPr>
        <p:spPr>
          <a:xfrm>
            <a:off x="2049240" y="5143105"/>
            <a:ext cx="4482645" cy="310871"/>
          </a:xfrm>
        </p:spPr>
        <p:txBody>
          <a:bodyPr vert="horz" lIns="90000" tIns="45720" rIns="90000" bIns="45720" rtlCol="0" anchor="b">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dirty="0"/>
              <a:t>Signature</a:t>
            </a:r>
          </a:p>
        </p:txBody>
      </p:sp>
      <p:sp>
        <p:nvSpPr>
          <p:cNvPr id="15" name="文本占位符 62"/>
          <p:cNvSpPr>
            <a:spLocks noGrp="1"/>
          </p:cNvSpPr>
          <p:nvPr>
            <p:ph type="body" sz="quarter" idx="18" hasCustomPrompt="1"/>
          </p:nvPr>
        </p:nvSpPr>
        <p:spPr>
          <a:xfrm>
            <a:off x="2049240" y="5458739"/>
            <a:ext cx="4482645" cy="310871"/>
          </a:xfrm>
        </p:spPr>
        <p:txBody>
          <a:bodyPr vert="horz" lIns="90000" tIns="45720" rIns="90000" bIns="45720" rtlCol="0">
            <a:normAutofit/>
          </a:bodyPr>
          <a:lstStyle>
            <a:lvl1pPr marL="228589" marR="0" indent="-228589" algn="l" defTabSz="914354" rtl="0" eaLnBrk="1" fontAlgn="auto" latinLnBrk="0" hangingPunct="1">
              <a:lnSpc>
                <a:spcPct val="90000"/>
              </a:lnSpc>
              <a:spcBef>
                <a:spcPts val="1000"/>
              </a:spcBef>
              <a:spcAft>
                <a:spcPts val="0"/>
              </a:spcAft>
              <a:buClrTx/>
              <a:buSzTx/>
              <a:buFont typeface="Arial" panose="020B0604020202020204" pitchFamily="34" charset="0"/>
              <a:buNone/>
              <a:tabLst/>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589" marR="0" lvl="0" indent="-228589" fontAlgn="auto">
              <a:spcAft>
                <a:spcPts val="0"/>
              </a:spcAft>
              <a:buClrTx/>
              <a:buSzTx/>
              <a:tabLst/>
            </a:pPr>
            <a:r>
              <a:rPr lang="en-US" altLang="zh-CN" dirty="0"/>
              <a:t>Data</a:t>
            </a:r>
          </a:p>
        </p:txBody>
      </p:sp>
      <p:cxnSp>
        <p:nvCxnSpPr>
          <p:cNvPr id="98" name="直接连接符 97">
            <a:extLst>
              <a:ext uri="{FF2B5EF4-FFF2-40B4-BE49-F238E27FC236}">
                <a16:creationId xmlns:a16="http://schemas.microsoft.com/office/drawing/2014/main" id="{D26126A2-F562-42EF-B6A2-949E5C2C4BA2}"/>
              </a:ext>
            </a:extLst>
          </p:cNvPr>
          <p:cNvCxnSpPr>
            <a:cxnSpLocks/>
          </p:cNvCxnSpPr>
          <p:nvPr userDrawn="1"/>
        </p:nvCxnSpPr>
        <p:spPr>
          <a:xfrm>
            <a:off x="2049240" y="5827285"/>
            <a:ext cx="4482645"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图片占位符 3"/>
          <p:cNvSpPr>
            <a:spLocks noGrp="1"/>
          </p:cNvSpPr>
          <p:nvPr>
            <p:ph type="pic" sz="quarter" idx="10"/>
          </p:nvPr>
        </p:nvSpPr>
        <p:spPr>
          <a:xfrm>
            <a:off x="0" y="1123950"/>
            <a:ext cx="12192000" cy="2576513"/>
          </a:xfrm>
          <a:solidFill>
            <a:schemeClr val="bg1">
              <a:lumMod val="85000"/>
            </a:schemeClr>
          </a:solidFill>
        </p:spPr>
        <p:txBody>
          <a:bodyPr vert="horz" lIns="91440" tIns="45720" rIns="91440" bIns="45720" rtlCol="0">
            <a:normAutofit/>
          </a:bodyPr>
          <a:lstStyle>
            <a:lvl1pPr>
              <a:defRPr lang="zh-CN" altLang="en-US"/>
            </a:lvl1pPr>
          </a:lstStyle>
          <a:p>
            <a:pPr lvl="0"/>
            <a:endParaRPr lang="zh-CN" altLang="en-US"/>
          </a:p>
        </p:txBody>
      </p:sp>
      <p:sp>
        <p:nvSpPr>
          <p:cNvPr id="8" name="文本占位符 8"/>
          <p:cNvSpPr>
            <a:spLocks noGrp="1"/>
          </p:cNvSpPr>
          <p:nvPr>
            <p:ph type="body" sz="quarter" idx="11"/>
          </p:nvPr>
        </p:nvSpPr>
        <p:spPr>
          <a:xfrm>
            <a:off x="7118415" y="932155"/>
            <a:ext cx="4402073" cy="2959250"/>
          </a:xfrm>
          <a:prstGeom prst="parallelogram">
            <a:avLst>
              <a:gd name="adj" fmla="val 60400"/>
            </a:avLst>
          </a:prstGeom>
          <a:solidFill>
            <a:schemeClr val="tx1">
              <a:alpha val="60000"/>
            </a:schemeClr>
          </a:solidFill>
          <a:ln w="76200">
            <a:solidFill>
              <a:schemeClr val="bg1"/>
            </a:solidFill>
          </a:ln>
        </p:spPr>
        <p:txBody>
          <a:bodyPr vert="horz" lIns="91440" tIns="45720" rIns="91440" bIns="45720" rtlCol="0">
            <a:normAutofit/>
          </a:bodyPr>
          <a:lstStyle>
            <a:lvl1pPr>
              <a:defRPr lang="zh-CN" altLang="en-US" dirty="0">
                <a:solidFill>
                  <a:schemeClr val="tx1">
                    <a:alpha val="0"/>
                  </a:schemeClr>
                </a:solidFill>
              </a:defRPr>
            </a:lvl1pPr>
          </a:lstStyle>
          <a:p>
            <a:pPr lvl="0"/>
            <a:endParaRPr lang="zh-CN" altLang="en-US" dirty="0"/>
          </a:p>
        </p:txBody>
      </p:sp>
    </p:spTree>
    <p:extLst>
      <p:ext uri="{BB962C8B-B14F-4D97-AF65-F5344CB8AC3E}">
        <p14:creationId xmlns:p14="http://schemas.microsoft.com/office/powerpoint/2010/main" val="23786584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日期占位符 3"/>
          <p:cNvSpPr>
            <a:spLocks noGrp="1"/>
          </p:cNvSpPr>
          <p:nvPr>
            <p:ph type="dt" sz="half" idx="2"/>
          </p:nvPr>
        </p:nvSpPr>
        <p:spPr>
          <a:xfrm>
            <a:off x="5401732" y="6238875"/>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pPr/>
              <a:t>2019/1/8</a:t>
            </a:fld>
            <a:endParaRPr lang="zh-CN" altLang="en-US"/>
          </a:p>
        </p:txBody>
      </p:sp>
      <p:sp>
        <p:nvSpPr>
          <p:cNvPr id="5" name="页脚占位符 4"/>
          <p:cNvSpPr>
            <a:spLocks noGrp="1"/>
          </p:cNvSpPr>
          <p:nvPr>
            <p:ph type="ftr" sz="quarter" idx="3"/>
          </p:nvPr>
        </p:nvSpPr>
        <p:spPr>
          <a:xfrm>
            <a:off x="669924" y="6238875"/>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www.islide.cc</a:t>
            </a:r>
            <a:endParaRPr lang="zh-CN" altLang="en-US" dirty="0"/>
          </a:p>
        </p:txBody>
      </p:sp>
      <p:sp>
        <p:nvSpPr>
          <p:cNvPr id="6" name="灯片编号占位符 5"/>
          <p:cNvSpPr>
            <a:spLocks noGrp="1"/>
          </p:cNvSpPr>
          <p:nvPr>
            <p:ph type="sldNum" sz="quarter" idx="4"/>
          </p:nvPr>
        </p:nvSpPr>
        <p:spPr>
          <a:xfrm>
            <a:off x="8610599" y="6238875"/>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pPr/>
              <a:t>‹#›</a:t>
            </a:fld>
            <a:endParaRPr lang="zh-CN" altLang="en-US"/>
          </a:p>
        </p:txBody>
      </p:sp>
      <p:cxnSp>
        <p:nvCxnSpPr>
          <p:cNvPr id="8" name="直接连接符 7"/>
          <p:cNvCxnSpPr/>
          <p:nvPr userDrawn="1"/>
        </p:nvCxnSpPr>
        <p:spPr>
          <a:xfrm>
            <a:off x="669924" y="6240463"/>
            <a:ext cx="10850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직사각형 45">
            <a:extLst/>
          </p:cNvPr>
          <p:cNvSpPr/>
          <p:nvPr userDrawn="1"/>
        </p:nvSpPr>
        <p:spPr>
          <a:xfrm>
            <a:off x="695324" y="1028700"/>
            <a:ext cx="10825163" cy="87674"/>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784027784"/>
      </p:ext>
    </p:extLst>
  </p:cSld>
  <p:clrMap bg1="lt1" tx1="dk1" bg2="lt2" tx2="dk2" accent1="accent1" accent2="accent2" accent3="accent3" accent4="accent4" accent5="accent5" accent6="accent6" hlink="hlink" folHlink="folHlink"/>
  <p:sldLayoutIdLst>
    <p:sldLayoutId id="2147483660" r:id="rId1"/>
    <p:sldLayoutId id="2147483651" r:id="rId2"/>
    <p:sldLayoutId id="2147483650" r:id="rId3"/>
    <p:sldLayoutId id="2147483654" r:id="rId4"/>
    <p:sldLayoutId id="2147483655" r:id="rId5"/>
    <p:sldLayoutId id="2147483661" r:id="rId6"/>
  </p:sldLayoutIdLst>
  <p:hf hdr="0" dt="0"/>
  <p:txStyles>
    <p:titleStyle>
      <a:lvl1pPr algn="l" defTabSz="914354"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422" userDrawn="1">
          <p15:clr>
            <a:srgbClr val="F26B43"/>
          </p15:clr>
        </p15:guide>
        <p15:guide id="2" pos="7257" userDrawn="1">
          <p15:clr>
            <a:srgbClr val="F26B43"/>
          </p15:clr>
        </p15:guide>
        <p15:guide id="3" orient="horz" pos="648" userDrawn="1">
          <p15:clr>
            <a:srgbClr val="F26B43"/>
          </p15:clr>
        </p15:guide>
        <p15:guide id="4" orient="horz" pos="708" userDrawn="1">
          <p15:clr>
            <a:srgbClr val="F26B43"/>
          </p15:clr>
        </p15:guide>
        <p15:guide id="5" orient="horz" pos="3931" userDrawn="1">
          <p15:clr>
            <a:srgbClr val="F26B43"/>
          </p15:clr>
        </p15:guide>
        <p15:guide id="6" orient="horz" pos="387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hemeOverride" Target="../theme/themeOverride2.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ŝľiḓê">
            <a:extLst>
              <a:ext uri="{FF2B5EF4-FFF2-40B4-BE49-F238E27FC236}">
                <a16:creationId xmlns:a16="http://schemas.microsoft.com/office/drawing/2014/main" id="{3F7F585E-19D2-4F21-8B1E-28A78730B406}"/>
              </a:ext>
            </a:extLst>
          </p:cNvPr>
          <p:cNvSpPr/>
          <p:nvPr/>
        </p:nvSpPr>
        <p:spPr>
          <a:xfrm>
            <a:off x="0" y="0"/>
            <a:ext cx="5376000" cy="6888056"/>
          </a:xfrm>
          <a:prstGeom prst="rect">
            <a:avLst/>
          </a:prstGeom>
          <a:solidFill>
            <a:schemeClr val="accent1">
              <a:lumMod val="20000"/>
              <a:lumOff val="80000"/>
            </a:schemeClr>
          </a:solidFill>
          <a:ln>
            <a:noFill/>
          </a:ln>
          <a:effectLst>
            <a:outerShdw dist="127000" algn="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îṣ1îḋê">
            <a:extLst>
              <a:ext uri="{FF2B5EF4-FFF2-40B4-BE49-F238E27FC236}">
                <a16:creationId xmlns:a16="http://schemas.microsoft.com/office/drawing/2014/main" id="{891CB0AA-2258-49BA-A9AC-5677B8F308CB}"/>
              </a:ext>
            </a:extLst>
          </p:cNvPr>
          <p:cNvGrpSpPr/>
          <p:nvPr/>
        </p:nvGrpSpPr>
        <p:grpSpPr>
          <a:xfrm>
            <a:off x="1404361" y="1923363"/>
            <a:ext cx="3180339" cy="3011272"/>
            <a:chOff x="1129826" y="2445677"/>
            <a:chExt cx="2077061" cy="1966644"/>
          </a:xfrm>
        </p:grpSpPr>
        <p:sp>
          <p:nvSpPr>
            <p:cNvPr id="25" name="îṡľïḓè">
              <a:extLst>
                <a:ext uri="{FF2B5EF4-FFF2-40B4-BE49-F238E27FC236}">
                  <a16:creationId xmlns:a16="http://schemas.microsoft.com/office/drawing/2014/main" id="{180FCD8B-AAB1-438D-A710-C5E2D571F1E5}"/>
                </a:ext>
              </a:extLst>
            </p:cNvPr>
            <p:cNvSpPr/>
            <p:nvPr/>
          </p:nvSpPr>
          <p:spPr>
            <a:xfrm>
              <a:off x="1129826" y="2445677"/>
              <a:ext cx="1349939" cy="1966644"/>
            </a:xfrm>
            <a:prstGeom prst="rect">
              <a:avLst/>
            </a:prstGeom>
            <a:solidFill>
              <a:schemeClr val="accent1">
                <a:lumMod val="20000"/>
                <a:lumOff val="8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rgbClr val="82318E"/>
                </a:solidFill>
              </a:endParaRPr>
            </a:p>
          </p:txBody>
        </p:sp>
        <p:sp>
          <p:nvSpPr>
            <p:cNvPr id="26" name="îšḻîḋé">
              <a:extLst>
                <a:ext uri="{FF2B5EF4-FFF2-40B4-BE49-F238E27FC236}">
                  <a16:creationId xmlns:a16="http://schemas.microsoft.com/office/drawing/2014/main" id="{7699E14D-68ED-4049-94E5-3AE6FD0F257A}"/>
                </a:ext>
              </a:extLst>
            </p:cNvPr>
            <p:cNvSpPr/>
            <p:nvPr/>
          </p:nvSpPr>
          <p:spPr>
            <a:xfrm>
              <a:off x="1752643" y="3259362"/>
              <a:ext cx="1454244" cy="369332"/>
            </a:xfrm>
            <a:prstGeom prst="rect">
              <a:avLst/>
            </a:prstGeom>
            <a:solidFill>
              <a:schemeClr val="accent1">
                <a:lumMod val="20000"/>
                <a:lumOff val="80000"/>
              </a:schemeClr>
            </a:solidFill>
          </p:spPr>
          <p:txBody>
            <a:bodyPr wrap="none" anchor="ctr">
              <a:normAutofit/>
            </a:bodyPr>
            <a:lstStyle/>
            <a:p>
              <a:pPr algn="ctr"/>
              <a:r>
                <a:rPr lang="en-US" altLang="zh-CN" sz="2000" b="1" dirty="0"/>
                <a:t>CONTENTS</a:t>
              </a:r>
            </a:p>
          </p:txBody>
        </p:sp>
      </p:grpSp>
      <p:sp>
        <p:nvSpPr>
          <p:cNvPr id="8" name="iṡļîḓê">
            <a:extLst>
              <a:ext uri="{FF2B5EF4-FFF2-40B4-BE49-F238E27FC236}">
                <a16:creationId xmlns:a16="http://schemas.microsoft.com/office/drawing/2014/main" id="{FA68214A-33B3-4FB3-9DDC-4767333609DE}"/>
              </a:ext>
            </a:extLst>
          </p:cNvPr>
          <p:cNvSpPr/>
          <p:nvPr/>
        </p:nvSpPr>
        <p:spPr bwMode="auto">
          <a:xfrm>
            <a:off x="7767983" y="2491078"/>
            <a:ext cx="3624488" cy="488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dirty="0"/>
              <a:t>时空索引介绍</a:t>
            </a:r>
            <a:endParaRPr lang="en-US" altLang="zh-CN" dirty="0"/>
          </a:p>
        </p:txBody>
      </p:sp>
      <p:sp>
        <p:nvSpPr>
          <p:cNvPr id="9" name="iṥliḋè">
            <a:extLst>
              <a:ext uri="{FF2B5EF4-FFF2-40B4-BE49-F238E27FC236}">
                <a16:creationId xmlns:a16="http://schemas.microsoft.com/office/drawing/2014/main" id="{2DA587C7-AD12-4348-9104-95E96BFDAD29}"/>
              </a:ext>
            </a:extLst>
          </p:cNvPr>
          <p:cNvSpPr/>
          <p:nvPr/>
        </p:nvSpPr>
        <p:spPr bwMode="auto">
          <a:xfrm>
            <a:off x="6192983" y="2491078"/>
            <a:ext cx="1575000" cy="488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pPr>
            <a:r>
              <a:rPr lang="en-US" altLang="zh-CN" sz="2400" b="1" dirty="0">
                <a:solidFill>
                  <a:schemeClr val="tx1">
                    <a:lumMod val="95000"/>
                    <a:lumOff val="5000"/>
                  </a:schemeClr>
                </a:solidFill>
              </a:rPr>
              <a:t>Part</a:t>
            </a:r>
            <a:r>
              <a:rPr lang="en-US" altLang="zh-CN" sz="2400" b="1" dirty="0">
                <a:solidFill>
                  <a:schemeClr val="accent1"/>
                </a:solidFill>
              </a:rPr>
              <a:t> </a:t>
            </a:r>
            <a:r>
              <a:rPr lang="en-US" altLang="zh-CN" sz="2400" b="1" dirty="0">
                <a:solidFill>
                  <a:schemeClr val="tx1">
                    <a:lumMod val="95000"/>
                    <a:lumOff val="5000"/>
                  </a:schemeClr>
                </a:solidFill>
              </a:rPr>
              <a:t>01</a:t>
            </a:r>
          </a:p>
        </p:txBody>
      </p:sp>
      <p:cxnSp>
        <p:nvCxnSpPr>
          <p:cNvPr id="10" name="直接连接符 9">
            <a:extLst>
              <a:ext uri="{FF2B5EF4-FFF2-40B4-BE49-F238E27FC236}">
                <a16:creationId xmlns:a16="http://schemas.microsoft.com/office/drawing/2014/main" id="{1B17E106-B620-46C2-838D-04405E99813D}"/>
              </a:ext>
            </a:extLst>
          </p:cNvPr>
          <p:cNvCxnSpPr/>
          <p:nvPr/>
        </p:nvCxnSpPr>
        <p:spPr>
          <a:xfrm>
            <a:off x="6372983" y="3166078"/>
            <a:ext cx="5019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1" name="îś1íḑé">
            <a:extLst>
              <a:ext uri="{FF2B5EF4-FFF2-40B4-BE49-F238E27FC236}">
                <a16:creationId xmlns:a16="http://schemas.microsoft.com/office/drawing/2014/main" id="{18350513-E097-41AB-9F4C-3F64A9C84841}"/>
              </a:ext>
            </a:extLst>
          </p:cNvPr>
          <p:cNvSpPr/>
          <p:nvPr/>
        </p:nvSpPr>
        <p:spPr bwMode="auto">
          <a:xfrm>
            <a:off x="7767983" y="3352773"/>
            <a:ext cx="3624488" cy="488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nSpc>
                <a:spcPct val="150000"/>
              </a:lnSpc>
            </a:pPr>
            <a:r>
              <a:rPr lang="zh-CN" altLang="en-US" dirty="0"/>
              <a:t>实例介绍</a:t>
            </a:r>
            <a:endParaRPr lang="en-US" altLang="zh-CN" dirty="0"/>
          </a:p>
        </p:txBody>
      </p:sp>
      <p:sp>
        <p:nvSpPr>
          <p:cNvPr id="12" name="iSḷïḍé">
            <a:extLst>
              <a:ext uri="{FF2B5EF4-FFF2-40B4-BE49-F238E27FC236}">
                <a16:creationId xmlns:a16="http://schemas.microsoft.com/office/drawing/2014/main" id="{1134860B-A730-4EF3-9F69-E7F925A7A88B}"/>
              </a:ext>
            </a:extLst>
          </p:cNvPr>
          <p:cNvSpPr/>
          <p:nvPr/>
        </p:nvSpPr>
        <p:spPr bwMode="auto">
          <a:xfrm>
            <a:off x="6192983" y="3352773"/>
            <a:ext cx="1575000" cy="488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lnSpc>
                <a:spcPct val="150000"/>
              </a:lnSpc>
            </a:pPr>
            <a:r>
              <a:rPr lang="en-US" altLang="zh-CN" sz="2400" b="1" dirty="0"/>
              <a:t>Part 02</a:t>
            </a:r>
          </a:p>
        </p:txBody>
      </p:sp>
      <p:cxnSp>
        <p:nvCxnSpPr>
          <p:cNvPr id="13" name="直接连接符 12">
            <a:extLst>
              <a:ext uri="{FF2B5EF4-FFF2-40B4-BE49-F238E27FC236}">
                <a16:creationId xmlns:a16="http://schemas.microsoft.com/office/drawing/2014/main" id="{CF34E29A-D3D3-4AEB-8783-AA7C00C4F912}"/>
              </a:ext>
            </a:extLst>
          </p:cNvPr>
          <p:cNvCxnSpPr/>
          <p:nvPr/>
        </p:nvCxnSpPr>
        <p:spPr>
          <a:xfrm>
            <a:off x="6372983" y="4027773"/>
            <a:ext cx="5019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209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55833" y="3872644"/>
            <a:ext cx="6966242" cy="804151"/>
          </a:xfrm>
        </p:spPr>
        <p:txBody>
          <a:bodyPr>
            <a:normAutofit/>
          </a:bodyPr>
          <a:lstStyle/>
          <a:p>
            <a:r>
              <a:rPr lang="zh-CN" altLang="en-US" sz="3600" dirty="0"/>
              <a:t>时空索引介绍</a:t>
            </a:r>
            <a:endParaRPr lang="zh-CN" altLang="en-US" sz="3600" b="0" dirty="0"/>
          </a:p>
        </p:txBody>
      </p:sp>
      <p:pic>
        <p:nvPicPr>
          <p:cNvPr id="11" name="图片占位符 10"/>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t="49640" b="32940"/>
          <a:stretch/>
        </p:blipFill>
        <p:spPr/>
      </p:pic>
      <p:sp>
        <p:nvSpPr>
          <p:cNvPr id="9" name="文本占位符 8"/>
          <p:cNvSpPr>
            <a:spLocks noGrp="1"/>
          </p:cNvSpPr>
          <p:nvPr>
            <p:ph type="body" sz="quarter" idx="17"/>
          </p:nvPr>
        </p:nvSpPr>
        <p:spPr/>
        <p:txBody>
          <a:bodyPr/>
          <a:lstStyle/>
          <a:p>
            <a:r>
              <a:rPr lang="en-US" altLang="zh-CN"/>
              <a:t>ONE</a:t>
            </a:r>
            <a:endParaRPr lang="zh-CN" altLang="en-US" dirty="0"/>
          </a:p>
        </p:txBody>
      </p:sp>
      <p:cxnSp>
        <p:nvCxnSpPr>
          <p:cNvPr id="21" name="直接连接符 20"/>
          <p:cNvCxnSpPr>
            <a:cxnSpLocks/>
          </p:cNvCxnSpPr>
          <p:nvPr/>
        </p:nvCxnSpPr>
        <p:spPr>
          <a:xfrm flipH="1">
            <a:off x="10086595" y="3591422"/>
            <a:ext cx="341183" cy="56244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cxnSpLocks/>
          </p:cNvCxnSpPr>
          <p:nvPr/>
        </p:nvCxnSpPr>
        <p:spPr>
          <a:xfrm flipH="1">
            <a:off x="101600" y="1026160"/>
            <a:ext cx="1162429" cy="179183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4F69230-F3A6-4586-9371-A858F4763E9F}"/>
              </a:ext>
            </a:extLst>
          </p:cNvPr>
          <p:cNvSpPr txBox="1"/>
          <p:nvPr/>
        </p:nvSpPr>
        <p:spPr>
          <a:xfrm>
            <a:off x="2359203" y="1855298"/>
            <a:ext cx="1023516" cy="889909"/>
          </a:xfrm>
          <a:prstGeom prst="rect">
            <a:avLst/>
          </a:prstGeom>
          <a:noFill/>
          <a:ln w="117475">
            <a:noFill/>
          </a:ln>
        </p:spPr>
        <p:txBody>
          <a:bodyPr wrap="none" rtlCol="0">
            <a:prstTxWarp prst="textPlain">
              <a:avLst/>
            </a:prstTxWarp>
            <a:spAutoFit/>
          </a:bodyPr>
          <a:lstStyle/>
          <a:p>
            <a:r>
              <a:rPr lang="en-US" altLang="zh-CN" i="1" spc="100" dirty="0">
                <a:solidFill>
                  <a:schemeClr val="bg1"/>
                </a:solidFill>
                <a:latin typeface="Impact" panose="020B0806030902050204" pitchFamily="34" charset="0"/>
                <a:cs typeface="Arial" panose="020B0604020202020204" pitchFamily="34" charset="0"/>
              </a:rPr>
              <a:t>/01</a:t>
            </a:r>
            <a:endParaRPr lang="zh-CN" altLang="en-US" i="1" spc="100" dirty="0">
              <a:solidFill>
                <a:schemeClr val="bg1"/>
              </a:solidFill>
              <a:latin typeface="Impact" panose="020B0806030902050204" pitchFamily="34" charset="0"/>
              <a:cs typeface="Arial" panose="020B0604020202020204" pitchFamily="34" charset="0"/>
            </a:endParaRPr>
          </a:p>
        </p:txBody>
      </p:sp>
    </p:spTree>
    <p:extLst>
      <p:ext uri="{BB962C8B-B14F-4D97-AF65-F5344CB8AC3E}">
        <p14:creationId xmlns:p14="http://schemas.microsoft.com/office/powerpoint/2010/main" val="2371597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zh-CN" altLang="en-US" dirty="0"/>
              <a:t>串接编码</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3</a:t>
            </a:fld>
            <a:endParaRPr lang="zh-CN" altLang="en-US"/>
          </a:p>
        </p:txBody>
      </p:sp>
      <p:pic>
        <p:nvPicPr>
          <p:cNvPr id="1026" name="Picture 2" descr="http://www.xml-data.org/JSJYY/PIC/jsjyy-7-2-311-2.jpg">
            <a:extLst>
              <a:ext uri="{FF2B5EF4-FFF2-40B4-BE49-F238E27FC236}">
                <a16:creationId xmlns:a16="http://schemas.microsoft.com/office/drawing/2014/main" id="{E9EBD957-2A7E-4B01-BF31-7572C5005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581" y="1429255"/>
            <a:ext cx="3878483" cy="10193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xml-data.org/JSJYY/PIC/jsjyy-7-2-311-3.jpg">
            <a:extLst>
              <a:ext uri="{FF2B5EF4-FFF2-40B4-BE49-F238E27FC236}">
                <a16:creationId xmlns:a16="http://schemas.microsoft.com/office/drawing/2014/main" id="{B69B2FED-46B8-44AD-8285-03A7DB1785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9391" y="1437253"/>
            <a:ext cx="4471995" cy="10113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xml-data.org/JSJYY/PIC/jsjyy-7-2-311-4.jpg">
            <a:extLst>
              <a:ext uri="{FF2B5EF4-FFF2-40B4-BE49-F238E27FC236}">
                <a16:creationId xmlns:a16="http://schemas.microsoft.com/office/drawing/2014/main" id="{AEF2C134-7E52-46BA-AEFD-0845C5077D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9392" y="2598157"/>
            <a:ext cx="4471995" cy="88480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www.xml-data.org/JSJYY/PIC/jsjyy-7-2-311-3.jpg">
            <a:extLst>
              <a:ext uri="{FF2B5EF4-FFF2-40B4-BE49-F238E27FC236}">
                <a16:creationId xmlns:a16="http://schemas.microsoft.com/office/drawing/2014/main" id="{F50656B1-A94E-43E1-A71F-1DDE225455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581" y="2618526"/>
            <a:ext cx="3878483" cy="900459"/>
          </a:xfrm>
          <a:prstGeom prst="rect">
            <a:avLst/>
          </a:prstGeom>
          <a:noFill/>
          <a:extLst>
            <a:ext uri="{909E8E84-426E-40DD-AFC4-6F175D3DCCD1}">
              <a14:hiddenFill xmlns:a14="http://schemas.microsoft.com/office/drawing/2010/main">
                <a:solidFill>
                  <a:srgbClr val="FFFFFF"/>
                </a:solidFill>
              </a14:hiddenFill>
            </a:ext>
          </a:extLst>
        </p:spPr>
      </p:pic>
      <p:pic>
        <p:nvPicPr>
          <p:cNvPr id="213" name="Picture 2" descr="http://www.xml-data.org/JSJYY/PIC/jsjyy-7-2-311-9.jpg">
            <a:extLst>
              <a:ext uri="{FF2B5EF4-FFF2-40B4-BE49-F238E27FC236}">
                <a16:creationId xmlns:a16="http://schemas.microsoft.com/office/drawing/2014/main" id="{98F96F7B-270A-4B99-B4CD-0946396283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437" y="3811567"/>
            <a:ext cx="4007627" cy="2267734"/>
          </a:xfrm>
          <a:prstGeom prst="rect">
            <a:avLst/>
          </a:prstGeom>
          <a:noFill/>
          <a:extLst>
            <a:ext uri="{909E8E84-426E-40DD-AFC4-6F175D3DCCD1}">
              <a14:hiddenFill xmlns:a14="http://schemas.microsoft.com/office/drawing/2010/main">
                <a:solidFill>
                  <a:srgbClr val="FFFFFF"/>
                </a:solidFill>
              </a14:hiddenFill>
            </a:ext>
          </a:extLst>
        </p:spPr>
      </p:pic>
      <p:sp>
        <p:nvSpPr>
          <p:cNvPr id="1025" name="矩形 1024">
            <a:extLst>
              <a:ext uri="{FF2B5EF4-FFF2-40B4-BE49-F238E27FC236}">
                <a16:creationId xmlns:a16="http://schemas.microsoft.com/office/drawing/2014/main" id="{F901C899-123C-493A-AB98-FA4FEF6B24D4}"/>
              </a:ext>
            </a:extLst>
          </p:cNvPr>
          <p:cNvSpPr/>
          <p:nvPr/>
        </p:nvSpPr>
        <p:spPr>
          <a:xfrm>
            <a:off x="5459392" y="4201966"/>
            <a:ext cx="6732608" cy="1289905"/>
          </a:xfrm>
          <a:prstGeom prst="rect">
            <a:avLst/>
          </a:prstGeom>
        </p:spPr>
        <p:txBody>
          <a:bodyPr wrap="square">
            <a:spAutoFit/>
          </a:bodyPr>
          <a:lstStyle/>
          <a:p>
            <a:pPr>
              <a:lnSpc>
                <a:spcPct val="150000"/>
              </a:lnSpc>
            </a:pPr>
            <a:r>
              <a:rPr lang="zh-CN" altLang="en-US" dirty="0">
                <a:latin typeface="+mn-ea"/>
              </a:rPr>
              <a:t>时间范围：2012-10-03T00:12:52  201</a:t>
            </a:r>
            <a:r>
              <a:rPr lang="en-US" altLang="zh-CN" dirty="0">
                <a:latin typeface="+mn-ea"/>
              </a:rPr>
              <a:t>2-</a:t>
            </a:r>
            <a:r>
              <a:rPr lang="zh-CN" altLang="en-US" dirty="0">
                <a:latin typeface="+mn-ea"/>
              </a:rPr>
              <a:t>1003T01:12:52</a:t>
            </a:r>
            <a:endParaRPr lang="en-US" altLang="zh-CN" dirty="0">
              <a:latin typeface="+mn-ea"/>
            </a:endParaRPr>
          </a:p>
          <a:p>
            <a:pPr>
              <a:lnSpc>
                <a:spcPct val="150000"/>
              </a:lnSpc>
            </a:pPr>
            <a:r>
              <a:rPr lang="zh-CN" altLang="en-US" dirty="0">
                <a:latin typeface="+mn-ea"/>
              </a:rPr>
              <a:t>空间范围：中心点为东经</a:t>
            </a:r>
            <a:r>
              <a:rPr lang="en-US" altLang="zh-CN" dirty="0">
                <a:latin typeface="+mn-ea"/>
              </a:rPr>
              <a:t>116.</a:t>
            </a:r>
            <a:r>
              <a:rPr lang="zh-CN" altLang="en-US" dirty="0">
                <a:latin typeface="+mn-ea"/>
              </a:rPr>
              <a:t> </a:t>
            </a:r>
            <a:r>
              <a:rPr lang="en-US" altLang="zh-CN" dirty="0">
                <a:latin typeface="+mn-ea"/>
              </a:rPr>
              <a:t>534456 7</a:t>
            </a:r>
            <a:r>
              <a:rPr lang="zh-CN" altLang="en-US" dirty="0">
                <a:latin typeface="+mn-ea"/>
              </a:rPr>
              <a:t>、北纬 </a:t>
            </a:r>
            <a:r>
              <a:rPr lang="en-US" altLang="zh-CN" dirty="0">
                <a:latin typeface="+mn-ea"/>
              </a:rPr>
              <a:t>39. 5674213</a:t>
            </a:r>
            <a:r>
              <a:rPr lang="zh-CN" altLang="en-US" dirty="0">
                <a:latin typeface="+mn-ea"/>
              </a:rPr>
              <a:t>，查询半径为</a:t>
            </a:r>
            <a:r>
              <a:rPr lang="en-US" altLang="zh-CN" dirty="0">
                <a:latin typeface="+mn-ea"/>
              </a:rPr>
              <a:t>1000 m</a:t>
            </a:r>
            <a:endParaRPr lang="zh-CN" altLang="en-US" dirty="0">
              <a:latin typeface="+mn-ea"/>
            </a:endParaRPr>
          </a:p>
        </p:txBody>
      </p:sp>
    </p:spTree>
    <p:extLst>
      <p:ext uri="{BB962C8B-B14F-4D97-AF65-F5344CB8AC3E}">
        <p14:creationId xmlns:p14="http://schemas.microsoft.com/office/powerpoint/2010/main" val="23739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zh-CN" altLang="en-US" dirty="0"/>
              <a:t>串接编码</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4</a:t>
            </a:fld>
            <a:endParaRPr lang="zh-CN" altLang="en-US"/>
          </a:p>
        </p:txBody>
      </p:sp>
      <p:sp>
        <p:nvSpPr>
          <p:cNvPr id="1025" name="矩形 1024">
            <a:extLst>
              <a:ext uri="{FF2B5EF4-FFF2-40B4-BE49-F238E27FC236}">
                <a16:creationId xmlns:a16="http://schemas.microsoft.com/office/drawing/2014/main" id="{F901C899-123C-493A-AB98-FA4FEF6B24D4}"/>
              </a:ext>
            </a:extLst>
          </p:cNvPr>
          <p:cNvSpPr/>
          <p:nvPr/>
        </p:nvSpPr>
        <p:spPr>
          <a:xfrm>
            <a:off x="669923" y="1542214"/>
            <a:ext cx="10850563" cy="4613892"/>
          </a:xfrm>
          <a:prstGeom prst="rect">
            <a:avLst/>
          </a:prstGeom>
        </p:spPr>
        <p:txBody>
          <a:bodyPr wrap="square">
            <a:spAutoFit/>
          </a:bodyPr>
          <a:lstStyle/>
          <a:p>
            <a:pPr>
              <a:lnSpc>
                <a:spcPct val="150000"/>
              </a:lnSpc>
            </a:pPr>
            <a:r>
              <a:rPr lang="en-US" altLang="zh-CN" dirty="0">
                <a:latin typeface="+mn-ea"/>
              </a:rPr>
              <a:t>TG</a:t>
            </a:r>
            <a:r>
              <a:rPr lang="zh-CN" altLang="en-US" dirty="0">
                <a:latin typeface="+mn-ea"/>
              </a:rPr>
              <a:t>：这种索引结构适用于查询时间范围较小的交通数据区域查询。 先通过查询时间匹配 </a:t>
            </a:r>
            <a:r>
              <a:rPr lang="en-US" altLang="zh-CN" dirty="0">
                <a:latin typeface="+mn-ea"/>
              </a:rPr>
              <a:t>HBase </a:t>
            </a:r>
            <a:r>
              <a:rPr lang="zh-CN" altLang="en-US" dirty="0">
                <a:latin typeface="+mn-ea"/>
              </a:rPr>
              <a:t>行键，找到在查询时间范围内的记录，缩小需要扫描的数据范围</a:t>
            </a:r>
            <a:r>
              <a:rPr lang="en-US" altLang="zh-CN" dirty="0">
                <a:latin typeface="+mn-ea"/>
              </a:rPr>
              <a:t>;</a:t>
            </a:r>
            <a:r>
              <a:rPr lang="zh-CN" altLang="en-US" dirty="0">
                <a:latin typeface="+mn-ea"/>
              </a:rPr>
              <a:t>然后通过行键过滤器过滤掉不在查询的 </a:t>
            </a:r>
            <a:r>
              <a:rPr lang="en-US" altLang="zh-CN" dirty="0">
                <a:latin typeface="+mn-ea"/>
              </a:rPr>
              <a:t>Geohash </a:t>
            </a:r>
            <a:r>
              <a:rPr lang="zh-CN" altLang="en-US" dirty="0">
                <a:latin typeface="+mn-ea"/>
              </a:rPr>
              <a:t>范围内的记录，进一步减少数据扫描的范围</a:t>
            </a:r>
            <a:r>
              <a:rPr lang="en-US" altLang="zh-CN" dirty="0">
                <a:latin typeface="+mn-ea"/>
              </a:rPr>
              <a:t>;</a:t>
            </a:r>
            <a:r>
              <a:rPr lang="zh-CN" altLang="en-US" dirty="0">
                <a:latin typeface="+mn-ea"/>
              </a:rPr>
              <a:t>最后通过值过滤 器得到最终查询结果。 </a:t>
            </a:r>
            <a:endParaRPr lang="en-US" altLang="zh-CN" dirty="0">
              <a:latin typeface="+mn-ea"/>
            </a:endParaRPr>
          </a:p>
          <a:p>
            <a:pPr>
              <a:lnSpc>
                <a:spcPct val="150000"/>
              </a:lnSpc>
            </a:pPr>
            <a:endParaRPr lang="en-US" altLang="zh-CN" dirty="0">
              <a:latin typeface="+mn-ea"/>
            </a:endParaRPr>
          </a:p>
          <a:p>
            <a:pPr>
              <a:lnSpc>
                <a:spcPct val="150000"/>
              </a:lnSpc>
            </a:pPr>
            <a:r>
              <a:rPr lang="en-US" altLang="zh-CN" dirty="0">
                <a:latin typeface="+mn-ea"/>
              </a:rPr>
              <a:t>GT</a:t>
            </a:r>
            <a:r>
              <a:rPr lang="zh-CN" altLang="en-US" dirty="0">
                <a:latin typeface="+mn-ea"/>
              </a:rPr>
              <a:t>：一般来讲，交通数据区域查询的 </a:t>
            </a:r>
            <a:r>
              <a:rPr lang="en-US" altLang="zh-CN" dirty="0">
                <a:latin typeface="+mn-ea"/>
              </a:rPr>
              <a:t>Geohash </a:t>
            </a:r>
            <a:r>
              <a:rPr lang="zh-CN" altLang="en-US" dirty="0">
                <a:latin typeface="+mn-ea"/>
              </a:rPr>
              <a:t>编码是一个范 围，在行键匹配过程中，匹配到查询起止行键的相同前缀的最后一位后，后续的行键索引功能就失效了，即靠后的时间几乎没有索引效果，只能通过行键过滤器来减少数据的扫描范围。 如果数据库中存储记录的时间范围比较大，索引效果就会出现明显下降，故这种索引结构仅适用于数据库中存储数据的时间范围跨度比较小的情景。 </a:t>
            </a:r>
            <a:endParaRPr lang="en-US" altLang="zh-CN" dirty="0">
              <a:latin typeface="+mn-ea"/>
            </a:endParaRPr>
          </a:p>
          <a:p>
            <a:pPr>
              <a:lnSpc>
                <a:spcPct val="150000"/>
              </a:lnSpc>
            </a:pPr>
            <a:endParaRPr lang="en-US" altLang="zh-CN" dirty="0">
              <a:latin typeface="+mn-ea"/>
            </a:endParaRPr>
          </a:p>
          <a:p>
            <a:pPr>
              <a:lnSpc>
                <a:spcPct val="150000"/>
              </a:lnSpc>
            </a:pPr>
            <a:r>
              <a:rPr lang="en-US" altLang="zh-CN" dirty="0">
                <a:latin typeface="+mn-ea"/>
              </a:rPr>
              <a:t>STG</a:t>
            </a:r>
            <a:r>
              <a:rPr lang="zh-CN" altLang="en-US" dirty="0">
                <a:latin typeface="+mn-ea"/>
              </a:rPr>
              <a:t>： 适用于时间粒度划分很细的数据，如轨迹数据点，传感器数据。</a:t>
            </a:r>
            <a:r>
              <a:rPr lang="zh-CN" altLang="en-US" b="1" dirty="0">
                <a:solidFill>
                  <a:srgbClr val="FF0000"/>
                </a:solidFill>
                <a:latin typeface="+mn-ea"/>
              </a:rPr>
              <a:t>但不适用于粒度为小时以及日以上的矢量数据。</a:t>
            </a:r>
          </a:p>
        </p:txBody>
      </p:sp>
    </p:spTree>
    <p:extLst>
      <p:ext uri="{BB962C8B-B14F-4D97-AF65-F5344CB8AC3E}">
        <p14:creationId xmlns:p14="http://schemas.microsoft.com/office/powerpoint/2010/main" val="3628756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zh-CN" altLang="en-US" dirty="0"/>
              <a:t>一体编码</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5</a:t>
            </a:fld>
            <a:endParaRPr lang="zh-CN" altLang="en-US"/>
          </a:p>
        </p:txBody>
      </p:sp>
      <p:sp>
        <p:nvSpPr>
          <p:cNvPr id="5" name="矩形 4">
            <a:extLst>
              <a:ext uri="{FF2B5EF4-FFF2-40B4-BE49-F238E27FC236}">
                <a16:creationId xmlns:a16="http://schemas.microsoft.com/office/drawing/2014/main" id="{116D851A-0B78-4CD1-8F16-485DC319BA34}"/>
              </a:ext>
            </a:extLst>
          </p:cNvPr>
          <p:cNvSpPr/>
          <p:nvPr/>
        </p:nvSpPr>
        <p:spPr>
          <a:xfrm>
            <a:off x="669924" y="1753477"/>
            <a:ext cx="11170978" cy="3905043"/>
          </a:xfrm>
          <a:prstGeom prst="rect">
            <a:avLst/>
          </a:prstGeom>
        </p:spPr>
        <p:txBody>
          <a:bodyPr wrap="square">
            <a:spAutoFit/>
          </a:bodyPr>
          <a:lstStyle/>
          <a:p>
            <a:pPr>
              <a:lnSpc>
                <a:spcPct val="150000"/>
              </a:lnSpc>
            </a:pPr>
            <a:r>
              <a:rPr lang="en-US" altLang="zh-CN" sz="2400" dirty="0">
                <a:solidFill>
                  <a:schemeClr val="tx1">
                    <a:lumMod val="95000"/>
                    <a:lumOff val="5000"/>
                  </a:schemeClr>
                </a:solidFill>
                <a:latin typeface="+mn-ea"/>
              </a:rPr>
              <a:t>Z3 curve</a:t>
            </a:r>
            <a:r>
              <a:rPr lang="zh-CN" altLang="en-US" sz="2400" dirty="0">
                <a:solidFill>
                  <a:schemeClr val="tx1">
                    <a:lumMod val="95000"/>
                    <a:lumOff val="5000"/>
                  </a:schemeClr>
                </a:solidFill>
                <a:latin typeface="+mn-ea"/>
              </a:rPr>
              <a:t>： 空间，时间</a:t>
            </a:r>
            <a:r>
              <a:rPr lang="en-US" altLang="zh-CN" sz="2400" dirty="0">
                <a:solidFill>
                  <a:schemeClr val="tx1">
                    <a:lumMod val="95000"/>
                    <a:lumOff val="5000"/>
                  </a:schemeClr>
                </a:solidFill>
                <a:latin typeface="+mn-ea"/>
              </a:rPr>
              <a:t>bin</a:t>
            </a:r>
            <a:r>
              <a:rPr lang="zh-CN" altLang="en-US" sz="2400" dirty="0">
                <a:solidFill>
                  <a:schemeClr val="tx1">
                    <a:lumMod val="95000"/>
                    <a:lumOff val="5000"/>
                  </a:schemeClr>
                </a:solidFill>
                <a:latin typeface="+mn-ea"/>
              </a:rPr>
              <a:t>化后交叉编码，类似于</a:t>
            </a:r>
            <a:r>
              <a:rPr lang="en-US" altLang="zh-CN" sz="2400" dirty="0">
                <a:solidFill>
                  <a:schemeClr val="tx1">
                    <a:lumMod val="95000"/>
                    <a:lumOff val="5000"/>
                  </a:schemeClr>
                </a:solidFill>
                <a:latin typeface="+mn-ea"/>
              </a:rPr>
              <a:t>Geohash</a:t>
            </a:r>
          </a:p>
          <a:p>
            <a:pPr>
              <a:lnSpc>
                <a:spcPct val="150000"/>
              </a:lnSpc>
            </a:pPr>
            <a:r>
              <a:rPr lang="en-US" altLang="zh-CN" sz="2400" dirty="0">
                <a:solidFill>
                  <a:schemeClr val="tx1">
                    <a:lumMod val="95000"/>
                    <a:lumOff val="5000"/>
                  </a:schemeClr>
                </a:solidFill>
                <a:latin typeface="+mn-ea"/>
              </a:rPr>
              <a:t>Hilbert Curve</a:t>
            </a:r>
            <a:r>
              <a:rPr lang="zh-CN" altLang="en-US" sz="2400" dirty="0">
                <a:solidFill>
                  <a:schemeClr val="tx1">
                    <a:lumMod val="95000"/>
                    <a:lumOff val="5000"/>
                  </a:schemeClr>
                </a:solidFill>
                <a:latin typeface="+mn-ea"/>
              </a:rPr>
              <a:t>：其将时间同时设定上下界看成一个维度，对时空进行</a:t>
            </a:r>
            <a:r>
              <a:rPr lang="en-US" altLang="zh-CN" sz="2400" dirty="0">
                <a:solidFill>
                  <a:schemeClr val="tx1">
                    <a:lumMod val="95000"/>
                    <a:lumOff val="5000"/>
                  </a:schemeClr>
                </a:solidFill>
                <a:latin typeface="+mn-ea"/>
              </a:rPr>
              <a:t>Hilbert</a:t>
            </a:r>
            <a:r>
              <a:rPr lang="zh-CN" altLang="en-US" sz="2400" dirty="0">
                <a:solidFill>
                  <a:schemeClr val="tx1">
                    <a:lumMod val="95000"/>
                    <a:lumOff val="5000"/>
                  </a:schemeClr>
                </a:solidFill>
                <a:latin typeface="+mn-ea"/>
              </a:rPr>
              <a:t>编码</a:t>
            </a:r>
            <a:endParaRPr lang="en-US" altLang="zh-CN" sz="2400" dirty="0">
              <a:solidFill>
                <a:schemeClr val="tx1">
                  <a:lumMod val="95000"/>
                  <a:lumOff val="5000"/>
                </a:schemeClr>
              </a:solidFill>
              <a:latin typeface="+mn-ea"/>
            </a:endParaRPr>
          </a:p>
          <a:p>
            <a:pPr>
              <a:lnSpc>
                <a:spcPct val="150000"/>
              </a:lnSpc>
            </a:pPr>
            <a:r>
              <a:rPr lang="zh-CN" altLang="en-US" sz="2400" dirty="0">
                <a:solidFill>
                  <a:schemeClr val="tx1">
                    <a:lumMod val="95000"/>
                    <a:lumOff val="5000"/>
                  </a:schemeClr>
                </a:solidFill>
                <a:latin typeface="+mn-ea"/>
              </a:rPr>
              <a:t>优点：将时空同时编码，则索引从一开始就具有同时过滤时空的功能。</a:t>
            </a:r>
            <a:endParaRPr lang="en-US" altLang="zh-CN" sz="2400" dirty="0">
              <a:solidFill>
                <a:schemeClr val="tx1">
                  <a:lumMod val="95000"/>
                  <a:lumOff val="5000"/>
                </a:schemeClr>
              </a:solidFill>
              <a:latin typeface="+mn-ea"/>
            </a:endParaRPr>
          </a:p>
          <a:p>
            <a:pPr>
              <a:lnSpc>
                <a:spcPct val="150000"/>
              </a:lnSpc>
            </a:pPr>
            <a:r>
              <a:rPr lang="zh-CN" altLang="en-US" sz="2400" dirty="0">
                <a:solidFill>
                  <a:schemeClr val="tx1">
                    <a:lumMod val="95000"/>
                    <a:lumOff val="5000"/>
                  </a:schemeClr>
                </a:solidFill>
                <a:latin typeface="+mn-ea"/>
              </a:rPr>
              <a:t>缺点：</a:t>
            </a:r>
            <a:r>
              <a:rPr lang="en-US" altLang="zh-CN" sz="2400" dirty="0">
                <a:solidFill>
                  <a:schemeClr val="tx1">
                    <a:lumMod val="95000"/>
                    <a:lumOff val="5000"/>
                  </a:schemeClr>
                </a:solidFill>
                <a:latin typeface="+mn-ea"/>
              </a:rPr>
              <a:t>1</a:t>
            </a:r>
            <a:r>
              <a:rPr lang="zh-CN" altLang="en-US" sz="2400" dirty="0">
                <a:solidFill>
                  <a:schemeClr val="tx1">
                    <a:lumMod val="95000"/>
                    <a:lumOff val="5000"/>
                  </a:schemeClr>
                </a:solidFill>
                <a:latin typeface="+mn-ea"/>
              </a:rPr>
              <a:t>）时间是一个无界变量，或者其维度的划分尺度与空间不同。</a:t>
            </a:r>
            <a:endParaRPr lang="en-US" altLang="zh-CN" sz="2400" dirty="0">
              <a:solidFill>
                <a:schemeClr val="tx1">
                  <a:lumMod val="95000"/>
                  <a:lumOff val="5000"/>
                </a:schemeClr>
              </a:solidFill>
              <a:latin typeface="+mn-ea"/>
            </a:endParaRPr>
          </a:p>
          <a:p>
            <a:pPr>
              <a:lnSpc>
                <a:spcPct val="150000"/>
              </a:lnSpc>
            </a:pPr>
            <a:r>
              <a:rPr lang="en-US" altLang="zh-CN" sz="2400" dirty="0">
                <a:solidFill>
                  <a:schemeClr val="tx1">
                    <a:lumMod val="95000"/>
                    <a:lumOff val="5000"/>
                  </a:schemeClr>
                </a:solidFill>
                <a:latin typeface="+mn-ea"/>
              </a:rPr>
              <a:t>          2</a:t>
            </a:r>
            <a:r>
              <a:rPr lang="zh-CN" altLang="en-US" sz="2400" dirty="0">
                <a:solidFill>
                  <a:schemeClr val="tx1">
                    <a:lumMod val="95000"/>
                    <a:lumOff val="5000"/>
                  </a:schemeClr>
                </a:solidFill>
                <a:latin typeface="+mn-ea"/>
              </a:rPr>
              <a:t>）时空查询条件将转化为许多个</a:t>
            </a:r>
            <a:r>
              <a:rPr lang="en-US" altLang="zh-CN" sz="2400" dirty="0">
                <a:solidFill>
                  <a:schemeClr val="tx1">
                    <a:lumMod val="95000"/>
                    <a:lumOff val="5000"/>
                  </a:schemeClr>
                </a:solidFill>
                <a:latin typeface="+mn-ea"/>
              </a:rPr>
              <a:t>Range</a:t>
            </a:r>
            <a:r>
              <a:rPr lang="zh-CN" altLang="en-US" sz="2400" dirty="0">
                <a:solidFill>
                  <a:schemeClr val="tx1">
                    <a:lumMod val="95000"/>
                    <a:lumOff val="5000"/>
                  </a:schemeClr>
                </a:solidFill>
                <a:latin typeface="+mn-ea"/>
              </a:rPr>
              <a:t>查询。</a:t>
            </a:r>
            <a:endParaRPr lang="en-US" altLang="zh-CN" sz="2400" dirty="0">
              <a:solidFill>
                <a:schemeClr val="tx1">
                  <a:lumMod val="95000"/>
                  <a:lumOff val="5000"/>
                </a:schemeClr>
              </a:solidFill>
              <a:latin typeface="+mn-ea"/>
            </a:endParaRPr>
          </a:p>
          <a:p>
            <a:pPr>
              <a:lnSpc>
                <a:spcPct val="150000"/>
              </a:lnSpc>
            </a:pPr>
            <a:endParaRPr lang="en-US" altLang="zh-CN" sz="2400" dirty="0">
              <a:solidFill>
                <a:schemeClr val="tx1">
                  <a:lumMod val="95000"/>
                  <a:lumOff val="5000"/>
                </a:schemeClr>
              </a:solidFill>
              <a:latin typeface="+mn-ea"/>
            </a:endParaRPr>
          </a:p>
          <a:p>
            <a:pPr>
              <a:lnSpc>
                <a:spcPct val="150000"/>
              </a:lnSpc>
            </a:pPr>
            <a:r>
              <a:rPr lang="en-US" altLang="zh-CN" sz="2400" b="1" dirty="0">
                <a:solidFill>
                  <a:schemeClr val="tx1">
                    <a:lumMod val="95000"/>
                    <a:lumOff val="5000"/>
                  </a:schemeClr>
                </a:solidFill>
                <a:latin typeface="+mn-ea"/>
              </a:rPr>
              <a:t>Compact Hilbert Curve</a:t>
            </a:r>
            <a:r>
              <a:rPr lang="zh-CN" altLang="en-US" sz="2400" dirty="0">
                <a:solidFill>
                  <a:schemeClr val="tx1">
                    <a:lumMod val="95000"/>
                    <a:lumOff val="5000"/>
                  </a:schemeClr>
                </a:solidFill>
                <a:latin typeface="+mn-ea"/>
              </a:rPr>
              <a:t>：各个维度的</a:t>
            </a:r>
            <a:r>
              <a:rPr lang="en-US" altLang="zh-CN" sz="2400" dirty="0">
                <a:solidFill>
                  <a:schemeClr val="tx1">
                    <a:lumMod val="95000"/>
                    <a:lumOff val="5000"/>
                  </a:schemeClr>
                </a:solidFill>
                <a:latin typeface="+mn-ea"/>
              </a:rPr>
              <a:t>bit</a:t>
            </a:r>
            <a:r>
              <a:rPr lang="zh-CN" altLang="en-US" sz="2400" dirty="0">
                <a:solidFill>
                  <a:schemeClr val="tx1">
                    <a:lumMod val="95000"/>
                    <a:lumOff val="5000"/>
                  </a:schemeClr>
                </a:solidFill>
                <a:latin typeface="+mn-ea"/>
              </a:rPr>
              <a:t>精度可以不同</a:t>
            </a:r>
            <a:endParaRPr lang="en-US" altLang="zh-CN" sz="2400" dirty="0">
              <a:solidFill>
                <a:schemeClr val="tx1">
                  <a:lumMod val="95000"/>
                  <a:lumOff val="5000"/>
                </a:schemeClr>
              </a:solidFill>
              <a:latin typeface="+mn-ea"/>
            </a:endParaRPr>
          </a:p>
        </p:txBody>
      </p:sp>
    </p:spTree>
    <p:extLst>
      <p:ext uri="{BB962C8B-B14F-4D97-AF65-F5344CB8AC3E}">
        <p14:creationId xmlns:p14="http://schemas.microsoft.com/office/powerpoint/2010/main" val="3881564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86385" y="4064739"/>
            <a:ext cx="6966242" cy="804151"/>
          </a:xfrm>
        </p:spPr>
        <p:txBody>
          <a:bodyPr>
            <a:normAutofit fontScale="90000"/>
          </a:bodyPr>
          <a:lstStyle/>
          <a:p>
            <a:r>
              <a:rPr lang="zh-CN" altLang="en-US" sz="3600" dirty="0"/>
              <a:t>实例介绍</a:t>
            </a:r>
            <a:br>
              <a:rPr lang="en-US" altLang="zh-CN" sz="3600" dirty="0"/>
            </a:br>
            <a:endParaRPr lang="zh-CN" altLang="en-US" sz="3600" b="0" dirty="0"/>
          </a:p>
        </p:txBody>
      </p:sp>
      <p:pic>
        <p:nvPicPr>
          <p:cNvPr id="11" name="图片占位符 10"/>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t="49640" b="32940"/>
          <a:stretch/>
        </p:blipFill>
        <p:spPr/>
      </p:pic>
      <p:sp>
        <p:nvSpPr>
          <p:cNvPr id="9" name="文本占位符 8"/>
          <p:cNvSpPr>
            <a:spLocks noGrp="1"/>
          </p:cNvSpPr>
          <p:nvPr>
            <p:ph type="body" sz="quarter" idx="17"/>
          </p:nvPr>
        </p:nvSpPr>
        <p:spPr/>
        <p:txBody>
          <a:bodyPr/>
          <a:lstStyle/>
          <a:p>
            <a:r>
              <a:rPr lang="en-US" altLang="zh-CN"/>
              <a:t>ONE</a:t>
            </a:r>
            <a:endParaRPr lang="zh-CN" altLang="en-US" dirty="0"/>
          </a:p>
        </p:txBody>
      </p:sp>
      <p:cxnSp>
        <p:nvCxnSpPr>
          <p:cNvPr id="21" name="直接连接符 20"/>
          <p:cNvCxnSpPr>
            <a:cxnSpLocks/>
          </p:cNvCxnSpPr>
          <p:nvPr/>
        </p:nvCxnSpPr>
        <p:spPr>
          <a:xfrm flipH="1">
            <a:off x="10086595" y="3591422"/>
            <a:ext cx="341183" cy="562445"/>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cxnSpLocks/>
          </p:cNvCxnSpPr>
          <p:nvPr/>
        </p:nvCxnSpPr>
        <p:spPr>
          <a:xfrm flipH="1">
            <a:off x="101600" y="1026160"/>
            <a:ext cx="1162429" cy="179183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04F69230-F3A6-4586-9371-A858F4763E9F}"/>
              </a:ext>
            </a:extLst>
          </p:cNvPr>
          <p:cNvSpPr txBox="1"/>
          <p:nvPr/>
        </p:nvSpPr>
        <p:spPr>
          <a:xfrm>
            <a:off x="2359203" y="1855298"/>
            <a:ext cx="1023516" cy="889909"/>
          </a:xfrm>
          <a:prstGeom prst="rect">
            <a:avLst/>
          </a:prstGeom>
          <a:noFill/>
          <a:ln w="117475">
            <a:noFill/>
          </a:ln>
        </p:spPr>
        <p:txBody>
          <a:bodyPr wrap="none" rtlCol="0">
            <a:prstTxWarp prst="textPlain">
              <a:avLst/>
            </a:prstTxWarp>
            <a:spAutoFit/>
          </a:bodyPr>
          <a:lstStyle/>
          <a:p>
            <a:r>
              <a:rPr lang="en-US" altLang="zh-CN" i="1" spc="100" dirty="0">
                <a:solidFill>
                  <a:schemeClr val="bg1"/>
                </a:solidFill>
                <a:latin typeface="Impact" panose="020B0806030902050204" pitchFamily="34" charset="0"/>
                <a:cs typeface="Arial" panose="020B0604020202020204" pitchFamily="34" charset="0"/>
              </a:rPr>
              <a:t>/02</a:t>
            </a:r>
            <a:endParaRPr lang="zh-CN" altLang="en-US" i="1" spc="100" dirty="0">
              <a:solidFill>
                <a:schemeClr val="bg1"/>
              </a:solidFill>
              <a:latin typeface="Impact" panose="020B0806030902050204" pitchFamily="34" charset="0"/>
              <a:cs typeface="Arial" panose="020B0604020202020204" pitchFamily="34" charset="0"/>
            </a:endParaRPr>
          </a:p>
        </p:txBody>
      </p:sp>
    </p:spTree>
    <p:extLst>
      <p:ext uri="{BB962C8B-B14F-4D97-AF65-F5344CB8AC3E}">
        <p14:creationId xmlns:p14="http://schemas.microsoft.com/office/powerpoint/2010/main" val="3734612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en-US" altLang="zh-CN" dirty="0"/>
              <a:t>md-</a:t>
            </a:r>
            <a:r>
              <a:rPr lang="en-US" altLang="zh-CN" dirty="0" err="1"/>
              <a:t>hbase</a:t>
            </a:r>
            <a:r>
              <a:rPr lang="zh-CN" altLang="en-US" dirty="0"/>
              <a:t>：前缀策略</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7</a:t>
            </a:fld>
            <a:endParaRPr lang="zh-CN" altLang="en-US"/>
          </a:p>
        </p:txBody>
      </p:sp>
      <p:pic>
        <p:nvPicPr>
          <p:cNvPr id="5" name="图片 4">
            <a:extLst>
              <a:ext uri="{FF2B5EF4-FFF2-40B4-BE49-F238E27FC236}">
                <a16:creationId xmlns:a16="http://schemas.microsoft.com/office/drawing/2014/main" id="{06F631E0-DDC8-44BC-A84F-D5C4F3C604E2}"/>
              </a:ext>
            </a:extLst>
          </p:cNvPr>
          <p:cNvPicPr>
            <a:picLocks noChangeAspect="1"/>
          </p:cNvPicPr>
          <p:nvPr/>
        </p:nvPicPr>
        <p:blipFill>
          <a:blip r:embed="rId3"/>
          <a:stretch>
            <a:fillRect/>
          </a:stretch>
        </p:blipFill>
        <p:spPr>
          <a:xfrm>
            <a:off x="2733812" y="1577888"/>
            <a:ext cx="5576812" cy="4389591"/>
          </a:xfrm>
          <a:prstGeom prst="rect">
            <a:avLst/>
          </a:prstGeom>
        </p:spPr>
      </p:pic>
    </p:spTree>
    <p:extLst>
      <p:ext uri="{BB962C8B-B14F-4D97-AF65-F5344CB8AC3E}">
        <p14:creationId xmlns:p14="http://schemas.microsoft.com/office/powerpoint/2010/main" val="3124790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en-US" altLang="zh-CN" dirty="0"/>
              <a:t>md-</a:t>
            </a:r>
            <a:r>
              <a:rPr lang="en-US" altLang="zh-CN" dirty="0" err="1"/>
              <a:t>hbase</a:t>
            </a:r>
            <a:r>
              <a:rPr lang="zh-CN" altLang="en-US" dirty="0"/>
              <a:t>：表结构</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8</a:t>
            </a:fld>
            <a:endParaRPr lang="zh-CN" altLang="en-US"/>
          </a:p>
        </p:txBody>
      </p:sp>
      <p:graphicFrame>
        <p:nvGraphicFramePr>
          <p:cNvPr id="3" name="表格 2">
            <a:extLst>
              <a:ext uri="{FF2B5EF4-FFF2-40B4-BE49-F238E27FC236}">
                <a16:creationId xmlns:a16="http://schemas.microsoft.com/office/drawing/2014/main" id="{B4D1D0A5-925E-413B-B2C4-23B89AA8C22E}"/>
              </a:ext>
            </a:extLst>
          </p:cNvPr>
          <p:cNvGraphicFramePr>
            <a:graphicFrameLocks noGrp="1"/>
          </p:cNvGraphicFramePr>
          <p:nvPr>
            <p:extLst>
              <p:ext uri="{D42A27DB-BD31-4B8C-83A1-F6EECF244321}">
                <p14:modId xmlns:p14="http://schemas.microsoft.com/office/powerpoint/2010/main" val="2116596808"/>
              </p:ext>
            </p:extLst>
          </p:nvPr>
        </p:nvGraphicFramePr>
        <p:xfrm>
          <a:off x="148847" y="3253042"/>
          <a:ext cx="6314298" cy="2835241"/>
        </p:xfrm>
        <a:graphic>
          <a:graphicData uri="http://schemas.openxmlformats.org/drawingml/2006/table">
            <a:tbl>
              <a:tblPr firstRow="1" bandRow="1">
                <a:tableStyleId>{5C22544A-7EE6-4342-B048-85BDC9FD1C3A}</a:tableStyleId>
              </a:tblPr>
              <a:tblGrid>
                <a:gridCol w="1888297">
                  <a:extLst>
                    <a:ext uri="{9D8B030D-6E8A-4147-A177-3AD203B41FA5}">
                      <a16:colId xmlns:a16="http://schemas.microsoft.com/office/drawing/2014/main" val="2985267146"/>
                    </a:ext>
                  </a:extLst>
                </a:gridCol>
                <a:gridCol w="1562583">
                  <a:extLst>
                    <a:ext uri="{9D8B030D-6E8A-4147-A177-3AD203B41FA5}">
                      <a16:colId xmlns:a16="http://schemas.microsoft.com/office/drawing/2014/main" val="1960985580"/>
                    </a:ext>
                  </a:extLst>
                </a:gridCol>
                <a:gridCol w="1203767">
                  <a:extLst>
                    <a:ext uri="{9D8B030D-6E8A-4147-A177-3AD203B41FA5}">
                      <a16:colId xmlns:a16="http://schemas.microsoft.com/office/drawing/2014/main" val="2053545490"/>
                    </a:ext>
                  </a:extLst>
                </a:gridCol>
                <a:gridCol w="1659651">
                  <a:extLst>
                    <a:ext uri="{9D8B030D-6E8A-4147-A177-3AD203B41FA5}">
                      <a16:colId xmlns:a16="http://schemas.microsoft.com/office/drawing/2014/main" val="1544460717"/>
                    </a:ext>
                  </a:extLst>
                </a:gridCol>
              </a:tblGrid>
              <a:tr h="443640">
                <a:tc rowSpan="2">
                  <a:txBody>
                    <a:bodyPr/>
                    <a:lstStyle/>
                    <a:p>
                      <a:pPr algn="ctr"/>
                      <a:r>
                        <a:rPr lang="en-US" altLang="zh-CN" dirty="0">
                          <a:latin typeface="Times New Roman" panose="02020603050405020304" pitchFamily="18" charset="0"/>
                          <a:cs typeface="Times New Roman" panose="02020603050405020304" pitchFamily="18" charset="0"/>
                        </a:rPr>
                        <a:t>Row key</a:t>
                      </a:r>
                      <a:endParaRPr lang="zh-CN" altLang="en-US" dirty="0">
                        <a:latin typeface="Times New Roman" panose="02020603050405020304" pitchFamily="18" charset="0"/>
                        <a:cs typeface="Times New Roman" panose="02020603050405020304" pitchFamily="18" charset="0"/>
                      </a:endParaRPr>
                    </a:p>
                  </a:txBody>
                  <a:tcPr/>
                </a:tc>
                <a:tc gridSpan="3">
                  <a:txBody>
                    <a:bodyPr/>
                    <a:lstStyle/>
                    <a:p>
                      <a:pPr algn="ctr"/>
                      <a:r>
                        <a:rPr lang="en-US" altLang="zh-CN" dirty="0" err="1">
                          <a:latin typeface="Times New Roman" panose="02020603050405020304" pitchFamily="18" charset="0"/>
                          <a:cs typeface="Times New Roman" panose="02020603050405020304" pitchFamily="18" charset="0"/>
                        </a:rPr>
                        <a:t>cf</a:t>
                      </a:r>
                      <a:endParaRPr lang="zh-CN" altLang="en-US" dirty="0">
                        <a:latin typeface="Times New Roman" panose="02020603050405020304" pitchFamily="18" charset="0"/>
                        <a:cs typeface="Times New Roman" panose="02020603050405020304" pitchFamily="18" charset="0"/>
                      </a:endParaRPr>
                    </a:p>
                  </a:txBody>
                  <a:tcPr/>
                </a:tc>
                <a:tc hMerge="1">
                  <a:txBody>
                    <a:bodyPr/>
                    <a:lstStyle/>
                    <a:p>
                      <a:endParaRPr lang="zh-CN" altLang="en-US"/>
                    </a:p>
                  </a:txBody>
                  <a:tcPr/>
                </a:tc>
                <a:tc hMerge="1">
                  <a:txBody>
                    <a:bodyPr/>
                    <a:lstStyle/>
                    <a:p>
                      <a:pPr algn="ct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9131314"/>
                  </a:ext>
                </a:extLst>
              </a:tr>
              <a:tr h="443640">
                <a:tc vMerge="1">
                  <a:txBody>
                    <a:bodyPr/>
                    <a:lstStyle/>
                    <a:p>
                      <a:endParaRPr lang="zh-CN" altLang="en-US"/>
                    </a:p>
                  </a:txBody>
                  <a:tcPr/>
                </a:tc>
                <a:tc>
                  <a:txBody>
                    <a:bodyPr/>
                    <a:lstStyle/>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8999750"/>
                  </a:ext>
                </a:extLst>
              </a:tr>
              <a:tr h="671697">
                <a:tc>
                  <a:txBody>
                    <a:bodyPr/>
                    <a:lstStyle/>
                    <a:p>
                      <a:pPr algn="ctr"/>
                      <a:r>
                        <a:rPr lang="en-US" altLang="zh-CN" dirty="0">
                          <a:latin typeface="Times New Roman" panose="02020603050405020304" pitchFamily="18" charset="0"/>
                          <a:cs typeface="Times New Roman" panose="02020603050405020304" pitchFamily="18" charset="0"/>
                        </a:rPr>
                        <a:t>0000</a:t>
                      </a:r>
                      <a:endParaRPr lang="zh-CN" alt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tLang="zh-CN" dirty="0">
                          <a:latin typeface="Times New Roman" panose="02020603050405020304" pitchFamily="18" charset="0"/>
                          <a:cs typeface="Times New Roman" panose="02020603050405020304" pitchFamily="18" charset="0"/>
                        </a:rPr>
                        <a:t>Lat1,Lng1</a:t>
                      </a:r>
                      <a:endParaRPr lang="zh-CN" altLang="en-US" dirty="0">
                        <a:latin typeface="Times New Roman" panose="02020603050405020304" pitchFamily="18" charset="0"/>
                        <a:cs typeface="Times New Roman" panose="02020603050405020304" pitchFamily="18" charset="0"/>
                      </a:endParaRPr>
                    </a:p>
                  </a:txBody>
                  <a:tcPr/>
                </a:tc>
                <a:tc>
                  <a:txBody>
                    <a:bodyPr/>
                    <a:lstStyle/>
                    <a:p>
                      <a:endParaRPr lang="zh-CN" altLang="en-US" dirty="0">
                        <a:latin typeface="Times New Roman" panose="02020603050405020304" pitchFamily="18" charset="0"/>
                        <a:cs typeface="Times New Roman" panose="02020603050405020304" pitchFamily="18" charset="0"/>
                      </a:endParaRPr>
                    </a:p>
                  </a:txBody>
                  <a:tcPr/>
                </a:tc>
                <a:tc>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52785970"/>
                  </a:ext>
                </a:extLst>
              </a:tr>
              <a:tr h="604567">
                <a:tc>
                  <a:txBody>
                    <a:bodyPr/>
                    <a:lstStyle/>
                    <a:p>
                      <a:pPr algn="ctr"/>
                      <a:r>
                        <a:rPr lang="en-US" altLang="zh-CN" dirty="0">
                          <a:latin typeface="Times New Roman" panose="02020603050405020304" pitchFamily="18" charset="0"/>
                          <a:cs typeface="Times New Roman" panose="02020603050405020304" pitchFamily="18" charset="0"/>
                        </a:rPr>
                        <a:t>0001</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Lat2,Lng2</a:t>
                      </a:r>
                      <a:endParaRPr lang="zh-CN" altLang="en-US" dirty="0">
                        <a:latin typeface="Times New Roman" panose="02020603050405020304" pitchFamily="18" charset="0"/>
                        <a:cs typeface="Times New Roman" panose="02020603050405020304" pitchFamily="18" charset="0"/>
                      </a:endParaRPr>
                    </a:p>
                  </a:txBody>
                  <a:tcPr/>
                </a:tc>
                <a:tc>
                  <a:txBody>
                    <a:bodyPr/>
                    <a:lstStyle/>
                    <a:p>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67130563"/>
                  </a:ext>
                </a:extLst>
              </a:tr>
              <a:tr h="671697">
                <a:tc>
                  <a:txBody>
                    <a:bodyPr/>
                    <a:lstStyle/>
                    <a:p>
                      <a:pPr algn="ctr"/>
                      <a:r>
                        <a:rPr lang="en-US" altLang="zh-CN" dirty="0">
                          <a:latin typeface="Times New Roman" panose="02020603050405020304" pitchFamily="18" charset="0"/>
                          <a:cs typeface="Times New Roman" panose="02020603050405020304" pitchFamily="18" charset="0"/>
                        </a:rPr>
                        <a:t>0010</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endParaRPr lang="zh-CN" altLang="en-US" dirty="0">
                        <a:latin typeface="Times New Roman" panose="02020603050405020304" pitchFamily="18" charset="0"/>
                        <a:cs typeface="Times New Roman" panose="02020603050405020304" pitchFamily="18" charset="0"/>
                      </a:endParaRPr>
                    </a:p>
                  </a:txBody>
                  <a:tcPr/>
                </a:tc>
                <a:tc>
                  <a:txBody>
                    <a:bodyPr/>
                    <a:lstStyle/>
                    <a:p>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Lat3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Lng3</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25691103"/>
                  </a:ext>
                </a:extLst>
              </a:tr>
            </a:tbl>
          </a:graphicData>
        </a:graphic>
      </p:graphicFrame>
      <p:sp>
        <p:nvSpPr>
          <p:cNvPr id="6" name="文本框 5">
            <a:extLst>
              <a:ext uri="{FF2B5EF4-FFF2-40B4-BE49-F238E27FC236}">
                <a16:creationId xmlns:a16="http://schemas.microsoft.com/office/drawing/2014/main" id="{1B9FBB67-42A7-48CB-A423-6A436C2DEC20}"/>
              </a:ext>
            </a:extLst>
          </p:cNvPr>
          <p:cNvSpPr txBox="1"/>
          <p:nvPr/>
        </p:nvSpPr>
        <p:spPr>
          <a:xfrm>
            <a:off x="1655640" y="2565497"/>
            <a:ext cx="2627453" cy="400110"/>
          </a:xfrm>
          <a:prstGeom prst="rect">
            <a:avLst/>
          </a:prstGeom>
          <a:noFill/>
        </p:spPr>
        <p:txBody>
          <a:bodyPr wrap="square" rtlCol="0">
            <a:spAutoFit/>
          </a:bodyPr>
          <a:lstStyle/>
          <a:p>
            <a:pPr algn="ctr"/>
            <a:r>
              <a:rPr lang="zh-CN" altLang="en-US" sz="2000" dirty="0"/>
              <a:t>数据表</a:t>
            </a:r>
          </a:p>
        </p:txBody>
      </p:sp>
      <p:graphicFrame>
        <p:nvGraphicFramePr>
          <p:cNvPr id="8" name="表格 7">
            <a:extLst>
              <a:ext uri="{FF2B5EF4-FFF2-40B4-BE49-F238E27FC236}">
                <a16:creationId xmlns:a16="http://schemas.microsoft.com/office/drawing/2014/main" id="{260842C3-1DD4-421D-AC94-592E935360B5}"/>
              </a:ext>
            </a:extLst>
          </p:cNvPr>
          <p:cNvGraphicFramePr>
            <a:graphicFrameLocks noGrp="1"/>
          </p:cNvGraphicFramePr>
          <p:nvPr>
            <p:extLst>
              <p:ext uri="{D42A27DB-BD31-4B8C-83A1-F6EECF244321}">
                <p14:modId xmlns:p14="http://schemas.microsoft.com/office/powerpoint/2010/main" val="2433468198"/>
              </p:ext>
            </p:extLst>
          </p:nvPr>
        </p:nvGraphicFramePr>
        <p:xfrm>
          <a:off x="5747962" y="2965607"/>
          <a:ext cx="6295190" cy="1235469"/>
        </p:xfrm>
        <a:graphic>
          <a:graphicData uri="http://schemas.openxmlformats.org/drawingml/2006/table">
            <a:tbl>
              <a:tblPr firstRow="1" bandRow="1">
                <a:tableStyleId>{5C22544A-7EE6-4342-B048-85BDC9FD1C3A}</a:tableStyleId>
              </a:tblPr>
              <a:tblGrid>
                <a:gridCol w="3147596">
                  <a:extLst>
                    <a:ext uri="{9D8B030D-6E8A-4147-A177-3AD203B41FA5}">
                      <a16:colId xmlns:a16="http://schemas.microsoft.com/office/drawing/2014/main" val="2985267146"/>
                    </a:ext>
                  </a:extLst>
                </a:gridCol>
                <a:gridCol w="1530180">
                  <a:extLst>
                    <a:ext uri="{9D8B030D-6E8A-4147-A177-3AD203B41FA5}">
                      <a16:colId xmlns:a16="http://schemas.microsoft.com/office/drawing/2014/main" val="1960985580"/>
                    </a:ext>
                  </a:extLst>
                </a:gridCol>
                <a:gridCol w="1617414">
                  <a:extLst>
                    <a:ext uri="{9D8B030D-6E8A-4147-A177-3AD203B41FA5}">
                      <a16:colId xmlns:a16="http://schemas.microsoft.com/office/drawing/2014/main" val="2053545490"/>
                    </a:ext>
                  </a:extLst>
                </a:gridCol>
              </a:tblGrid>
              <a:tr h="302143">
                <a:tc rowSpan="2">
                  <a:txBody>
                    <a:bodyPr/>
                    <a:lstStyle/>
                    <a:p>
                      <a:pPr algn="ctr"/>
                      <a:r>
                        <a:rPr lang="en-US" altLang="zh-CN" dirty="0"/>
                        <a:t>Row key</a:t>
                      </a:r>
                      <a:endParaRPr lang="zh-CN" altLang="en-US" dirty="0"/>
                    </a:p>
                  </a:txBody>
                  <a:tcPr/>
                </a:tc>
                <a:tc gridSpan="2">
                  <a:txBody>
                    <a:bodyPr/>
                    <a:lstStyle/>
                    <a:p>
                      <a:pPr algn="ctr"/>
                      <a:r>
                        <a:rPr lang="en-US" altLang="zh-CN" dirty="0" err="1"/>
                        <a:t>cf</a:t>
                      </a:r>
                      <a:endParaRPr lang="zh-CN" altLang="en-US" dirty="0"/>
                    </a:p>
                  </a:txBody>
                  <a:tcPr/>
                </a:tc>
                <a:tc hMerge="1">
                  <a:txBody>
                    <a:bodyPr/>
                    <a:lstStyle/>
                    <a:p>
                      <a:endParaRPr lang="zh-CN" altLang="en-US"/>
                    </a:p>
                  </a:txBody>
                  <a:tcPr/>
                </a:tc>
                <a:extLst>
                  <a:ext uri="{0D108BD9-81ED-4DB2-BD59-A6C34878D82A}">
                    <a16:rowId xmlns:a16="http://schemas.microsoft.com/office/drawing/2014/main" val="1439131314"/>
                  </a:ext>
                </a:extLst>
              </a:tr>
              <a:tr h="302143">
                <a:tc vMerge="1">
                  <a:txBody>
                    <a:bodyPr/>
                    <a:lstStyle/>
                    <a:p>
                      <a:endParaRPr lang="zh-CN" altLang="en-US"/>
                    </a:p>
                  </a:txBody>
                  <a:tcPr/>
                </a:tc>
                <a:tc>
                  <a:txBody>
                    <a:bodyPr/>
                    <a:lstStyle/>
                    <a:p>
                      <a:pPr algn="ctr"/>
                      <a:r>
                        <a:rPr lang="en-US" altLang="zh-CN" dirty="0" err="1">
                          <a:latin typeface="Times New Roman" panose="02020603050405020304" pitchFamily="18" charset="0"/>
                          <a:cs typeface="Times New Roman" panose="02020603050405020304" pitchFamily="18" charset="0"/>
                        </a:rPr>
                        <a:t>bucket_size</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err="1">
                          <a:latin typeface="Times New Roman" panose="02020603050405020304" pitchFamily="18" charset="0"/>
                          <a:cs typeface="Times New Roman" panose="02020603050405020304" pitchFamily="18" charset="0"/>
                        </a:rPr>
                        <a:t>Prefix_length</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8999750"/>
                  </a:ext>
                </a:extLst>
              </a:tr>
              <a:tr h="503949">
                <a:tc>
                  <a:txBody>
                    <a:bodyPr/>
                    <a:lstStyle/>
                    <a:p>
                      <a:pPr algn="ctr"/>
                      <a:r>
                        <a:rPr lang="en-US" altLang="zh-CN" sz="1800" kern="1200" dirty="0">
                          <a:solidFill>
                            <a:schemeClr val="dk1"/>
                          </a:solidFill>
                          <a:latin typeface="Times New Roman" panose="02020603050405020304" pitchFamily="18" charset="0"/>
                          <a:ea typeface="+mn-ea"/>
                          <a:cs typeface="Times New Roman" panose="02020603050405020304" pitchFamily="18" charset="0"/>
                        </a:rPr>
                        <a:t>00**</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1800" kern="1200" dirty="0">
                          <a:solidFill>
                            <a:schemeClr val="dk1"/>
                          </a:solidFill>
                          <a:latin typeface="Times New Roman" panose="02020603050405020304" pitchFamily="18" charset="0"/>
                          <a:ea typeface="+mn-ea"/>
                          <a:cs typeface="Times New Roman" panose="02020603050405020304" pitchFamily="18" charset="0"/>
                        </a:rPr>
                        <a:t>3</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1800" kern="1200" dirty="0">
                          <a:solidFill>
                            <a:schemeClr val="dk1"/>
                          </a:solidFill>
                          <a:latin typeface="Times New Roman" panose="02020603050405020304" pitchFamily="18" charset="0"/>
                          <a:ea typeface="+mn-ea"/>
                          <a:cs typeface="Times New Roman" panose="02020603050405020304" pitchFamily="18" charset="0"/>
                        </a:rPr>
                        <a:t>2</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052785970"/>
                  </a:ext>
                </a:extLst>
              </a:tr>
            </a:tbl>
          </a:graphicData>
        </a:graphic>
      </p:graphicFrame>
      <p:sp>
        <p:nvSpPr>
          <p:cNvPr id="9" name="文本框 8">
            <a:extLst>
              <a:ext uri="{FF2B5EF4-FFF2-40B4-BE49-F238E27FC236}">
                <a16:creationId xmlns:a16="http://schemas.microsoft.com/office/drawing/2014/main" id="{4163C952-D5BA-4D56-89A7-0C67C7DD1294}"/>
              </a:ext>
            </a:extLst>
          </p:cNvPr>
          <p:cNvSpPr txBox="1"/>
          <p:nvPr/>
        </p:nvSpPr>
        <p:spPr>
          <a:xfrm>
            <a:off x="7572277" y="2565497"/>
            <a:ext cx="2627453" cy="400110"/>
          </a:xfrm>
          <a:prstGeom prst="rect">
            <a:avLst/>
          </a:prstGeom>
          <a:noFill/>
        </p:spPr>
        <p:txBody>
          <a:bodyPr wrap="square" rtlCol="0">
            <a:spAutoFit/>
          </a:bodyPr>
          <a:lstStyle/>
          <a:p>
            <a:pPr algn="ctr"/>
            <a:r>
              <a:rPr lang="zh-CN" altLang="en-US" sz="2000" dirty="0"/>
              <a:t>编码表</a:t>
            </a:r>
          </a:p>
        </p:txBody>
      </p:sp>
      <p:sp>
        <p:nvSpPr>
          <p:cNvPr id="7" name="矩形 6">
            <a:extLst>
              <a:ext uri="{FF2B5EF4-FFF2-40B4-BE49-F238E27FC236}">
                <a16:creationId xmlns:a16="http://schemas.microsoft.com/office/drawing/2014/main" id="{E7A06CF8-1FFF-473C-A824-85D5133ED0EA}"/>
              </a:ext>
            </a:extLst>
          </p:cNvPr>
          <p:cNvSpPr/>
          <p:nvPr/>
        </p:nvSpPr>
        <p:spPr>
          <a:xfrm>
            <a:off x="669924" y="1819154"/>
            <a:ext cx="11749405" cy="458908"/>
          </a:xfrm>
          <a:prstGeom prst="rect">
            <a:avLst/>
          </a:prstGeom>
        </p:spPr>
        <p:txBody>
          <a:bodyPr wrap="square">
            <a:spAutoFit/>
          </a:bodyPr>
          <a:lstStyle/>
          <a:p>
            <a:pPr>
              <a:lnSpc>
                <a:spcPct val="150000"/>
              </a:lnSpc>
            </a:pPr>
            <a:r>
              <a:rPr lang="en-US" altLang="zh-CN" b="1" dirty="0">
                <a:solidFill>
                  <a:srgbClr val="333333"/>
                </a:solidFill>
                <a:latin typeface="+mn-ea"/>
              </a:rPr>
              <a:t>MD-HBase: A Scalable Multi-dimensional Data Infrastructure for Location Aware Services</a:t>
            </a:r>
            <a:endParaRPr lang="en-US" altLang="zh-CN" b="1" i="0" dirty="0">
              <a:solidFill>
                <a:srgbClr val="333333"/>
              </a:solidFill>
              <a:effectLst/>
              <a:latin typeface="+mn-ea"/>
            </a:endParaRPr>
          </a:p>
        </p:txBody>
      </p:sp>
      <p:graphicFrame>
        <p:nvGraphicFramePr>
          <p:cNvPr id="11" name="表格 10">
            <a:extLst>
              <a:ext uri="{FF2B5EF4-FFF2-40B4-BE49-F238E27FC236}">
                <a16:creationId xmlns:a16="http://schemas.microsoft.com/office/drawing/2014/main" id="{44A4BEA2-5481-48E8-8579-55DB2E37A59C}"/>
              </a:ext>
            </a:extLst>
          </p:cNvPr>
          <p:cNvGraphicFramePr>
            <a:graphicFrameLocks noGrp="1"/>
          </p:cNvGraphicFramePr>
          <p:nvPr>
            <p:extLst>
              <p:ext uri="{D42A27DB-BD31-4B8C-83A1-F6EECF244321}">
                <p14:modId xmlns:p14="http://schemas.microsoft.com/office/powerpoint/2010/main" val="3619615710"/>
              </p:ext>
            </p:extLst>
          </p:nvPr>
        </p:nvGraphicFramePr>
        <p:xfrm>
          <a:off x="5728854" y="4279585"/>
          <a:ext cx="6314298" cy="2062480"/>
        </p:xfrm>
        <a:graphic>
          <a:graphicData uri="http://schemas.openxmlformats.org/drawingml/2006/table">
            <a:tbl>
              <a:tblPr firstRow="1" bandRow="1">
                <a:tableStyleId>{5C22544A-7EE6-4342-B048-85BDC9FD1C3A}</a:tableStyleId>
              </a:tblPr>
              <a:tblGrid>
                <a:gridCol w="3165238">
                  <a:extLst>
                    <a:ext uri="{9D8B030D-6E8A-4147-A177-3AD203B41FA5}">
                      <a16:colId xmlns:a16="http://schemas.microsoft.com/office/drawing/2014/main" val="2985267146"/>
                    </a:ext>
                  </a:extLst>
                </a:gridCol>
                <a:gridCol w="1582619">
                  <a:extLst>
                    <a:ext uri="{9D8B030D-6E8A-4147-A177-3AD203B41FA5}">
                      <a16:colId xmlns:a16="http://schemas.microsoft.com/office/drawing/2014/main" val="1960985580"/>
                    </a:ext>
                  </a:extLst>
                </a:gridCol>
                <a:gridCol w="1566441">
                  <a:extLst>
                    <a:ext uri="{9D8B030D-6E8A-4147-A177-3AD203B41FA5}">
                      <a16:colId xmlns:a16="http://schemas.microsoft.com/office/drawing/2014/main" val="2053545490"/>
                    </a:ext>
                  </a:extLst>
                </a:gridCol>
              </a:tblGrid>
              <a:tr h="302143">
                <a:tc rowSpan="2">
                  <a:txBody>
                    <a:bodyPr/>
                    <a:lstStyle/>
                    <a:p>
                      <a:pPr algn="ctr"/>
                      <a:r>
                        <a:rPr lang="en-US" altLang="zh-CN" dirty="0"/>
                        <a:t>Row key</a:t>
                      </a:r>
                      <a:endParaRPr lang="zh-CN" altLang="en-US" dirty="0"/>
                    </a:p>
                  </a:txBody>
                  <a:tcPr/>
                </a:tc>
                <a:tc gridSpan="2">
                  <a:txBody>
                    <a:bodyPr/>
                    <a:lstStyle/>
                    <a:p>
                      <a:pPr algn="ctr"/>
                      <a:r>
                        <a:rPr lang="en-US" altLang="zh-CN" dirty="0" err="1">
                          <a:latin typeface="Times New Roman" panose="02020603050405020304" pitchFamily="18" charset="0"/>
                          <a:cs typeface="Times New Roman" panose="02020603050405020304" pitchFamily="18" charset="0"/>
                        </a:rPr>
                        <a:t>cf</a:t>
                      </a:r>
                      <a:endParaRPr lang="zh-CN" altLang="en-US" dirty="0">
                        <a:latin typeface="Times New Roman" panose="02020603050405020304" pitchFamily="18" charset="0"/>
                        <a:cs typeface="Times New Roman" panose="02020603050405020304" pitchFamily="18" charset="0"/>
                      </a:endParaRPr>
                    </a:p>
                  </a:txBody>
                  <a:tcPr/>
                </a:tc>
                <a:tc hMerge="1">
                  <a:txBody>
                    <a:bodyPr/>
                    <a:lstStyle/>
                    <a:p>
                      <a:endParaRPr lang="zh-CN" altLang="en-US"/>
                    </a:p>
                  </a:txBody>
                  <a:tcPr/>
                </a:tc>
                <a:extLst>
                  <a:ext uri="{0D108BD9-81ED-4DB2-BD59-A6C34878D82A}">
                    <a16:rowId xmlns:a16="http://schemas.microsoft.com/office/drawing/2014/main" val="1439131314"/>
                  </a:ext>
                </a:extLst>
              </a:tr>
              <a:tr h="302143">
                <a:tc vMerge="1">
                  <a:txBody>
                    <a:bodyPr/>
                    <a:lstStyle/>
                    <a:p>
                      <a:endParaRPr lang="zh-CN" altLang="en-US"/>
                    </a:p>
                  </a:txBody>
                  <a:tcPr/>
                </a:tc>
                <a:tc>
                  <a:txBody>
                    <a:bodyPr/>
                    <a:lstStyle/>
                    <a:p>
                      <a:pPr algn="ctr"/>
                      <a:r>
                        <a:rPr lang="en-US" altLang="zh-CN" dirty="0" err="1">
                          <a:latin typeface="Times New Roman" panose="02020603050405020304" pitchFamily="18" charset="0"/>
                          <a:cs typeface="Times New Roman" panose="02020603050405020304" pitchFamily="18" charset="0"/>
                        </a:rPr>
                        <a:t>bucket_size</a:t>
                      </a:r>
                      <a:endParaRPr lang="zh-CN" altLang="en-US" dirty="0">
                        <a:latin typeface="Times New Roman" panose="02020603050405020304" pitchFamily="18" charset="0"/>
                        <a:cs typeface="Times New Roman" panose="02020603050405020304" pitchFamily="18" charset="0"/>
                      </a:endParaRPr>
                    </a:p>
                  </a:txBody>
                  <a:tcPr/>
                </a:tc>
                <a:tc>
                  <a:txBody>
                    <a:bodyPr/>
                    <a:lstStyle/>
                    <a:p>
                      <a:pPr algn="ctr"/>
                      <a:r>
                        <a:rPr lang="en-US" altLang="zh-CN" dirty="0" err="1">
                          <a:latin typeface="Times New Roman" panose="02020603050405020304" pitchFamily="18" charset="0"/>
                          <a:cs typeface="Times New Roman" panose="02020603050405020304" pitchFamily="18" charset="0"/>
                        </a:rPr>
                        <a:t>Prefix_length</a:t>
                      </a:r>
                      <a:endParaRPr lang="zh-CN" alt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8999750"/>
                  </a:ext>
                </a:extLst>
              </a:tr>
              <a:tr h="447040">
                <a:tc>
                  <a:txBody>
                    <a:bodyPr/>
                    <a:lstStyle/>
                    <a:p>
                      <a:pPr algn="ctr"/>
                      <a:r>
                        <a:rPr lang="en-US" altLang="zh-CN" sz="1800" kern="1200" dirty="0">
                          <a:solidFill>
                            <a:schemeClr val="dk1"/>
                          </a:solidFill>
                          <a:latin typeface="Times New Roman" panose="02020603050405020304" pitchFamily="18" charset="0"/>
                          <a:ea typeface="+mn-ea"/>
                          <a:cs typeface="Times New Roman" panose="02020603050405020304" pitchFamily="18" charset="0"/>
                        </a:rPr>
                        <a:t>00</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a:t>
                      </a:r>
                      <a:r>
                        <a:rPr lang="en-US" altLang="zh-CN" sz="1800" kern="1200" dirty="0">
                          <a:solidFill>
                            <a:schemeClr val="dk1"/>
                          </a:solidFill>
                          <a:latin typeface="Times New Roman" panose="02020603050405020304" pitchFamily="18" charset="0"/>
                          <a:ea typeface="+mn-ea"/>
                          <a:cs typeface="Times New Roman" panose="02020603050405020304" pitchFamily="18" charset="0"/>
                        </a:rPr>
                        <a:t>*</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914354" rtl="0" eaLnBrk="1" latinLnBrk="0" hangingPunct="1"/>
                      <a:r>
                        <a:rPr lang="en-US" altLang="zh-CN" sz="1800" kern="1200" dirty="0">
                          <a:solidFill>
                            <a:schemeClr val="dk1"/>
                          </a:solidFill>
                          <a:latin typeface="Times New Roman" panose="02020603050405020304" pitchFamily="18" charset="0"/>
                          <a:ea typeface="+mn-ea"/>
                          <a:cs typeface="Times New Roman" panose="02020603050405020304" pitchFamily="18" charset="0"/>
                        </a:rPr>
                        <a:t>3</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914354" rtl="0" eaLnBrk="1" latinLnBrk="0" hangingPunct="1"/>
                      <a:r>
                        <a:rPr lang="en-US" altLang="zh-CN" sz="1800" kern="1200" dirty="0">
                          <a:solidFill>
                            <a:schemeClr val="dk1"/>
                          </a:solidFill>
                          <a:latin typeface="Times New Roman" panose="02020603050405020304" pitchFamily="18" charset="0"/>
                          <a:ea typeface="+mn-ea"/>
                          <a:cs typeface="Times New Roman" panose="02020603050405020304" pitchFamily="18" charset="0"/>
                        </a:rPr>
                        <a:t>2</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052785970"/>
                  </a:ext>
                </a:extLst>
              </a:tr>
              <a:tr h="518160">
                <a:tc>
                  <a:txBody>
                    <a:bodyPr/>
                    <a:lstStyle/>
                    <a:p>
                      <a:pPr algn="ctr"/>
                      <a:r>
                        <a:rPr lang="en-US" altLang="zh-CN" sz="1800" kern="1200" dirty="0">
                          <a:solidFill>
                            <a:schemeClr val="dk1"/>
                          </a:solidFill>
                          <a:latin typeface="Times New Roman" panose="02020603050405020304" pitchFamily="18" charset="0"/>
                          <a:ea typeface="+mn-ea"/>
                          <a:cs typeface="Times New Roman" panose="02020603050405020304" pitchFamily="18" charset="0"/>
                        </a:rPr>
                        <a:t>000</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a:t>
                      </a:r>
                    </a:p>
                  </a:txBody>
                  <a:tcPr/>
                </a:tc>
                <a:tc>
                  <a:txBody>
                    <a:bodyPr/>
                    <a:lstStyle/>
                    <a:p>
                      <a:pPr marL="0" algn="ctr" defTabSz="914354" rtl="0" eaLnBrk="1" latinLnBrk="0" hangingPunct="1"/>
                      <a:r>
                        <a:rPr lang="en-US" altLang="zh-CN" sz="1800" kern="1200" dirty="0">
                          <a:solidFill>
                            <a:schemeClr val="dk1"/>
                          </a:solidFill>
                          <a:latin typeface="Times New Roman" panose="02020603050405020304" pitchFamily="18" charset="0"/>
                          <a:ea typeface="+mn-ea"/>
                          <a:cs typeface="Times New Roman" panose="02020603050405020304" pitchFamily="18" charset="0"/>
                        </a:rPr>
                        <a:t>2</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914354" rtl="0" eaLnBrk="1" latinLnBrk="0" hangingPunct="1"/>
                      <a:r>
                        <a:rPr lang="en-US" altLang="zh-CN" sz="1800" kern="1200" dirty="0">
                          <a:solidFill>
                            <a:schemeClr val="dk1"/>
                          </a:solidFill>
                          <a:latin typeface="Times New Roman" panose="02020603050405020304" pitchFamily="18" charset="0"/>
                          <a:ea typeface="+mn-ea"/>
                          <a:cs typeface="Times New Roman" panose="02020603050405020304" pitchFamily="18" charset="0"/>
                        </a:rPr>
                        <a:t>3</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52907017"/>
                  </a:ext>
                </a:extLst>
              </a:tr>
              <a:tr h="304800">
                <a:tc>
                  <a:txBody>
                    <a:bodyPr/>
                    <a:lstStyle/>
                    <a:p>
                      <a:pPr algn="ctr"/>
                      <a:r>
                        <a:rPr lang="en-US" altLang="zh-CN" sz="1800" kern="1200" dirty="0">
                          <a:solidFill>
                            <a:schemeClr val="dk1"/>
                          </a:solidFill>
                          <a:latin typeface="Times New Roman" panose="02020603050405020304" pitchFamily="18" charset="0"/>
                          <a:ea typeface="+mn-ea"/>
                          <a:cs typeface="Times New Roman" panose="02020603050405020304" pitchFamily="18" charset="0"/>
                        </a:rPr>
                        <a:t>001</a:t>
                      </a:r>
                      <a:r>
                        <a:rPr lang="zh-CN" altLang="en-US" sz="1800" kern="1200" dirty="0">
                          <a:solidFill>
                            <a:schemeClr val="dk1"/>
                          </a:solidFill>
                          <a:latin typeface="Times New Roman" panose="02020603050405020304" pitchFamily="18" charset="0"/>
                          <a:ea typeface="+mn-ea"/>
                          <a:cs typeface="Times New Roman" panose="02020603050405020304" pitchFamily="18" charset="0"/>
                        </a:rPr>
                        <a:t>*</a:t>
                      </a:r>
                    </a:p>
                  </a:txBody>
                  <a:tcPr/>
                </a:tc>
                <a:tc>
                  <a:txBody>
                    <a:bodyPr/>
                    <a:lstStyle/>
                    <a:p>
                      <a:pPr marL="0" algn="ctr" defTabSz="914354" rtl="0" eaLnBrk="1" latinLnBrk="0" hangingPunct="1"/>
                      <a:r>
                        <a:rPr lang="en-US" altLang="zh-CN" sz="1800" kern="1200" dirty="0">
                          <a:solidFill>
                            <a:schemeClr val="dk1"/>
                          </a:solidFill>
                          <a:latin typeface="Times New Roman" panose="02020603050405020304" pitchFamily="18" charset="0"/>
                          <a:ea typeface="+mn-ea"/>
                          <a:cs typeface="Times New Roman" panose="02020603050405020304" pitchFamily="18" charset="0"/>
                        </a:rPr>
                        <a:t>1</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0" algn="ctr" defTabSz="914354" rtl="0" eaLnBrk="1" latinLnBrk="0" hangingPunct="1"/>
                      <a:r>
                        <a:rPr lang="en-US" altLang="zh-CN" sz="1800" kern="1200" dirty="0">
                          <a:solidFill>
                            <a:schemeClr val="dk1"/>
                          </a:solidFill>
                          <a:latin typeface="Times New Roman" panose="02020603050405020304" pitchFamily="18" charset="0"/>
                          <a:ea typeface="+mn-ea"/>
                          <a:cs typeface="Times New Roman" panose="02020603050405020304" pitchFamily="18" charset="0"/>
                        </a:rPr>
                        <a:t>3</a:t>
                      </a:r>
                      <a:endParaRPr lang="zh-CN" altLang="en-US" sz="18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602941761"/>
                  </a:ext>
                </a:extLst>
              </a:tr>
            </a:tbl>
          </a:graphicData>
        </a:graphic>
      </p:graphicFrame>
    </p:spTree>
    <p:extLst>
      <p:ext uri="{BB962C8B-B14F-4D97-AF65-F5344CB8AC3E}">
        <p14:creationId xmlns:p14="http://schemas.microsoft.com/office/powerpoint/2010/main" val="267270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en-US" altLang="zh-CN" dirty="0"/>
              <a:t>Md-</a:t>
            </a:r>
            <a:r>
              <a:rPr lang="en-US" altLang="zh-CN" dirty="0" err="1"/>
              <a:t>hbase</a:t>
            </a:r>
            <a:r>
              <a:rPr lang="zh-CN" altLang="en-US" dirty="0"/>
              <a:t>：查询</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9</a:t>
            </a:fld>
            <a:endParaRPr lang="zh-CN" altLang="en-US"/>
          </a:p>
        </p:txBody>
      </p:sp>
      <p:pic>
        <p:nvPicPr>
          <p:cNvPr id="5" name="图片 4">
            <a:extLst>
              <a:ext uri="{FF2B5EF4-FFF2-40B4-BE49-F238E27FC236}">
                <a16:creationId xmlns:a16="http://schemas.microsoft.com/office/drawing/2014/main" id="{9C409329-AE37-45D3-8B78-593BCF88A3C8}"/>
              </a:ext>
            </a:extLst>
          </p:cNvPr>
          <p:cNvPicPr>
            <a:picLocks noChangeAspect="1"/>
          </p:cNvPicPr>
          <p:nvPr/>
        </p:nvPicPr>
        <p:blipFill rotWithShape="1">
          <a:blip r:embed="rId3"/>
          <a:srcRect t="1965"/>
          <a:stretch/>
        </p:blipFill>
        <p:spPr>
          <a:xfrm>
            <a:off x="448342" y="1296365"/>
            <a:ext cx="6017253" cy="4794074"/>
          </a:xfrm>
          <a:prstGeom prst="rect">
            <a:avLst/>
          </a:prstGeom>
        </p:spPr>
      </p:pic>
      <p:sp>
        <p:nvSpPr>
          <p:cNvPr id="7" name="文本框 6">
            <a:extLst>
              <a:ext uri="{FF2B5EF4-FFF2-40B4-BE49-F238E27FC236}">
                <a16:creationId xmlns:a16="http://schemas.microsoft.com/office/drawing/2014/main" id="{DFBA30D6-6A05-4CF5-8970-1536D5CF40E9}"/>
              </a:ext>
            </a:extLst>
          </p:cNvPr>
          <p:cNvSpPr txBox="1"/>
          <p:nvPr/>
        </p:nvSpPr>
        <p:spPr>
          <a:xfrm>
            <a:off x="6315124" y="2621086"/>
            <a:ext cx="4907666" cy="2446824"/>
          </a:xfrm>
          <a:prstGeom prst="rect">
            <a:avLst/>
          </a:prstGeom>
          <a:noFill/>
        </p:spPr>
        <p:txBody>
          <a:bodyPr wrap="square" rtlCol="0">
            <a:spAutoFit/>
          </a:bodyPr>
          <a:lstStyle/>
          <a:p>
            <a:pPr>
              <a:lnSpc>
                <a:spcPct val="150000"/>
              </a:lnSpc>
            </a:pPr>
            <a:r>
              <a:rPr lang="zh-CN" altLang="en-US" dirty="0"/>
              <a:t>如果没有索引表：即 </a:t>
            </a:r>
            <a:r>
              <a:rPr lang="en-US" altLang="zh-CN" dirty="0"/>
              <a:t>001001 – 100111</a:t>
            </a:r>
          </a:p>
          <a:p>
            <a:pPr>
              <a:lnSpc>
                <a:spcPct val="150000"/>
              </a:lnSpc>
            </a:pPr>
            <a:r>
              <a:rPr lang="en-US" altLang="zh-CN" dirty="0" err="1"/>
              <a:t>Xmin</a:t>
            </a:r>
            <a:r>
              <a:rPr lang="en-US" altLang="zh-CN" dirty="0"/>
              <a:t> = 2</a:t>
            </a:r>
            <a:r>
              <a:rPr lang="zh-CN" altLang="en-US" dirty="0"/>
              <a:t>（</a:t>
            </a:r>
            <a:r>
              <a:rPr lang="en-US" altLang="zh-CN" dirty="0"/>
              <a:t>010</a:t>
            </a:r>
            <a:r>
              <a:rPr lang="zh-CN" altLang="en-US" dirty="0"/>
              <a:t>） ，</a:t>
            </a:r>
            <a:r>
              <a:rPr lang="en-US" altLang="zh-CN" dirty="0" err="1"/>
              <a:t>Ymin</a:t>
            </a:r>
            <a:r>
              <a:rPr lang="en-US" altLang="zh-CN" dirty="0"/>
              <a:t> = 1</a:t>
            </a:r>
            <a:r>
              <a:rPr lang="zh-CN" altLang="en-US" dirty="0"/>
              <a:t>（</a:t>
            </a:r>
            <a:r>
              <a:rPr lang="en-US" altLang="zh-CN" dirty="0"/>
              <a:t>001</a:t>
            </a:r>
            <a:r>
              <a:rPr lang="zh-CN" altLang="en-US" dirty="0"/>
              <a:t>）</a:t>
            </a:r>
            <a:endParaRPr lang="en-US" altLang="zh-CN" dirty="0"/>
          </a:p>
          <a:p>
            <a:pPr>
              <a:lnSpc>
                <a:spcPct val="150000"/>
              </a:lnSpc>
            </a:pPr>
            <a:r>
              <a:rPr lang="en-US" altLang="zh-CN" dirty="0"/>
              <a:t>Xmax= 5</a:t>
            </a:r>
            <a:r>
              <a:rPr lang="zh-CN" altLang="en-US" dirty="0"/>
              <a:t>（</a:t>
            </a:r>
            <a:r>
              <a:rPr lang="en-US" altLang="zh-CN" dirty="0"/>
              <a:t>101</a:t>
            </a:r>
            <a:r>
              <a:rPr lang="zh-CN" altLang="en-US" dirty="0"/>
              <a:t>） ，</a:t>
            </a:r>
            <a:r>
              <a:rPr lang="en-US" altLang="zh-CN" dirty="0" err="1"/>
              <a:t>Ymax</a:t>
            </a:r>
            <a:r>
              <a:rPr lang="en-US" altLang="zh-CN" dirty="0"/>
              <a:t>= 3</a:t>
            </a:r>
            <a:r>
              <a:rPr lang="zh-CN" altLang="en-US" dirty="0"/>
              <a:t>（</a:t>
            </a:r>
            <a:r>
              <a:rPr lang="en-US" altLang="zh-CN" dirty="0"/>
              <a:t>011</a:t>
            </a:r>
            <a:r>
              <a:rPr lang="zh-CN" altLang="en-US" dirty="0"/>
              <a:t>）</a:t>
            </a:r>
            <a:endParaRPr lang="en-US" altLang="zh-CN" dirty="0"/>
          </a:p>
          <a:p>
            <a:pPr>
              <a:lnSpc>
                <a:spcPct val="150000"/>
              </a:lnSpc>
            </a:pPr>
            <a:r>
              <a:rPr lang="zh-CN" altLang="en-US" dirty="0"/>
              <a:t>只需一次</a:t>
            </a:r>
            <a:r>
              <a:rPr lang="en-US" altLang="zh-CN" dirty="0"/>
              <a:t>Scan</a:t>
            </a:r>
            <a:r>
              <a:rPr lang="zh-CN" altLang="en-US" dirty="0"/>
              <a:t>操作，但是会有很多不在查询范围内的点。需要精过滤操作。</a:t>
            </a:r>
            <a:endParaRPr lang="en-US" altLang="zh-CN" dirty="0"/>
          </a:p>
          <a:p>
            <a:endParaRPr lang="zh-CN" altLang="en-US" dirty="0"/>
          </a:p>
        </p:txBody>
      </p:sp>
    </p:spTree>
    <p:extLst>
      <p:ext uri="{BB962C8B-B14F-4D97-AF65-F5344CB8AC3E}">
        <p14:creationId xmlns:p14="http://schemas.microsoft.com/office/powerpoint/2010/main" val="2113670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en-US" altLang="zh-CN" dirty="0"/>
              <a:t>md-HBase</a:t>
            </a:r>
            <a:r>
              <a:rPr lang="zh-CN" altLang="en-US" dirty="0"/>
              <a:t>：查询</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10</a:t>
            </a:fld>
            <a:endParaRPr lang="zh-CN" altLang="en-US"/>
          </a:p>
        </p:txBody>
      </p:sp>
      <p:sp>
        <p:nvSpPr>
          <p:cNvPr id="7" name="文本框 6">
            <a:extLst>
              <a:ext uri="{FF2B5EF4-FFF2-40B4-BE49-F238E27FC236}">
                <a16:creationId xmlns:a16="http://schemas.microsoft.com/office/drawing/2014/main" id="{DFBA30D6-6A05-4CF5-8970-1536D5CF40E9}"/>
              </a:ext>
            </a:extLst>
          </p:cNvPr>
          <p:cNvSpPr txBox="1"/>
          <p:nvPr/>
        </p:nvSpPr>
        <p:spPr>
          <a:xfrm>
            <a:off x="5871076" y="3974544"/>
            <a:ext cx="5649411" cy="458459"/>
          </a:xfrm>
          <a:prstGeom prst="rect">
            <a:avLst/>
          </a:prstGeom>
          <a:noFill/>
        </p:spPr>
        <p:txBody>
          <a:bodyPr wrap="square" rtlCol="0">
            <a:spAutoFit/>
          </a:bodyPr>
          <a:lstStyle/>
          <a:p>
            <a:pPr>
              <a:lnSpc>
                <a:spcPct val="150000"/>
              </a:lnSpc>
            </a:pPr>
            <a:r>
              <a:rPr lang="zh-CN" altLang="en-US" dirty="0"/>
              <a:t>精确查询，即转换为</a:t>
            </a:r>
            <a:r>
              <a:rPr lang="en-US" altLang="zh-CN" dirty="0"/>
              <a:t>4</a:t>
            </a:r>
            <a:r>
              <a:rPr lang="zh-CN" altLang="en-US" dirty="0"/>
              <a:t>个</a:t>
            </a:r>
            <a:r>
              <a:rPr lang="en-US" altLang="zh-CN" dirty="0"/>
              <a:t>Range</a:t>
            </a:r>
            <a:r>
              <a:rPr lang="zh-CN" altLang="en-US" dirty="0"/>
              <a:t>。不需要任何过滤</a:t>
            </a:r>
            <a:endParaRPr lang="en-US" altLang="zh-CN" dirty="0"/>
          </a:p>
        </p:txBody>
      </p:sp>
      <p:pic>
        <p:nvPicPr>
          <p:cNvPr id="3" name="图片 2">
            <a:extLst>
              <a:ext uri="{FF2B5EF4-FFF2-40B4-BE49-F238E27FC236}">
                <a16:creationId xmlns:a16="http://schemas.microsoft.com/office/drawing/2014/main" id="{52EC4BBD-311F-46A6-9BD0-593156A04EB3}"/>
              </a:ext>
            </a:extLst>
          </p:cNvPr>
          <p:cNvPicPr>
            <a:picLocks noChangeAspect="1"/>
          </p:cNvPicPr>
          <p:nvPr/>
        </p:nvPicPr>
        <p:blipFill>
          <a:blip r:embed="rId3"/>
          <a:stretch>
            <a:fillRect/>
          </a:stretch>
        </p:blipFill>
        <p:spPr>
          <a:xfrm>
            <a:off x="669924" y="1588081"/>
            <a:ext cx="5291273" cy="4256762"/>
          </a:xfrm>
          <a:prstGeom prst="rect">
            <a:avLst/>
          </a:prstGeom>
        </p:spPr>
      </p:pic>
      <p:sp>
        <p:nvSpPr>
          <p:cNvPr id="5" name="矩形 4">
            <a:extLst>
              <a:ext uri="{FF2B5EF4-FFF2-40B4-BE49-F238E27FC236}">
                <a16:creationId xmlns:a16="http://schemas.microsoft.com/office/drawing/2014/main" id="{8469347E-75CE-4A99-A8F2-A9B3E669DDDE}"/>
              </a:ext>
            </a:extLst>
          </p:cNvPr>
          <p:cNvSpPr/>
          <p:nvPr/>
        </p:nvSpPr>
        <p:spPr>
          <a:xfrm>
            <a:off x="5961197" y="2524176"/>
            <a:ext cx="6096000" cy="1289456"/>
          </a:xfrm>
          <a:prstGeom prst="rect">
            <a:avLst/>
          </a:prstGeom>
        </p:spPr>
        <p:txBody>
          <a:bodyPr>
            <a:spAutoFit/>
          </a:bodyPr>
          <a:lstStyle/>
          <a:p>
            <a:pPr>
              <a:lnSpc>
                <a:spcPct val="150000"/>
              </a:lnSpc>
            </a:pPr>
            <a:r>
              <a:rPr lang="zh-CN" altLang="en-US" dirty="0"/>
              <a:t>如果没有索引表：即 </a:t>
            </a:r>
            <a:r>
              <a:rPr lang="en-US" altLang="zh-CN" dirty="0"/>
              <a:t>001001 – 100111</a:t>
            </a:r>
          </a:p>
          <a:p>
            <a:pPr>
              <a:lnSpc>
                <a:spcPct val="150000"/>
              </a:lnSpc>
            </a:pPr>
            <a:r>
              <a:rPr lang="en-US" altLang="zh-CN" dirty="0" err="1"/>
              <a:t>Xmin</a:t>
            </a:r>
            <a:r>
              <a:rPr lang="en-US" altLang="zh-CN" dirty="0"/>
              <a:t> = 2</a:t>
            </a:r>
            <a:r>
              <a:rPr lang="zh-CN" altLang="en-US" dirty="0"/>
              <a:t>（</a:t>
            </a:r>
            <a:r>
              <a:rPr lang="en-US" altLang="zh-CN" dirty="0"/>
              <a:t>010</a:t>
            </a:r>
            <a:r>
              <a:rPr lang="zh-CN" altLang="en-US" dirty="0"/>
              <a:t>） ，</a:t>
            </a:r>
            <a:r>
              <a:rPr lang="en-US" altLang="zh-CN" dirty="0" err="1"/>
              <a:t>Ymin</a:t>
            </a:r>
            <a:r>
              <a:rPr lang="en-US" altLang="zh-CN" dirty="0"/>
              <a:t> = 1</a:t>
            </a:r>
            <a:r>
              <a:rPr lang="zh-CN" altLang="en-US" dirty="0"/>
              <a:t>（</a:t>
            </a:r>
            <a:r>
              <a:rPr lang="en-US" altLang="zh-CN" dirty="0"/>
              <a:t>001</a:t>
            </a:r>
            <a:r>
              <a:rPr lang="zh-CN" altLang="en-US" dirty="0"/>
              <a:t>）</a:t>
            </a:r>
            <a:endParaRPr lang="en-US" altLang="zh-CN" dirty="0"/>
          </a:p>
          <a:p>
            <a:pPr>
              <a:lnSpc>
                <a:spcPct val="150000"/>
              </a:lnSpc>
            </a:pPr>
            <a:r>
              <a:rPr lang="en-US" altLang="zh-CN" dirty="0" err="1"/>
              <a:t>Xmax</a:t>
            </a:r>
            <a:r>
              <a:rPr lang="en-US" altLang="zh-CN" dirty="0"/>
              <a:t>= 5</a:t>
            </a:r>
            <a:r>
              <a:rPr lang="zh-CN" altLang="en-US" dirty="0"/>
              <a:t>（</a:t>
            </a:r>
            <a:r>
              <a:rPr lang="en-US" altLang="zh-CN" dirty="0"/>
              <a:t>101</a:t>
            </a:r>
            <a:r>
              <a:rPr lang="zh-CN" altLang="en-US" dirty="0"/>
              <a:t>） ，</a:t>
            </a:r>
            <a:r>
              <a:rPr lang="en-US" altLang="zh-CN" dirty="0" err="1"/>
              <a:t>Ymax</a:t>
            </a:r>
            <a:r>
              <a:rPr lang="en-US" altLang="zh-CN" dirty="0"/>
              <a:t>= 3</a:t>
            </a:r>
            <a:r>
              <a:rPr lang="zh-CN" altLang="en-US" dirty="0"/>
              <a:t>（</a:t>
            </a:r>
            <a:r>
              <a:rPr lang="en-US" altLang="zh-CN" dirty="0"/>
              <a:t>011</a:t>
            </a:r>
            <a:r>
              <a:rPr lang="zh-CN" altLang="en-US" dirty="0"/>
              <a:t>）</a:t>
            </a:r>
            <a:endParaRPr lang="en-US" altLang="zh-CN" dirty="0"/>
          </a:p>
        </p:txBody>
      </p:sp>
    </p:spTree>
    <p:extLst>
      <p:ext uri="{BB962C8B-B14F-4D97-AF65-F5344CB8AC3E}">
        <p14:creationId xmlns:p14="http://schemas.microsoft.com/office/powerpoint/2010/main" val="3169291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924" y="484632"/>
            <a:ext cx="10850563" cy="544068"/>
          </a:xfrm>
        </p:spPr>
        <p:txBody>
          <a:bodyPr/>
          <a:lstStyle/>
          <a:p>
            <a:r>
              <a:rPr lang="en-US" altLang="zh-CN" dirty="0"/>
              <a:t>Md-</a:t>
            </a:r>
            <a:r>
              <a:rPr lang="en-US" altLang="zh-CN" dirty="0" err="1"/>
              <a:t>hbase</a:t>
            </a:r>
            <a:r>
              <a:rPr lang="zh-CN" altLang="en-US" dirty="0"/>
              <a:t>：总结</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pPr/>
              <a:t>11</a:t>
            </a:fld>
            <a:endParaRPr lang="zh-CN" altLang="en-US"/>
          </a:p>
        </p:txBody>
      </p:sp>
      <p:sp>
        <p:nvSpPr>
          <p:cNvPr id="7" name="文本框 6">
            <a:extLst>
              <a:ext uri="{FF2B5EF4-FFF2-40B4-BE49-F238E27FC236}">
                <a16:creationId xmlns:a16="http://schemas.microsoft.com/office/drawing/2014/main" id="{DFBA30D6-6A05-4CF5-8970-1536D5CF40E9}"/>
              </a:ext>
            </a:extLst>
          </p:cNvPr>
          <p:cNvSpPr txBox="1"/>
          <p:nvPr/>
        </p:nvSpPr>
        <p:spPr>
          <a:xfrm>
            <a:off x="782426" y="1544591"/>
            <a:ext cx="10132501" cy="3780522"/>
          </a:xfrm>
          <a:prstGeom prst="rect">
            <a:avLst/>
          </a:prstGeom>
          <a:noFill/>
        </p:spPr>
        <p:txBody>
          <a:bodyPr wrap="square" rtlCol="0">
            <a:spAutoFit/>
          </a:bodyPr>
          <a:lstStyle/>
          <a:p>
            <a:pPr>
              <a:lnSpc>
                <a:spcPct val="150000"/>
              </a:lnSpc>
            </a:pPr>
            <a:r>
              <a:rPr lang="zh-CN" altLang="en-US" dirty="0"/>
              <a:t>建立索引表，利用前缀，将范围查询转换为多个</a:t>
            </a:r>
            <a:r>
              <a:rPr lang="en-US" altLang="zh-CN" dirty="0"/>
              <a:t>Range</a:t>
            </a:r>
            <a:r>
              <a:rPr lang="zh-CN" altLang="en-US" dirty="0"/>
              <a:t>查询。</a:t>
            </a:r>
            <a:endParaRPr lang="en-US" altLang="zh-CN" dirty="0"/>
          </a:p>
          <a:p>
            <a:pPr>
              <a:lnSpc>
                <a:spcPct val="150000"/>
              </a:lnSpc>
            </a:pPr>
            <a:endParaRPr lang="en-US" altLang="zh-CN" dirty="0"/>
          </a:p>
          <a:p>
            <a:pPr>
              <a:lnSpc>
                <a:spcPct val="150000"/>
              </a:lnSpc>
            </a:pPr>
            <a:r>
              <a:rPr lang="zh-CN" altLang="en-US" dirty="0"/>
              <a:t>缺点：</a:t>
            </a:r>
            <a:endParaRPr lang="en-US" altLang="zh-CN" dirty="0"/>
          </a:p>
          <a:p>
            <a:pPr>
              <a:lnSpc>
                <a:spcPct val="150000"/>
              </a:lnSpc>
            </a:pPr>
            <a:r>
              <a:rPr lang="en-US" altLang="zh-CN" dirty="0"/>
              <a:t>1</a:t>
            </a:r>
            <a:r>
              <a:rPr lang="zh-CN" altLang="en-US" dirty="0"/>
              <a:t>） 只考虑精查询，但随着</a:t>
            </a:r>
            <a:r>
              <a:rPr lang="en-US" altLang="zh-CN" dirty="0"/>
              <a:t>Range</a:t>
            </a:r>
            <a:r>
              <a:rPr lang="zh-CN" altLang="en-US" dirty="0"/>
              <a:t>个数的增加，每个</a:t>
            </a:r>
            <a:r>
              <a:rPr lang="en-US" altLang="zh-CN" dirty="0"/>
              <a:t>Range</a:t>
            </a:r>
            <a:r>
              <a:rPr lang="zh-CN" altLang="en-US" dirty="0"/>
              <a:t>有一次</a:t>
            </a:r>
            <a:r>
              <a:rPr lang="en-US" altLang="zh-CN" dirty="0"/>
              <a:t>Scan</a:t>
            </a:r>
            <a:r>
              <a:rPr lang="zh-CN" altLang="en-US" dirty="0"/>
              <a:t>操作。会影响查询的延迟。</a:t>
            </a:r>
            <a:endParaRPr lang="en-US" altLang="zh-CN" dirty="0"/>
          </a:p>
          <a:p>
            <a:pPr>
              <a:lnSpc>
                <a:spcPct val="150000"/>
              </a:lnSpc>
            </a:pPr>
            <a:r>
              <a:rPr lang="en-US" altLang="zh-CN" dirty="0"/>
              <a:t>2</a:t>
            </a:r>
            <a:r>
              <a:rPr lang="zh-CN" altLang="en-US" dirty="0"/>
              <a:t>） 目前只支持空间两个维度。不支持时间查询</a:t>
            </a:r>
            <a:endParaRPr lang="en-US" altLang="zh-CN" dirty="0"/>
          </a:p>
          <a:p>
            <a:pPr>
              <a:lnSpc>
                <a:spcPct val="150000"/>
              </a:lnSpc>
            </a:pPr>
            <a:endParaRPr lang="en-US" altLang="zh-CN" dirty="0"/>
          </a:p>
          <a:p>
            <a:pPr>
              <a:lnSpc>
                <a:spcPct val="150000"/>
              </a:lnSpc>
            </a:pPr>
            <a:r>
              <a:rPr lang="zh-CN" altLang="en-US" dirty="0"/>
              <a:t>思考：</a:t>
            </a:r>
            <a:endParaRPr lang="en-US" altLang="zh-CN" dirty="0"/>
          </a:p>
          <a:p>
            <a:pPr>
              <a:lnSpc>
                <a:spcPct val="150000"/>
              </a:lnSpc>
            </a:pPr>
            <a:r>
              <a:rPr lang="en-US" altLang="zh-CN" dirty="0"/>
              <a:t>1</a:t>
            </a:r>
            <a:r>
              <a:rPr lang="zh-CN" altLang="en-US" dirty="0"/>
              <a:t>） 能否容忍一部分</a:t>
            </a:r>
            <a:r>
              <a:rPr lang="en-US" altLang="zh-CN" dirty="0"/>
              <a:t>False Positive</a:t>
            </a:r>
            <a:r>
              <a:rPr lang="zh-CN" altLang="en-US" dirty="0"/>
              <a:t>，也就是在考虑</a:t>
            </a:r>
            <a:r>
              <a:rPr lang="zh-CN" altLang="en-US" b="1" dirty="0">
                <a:solidFill>
                  <a:srgbClr val="FF0000"/>
                </a:solidFill>
              </a:rPr>
              <a:t>数据分布</a:t>
            </a:r>
            <a:r>
              <a:rPr lang="zh-CN" altLang="en-US" dirty="0"/>
              <a:t>的同时，合并</a:t>
            </a:r>
            <a:r>
              <a:rPr lang="en-US" altLang="zh-CN" dirty="0"/>
              <a:t>Range</a:t>
            </a:r>
            <a:r>
              <a:rPr lang="zh-CN" altLang="en-US" dirty="0"/>
              <a:t>。减少</a:t>
            </a:r>
            <a:r>
              <a:rPr lang="en-US" altLang="zh-CN" dirty="0"/>
              <a:t>Scan</a:t>
            </a:r>
            <a:r>
              <a:rPr lang="zh-CN" altLang="en-US" dirty="0"/>
              <a:t>操作。</a:t>
            </a:r>
            <a:endParaRPr lang="en-US" altLang="zh-CN" dirty="0"/>
          </a:p>
          <a:p>
            <a:pPr>
              <a:lnSpc>
                <a:spcPct val="150000"/>
              </a:lnSpc>
            </a:pPr>
            <a:r>
              <a:rPr lang="en-US" altLang="zh-CN" dirty="0"/>
              <a:t>2</a:t>
            </a:r>
            <a:r>
              <a:rPr lang="zh-CN" altLang="en-US" dirty="0"/>
              <a:t>） 并利用协处理器进行精过滤，整体上提高查询效率。</a:t>
            </a:r>
            <a:endParaRPr lang="en-US" altLang="zh-CN" dirty="0"/>
          </a:p>
        </p:txBody>
      </p:sp>
    </p:spTree>
    <p:extLst>
      <p:ext uri="{BB962C8B-B14F-4D97-AF65-F5344CB8AC3E}">
        <p14:creationId xmlns:p14="http://schemas.microsoft.com/office/powerpoint/2010/main" val="310179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88EF9-1FEB-46CC-ABC1-66892D68A91B}"/>
              </a:ext>
            </a:extLst>
          </p:cNvPr>
          <p:cNvSpPr>
            <a:spLocks noGrp="1"/>
          </p:cNvSpPr>
          <p:nvPr>
            <p:ph type="title"/>
          </p:nvPr>
        </p:nvSpPr>
        <p:spPr/>
        <p:txBody>
          <a:bodyPr/>
          <a:lstStyle/>
          <a:p>
            <a:r>
              <a:rPr lang="zh-CN" altLang="en-US" dirty="0"/>
              <a:t>相关应用</a:t>
            </a:r>
          </a:p>
        </p:txBody>
      </p:sp>
      <p:sp>
        <p:nvSpPr>
          <p:cNvPr id="4" name="灯片编号占位符 3">
            <a:extLst>
              <a:ext uri="{FF2B5EF4-FFF2-40B4-BE49-F238E27FC236}">
                <a16:creationId xmlns:a16="http://schemas.microsoft.com/office/drawing/2014/main" id="{CA00E53E-0BB5-42F6-B8F0-3A709A1C5BF4}"/>
              </a:ext>
            </a:extLst>
          </p:cNvPr>
          <p:cNvSpPr>
            <a:spLocks noGrp="1"/>
          </p:cNvSpPr>
          <p:nvPr>
            <p:ph type="sldNum" sz="quarter" idx="12"/>
          </p:nvPr>
        </p:nvSpPr>
        <p:spPr/>
        <p:txBody>
          <a:bodyPr/>
          <a:lstStyle/>
          <a:p>
            <a:fld id="{5DD3DB80-B894-403A-B48E-6FDC1A72010E}" type="slidenum">
              <a:rPr lang="zh-CN" altLang="en-US" smtClean="0"/>
              <a:pPr/>
              <a:t>12</a:t>
            </a:fld>
            <a:endParaRPr lang="zh-CN" altLang="en-US"/>
          </a:p>
        </p:txBody>
      </p:sp>
      <p:sp>
        <p:nvSpPr>
          <p:cNvPr id="6" name="矩形 5">
            <a:extLst>
              <a:ext uri="{FF2B5EF4-FFF2-40B4-BE49-F238E27FC236}">
                <a16:creationId xmlns:a16="http://schemas.microsoft.com/office/drawing/2014/main" id="{C2BADC69-5F15-43B8-A4BE-A091C19D1113}"/>
              </a:ext>
            </a:extLst>
          </p:cNvPr>
          <p:cNvSpPr/>
          <p:nvPr/>
        </p:nvSpPr>
        <p:spPr>
          <a:xfrm>
            <a:off x="929832" y="1846179"/>
            <a:ext cx="10251311" cy="4618316"/>
          </a:xfrm>
          <a:prstGeom prst="rect">
            <a:avLst/>
          </a:prstGeom>
        </p:spPr>
        <p:txBody>
          <a:bodyPr wrap="square">
            <a:spAutoFit/>
          </a:bodyPr>
          <a:lstStyle/>
          <a:p>
            <a:pPr>
              <a:lnSpc>
                <a:spcPct val="150000"/>
              </a:lnSpc>
            </a:pPr>
            <a:r>
              <a:rPr lang="en-US" altLang="zh-CN" dirty="0">
                <a:latin typeface="+mn-ea"/>
              </a:rPr>
              <a:t>1</a:t>
            </a:r>
            <a:r>
              <a:rPr lang="zh-CN" altLang="en-US" dirty="0">
                <a:latin typeface="+mn-ea"/>
              </a:rPr>
              <a:t>） </a:t>
            </a:r>
            <a:r>
              <a:rPr lang="en-US" altLang="zh-CN" dirty="0" err="1">
                <a:latin typeface="+mn-ea"/>
              </a:rPr>
              <a:t>Rowkey</a:t>
            </a:r>
            <a:r>
              <a:rPr lang="zh-CN" altLang="en-US" dirty="0">
                <a:latin typeface="+mn-ea"/>
              </a:rPr>
              <a:t>使用</a:t>
            </a:r>
            <a:r>
              <a:rPr lang="en-US" altLang="zh-CN" dirty="0">
                <a:latin typeface="+mn-ea"/>
              </a:rPr>
              <a:t>Z order</a:t>
            </a:r>
            <a:r>
              <a:rPr lang="zh-CN" altLang="en-US" dirty="0">
                <a:latin typeface="+mn-ea"/>
              </a:rPr>
              <a:t>只对空间编码作为第一层索引，</a:t>
            </a:r>
            <a:r>
              <a:rPr lang="en-US" altLang="zh-CN" dirty="0">
                <a:latin typeface="+mn-ea"/>
              </a:rPr>
              <a:t>Region Server</a:t>
            </a:r>
            <a:r>
              <a:rPr lang="zh-CN" altLang="en-US" dirty="0">
                <a:latin typeface="+mn-ea"/>
              </a:rPr>
              <a:t>协处理器放上第二层索引，将时空三维归一化，建立八叉树，并同时考虑到数据分布和倾斜问题，放入内存结构。</a:t>
            </a:r>
            <a:endParaRPr lang="en-US" altLang="zh-CN" dirty="0">
              <a:latin typeface="+mn-ea"/>
            </a:endParaRPr>
          </a:p>
          <a:p>
            <a:pPr>
              <a:lnSpc>
                <a:spcPct val="150000"/>
              </a:lnSpc>
            </a:pPr>
            <a:endParaRPr lang="en-US" altLang="zh-CN" dirty="0">
              <a:latin typeface="+mn-ea"/>
            </a:endParaRPr>
          </a:p>
          <a:p>
            <a:pPr>
              <a:lnSpc>
                <a:spcPct val="150000"/>
              </a:lnSpc>
            </a:pPr>
            <a:r>
              <a:rPr lang="en-US" altLang="zh-CN" dirty="0">
                <a:latin typeface="+mn-ea"/>
              </a:rPr>
              <a:t>2</a:t>
            </a:r>
            <a:r>
              <a:rPr lang="zh-CN" altLang="en-US" dirty="0">
                <a:latin typeface="+mn-ea"/>
              </a:rPr>
              <a:t>） </a:t>
            </a:r>
            <a:r>
              <a:rPr lang="zh-CN" altLang="en-US" dirty="0"/>
              <a:t>时间用</a:t>
            </a:r>
            <a:r>
              <a:rPr lang="en-US" altLang="zh-CN" dirty="0"/>
              <a:t>B+</a:t>
            </a:r>
            <a:r>
              <a:rPr lang="zh-CN" altLang="en-US" dirty="0"/>
              <a:t>树，每个时间下的空间再用</a:t>
            </a:r>
            <a:r>
              <a:rPr lang="en-US" altLang="zh-CN" dirty="0"/>
              <a:t>R</a:t>
            </a:r>
            <a:r>
              <a:rPr lang="zh-CN" altLang="en-US" dirty="0"/>
              <a:t>树划分</a:t>
            </a:r>
            <a:endParaRPr lang="en-US" altLang="zh-CN" dirty="0"/>
          </a:p>
          <a:p>
            <a:pPr>
              <a:lnSpc>
                <a:spcPct val="150000"/>
              </a:lnSpc>
            </a:pPr>
            <a:endParaRPr lang="en-US" altLang="zh-CN" b="0" dirty="0">
              <a:solidFill>
                <a:srgbClr val="D4D4D4"/>
              </a:solidFill>
              <a:effectLst/>
              <a:latin typeface="Consolas" panose="020B0609020204030204" pitchFamily="49" charset="0"/>
            </a:endParaRPr>
          </a:p>
          <a:p>
            <a:pPr>
              <a:lnSpc>
                <a:spcPct val="150000"/>
              </a:lnSpc>
            </a:pPr>
            <a:r>
              <a:rPr lang="en-US" altLang="zh-CN" dirty="0"/>
              <a:t>3</a:t>
            </a:r>
            <a:r>
              <a:rPr lang="zh-CN" altLang="en-US" dirty="0"/>
              <a:t>） </a:t>
            </a:r>
            <a:r>
              <a:rPr lang="en-US" altLang="zh-CN" dirty="0" err="1"/>
              <a:t>Rowkey</a:t>
            </a:r>
            <a:r>
              <a:rPr lang="zh-CN" altLang="en-US" dirty="0"/>
              <a:t>使用</a:t>
            </a:r>
            <a:r>
              <a:rPr lang="en-US" altLang="zh-CN" dirty="0"/>
              <a:t>Z order</a:t>
            </a:r>
            <a:r>
              <a:rPr lang="zh-CN" altLang="en-US" dirty="0"/>
              <a:t>只对空间编码作为第一层索引，</a:t>
            </a:r>
            <a:r>
              <a:rPr lang="en-US" altLang="zh-CN" dirty="0"/>
              <a:t>Region Server</a:t>
            </a:r>
            <a:r>
              <a:rPr lang="zh-CN" altLang="en-US" dirty="0"/>
              <a:t>协处理器放上第二层索引，将时空三维归一化</a:t>
            </a:r>
            <a:r>
              <a:rPr lang="zh-CN" altLang="en-US" dirty="0">
                <a:latin typeface="+mn-ea"/>
              </a:rPr>
              <a:t>，建立</a:t>
            </a:r>
            <a:r>
              <a:rPr lang="en-US" altLang="zh-CN" dirty="0">
                <a:latin typeface="+mn-ea"/>
              </a:rPr>
              <a:t>3D R</a:t>
            </a:r>
            <a:r>
              <a:rPr lang="zh-CN" altLang="en-US" dirty="0">
                <a:latin typeface="+mn-ea"/>
              </a:rPr>
              <a:t>树。</a:t>
            </a:r>
            <a:endParaRPr lang="en-US" altLang="zh-CN" dirty="0">
              <a:latin typeface="+mn-ea"/>
            </a:endParaRPr>
          </a:p>
          <a:p>
            <a:pPr>
              <a:lnSpc>
                <a:spcPct val="150000"/>
              </a:lnSpc>
            </a:pPr>
            <a:endParaRPr lang="en-US" altLang="zh-CN" dirty="0">
              <a:latin typeface="+mn-ea"/>
            </a:endParaRPr>
          </a:p>
          <a:p>
            <a:pPr>
              <a:lnSpc>
                <a:spcPct val="150000"/>
              </a:lnSpc>
            </a:pPr>
            <a:r>
              <a:rPr lang="en-US" altLang="zh-CN" dirty="0">
                <a:latin typeface="+mn-ea"/>
              </a:rPr>
              <a:t>4</a:t>
            </a:r>
            <a:r>
              <a:rPr lang="zh-CN" altLang="en-US" dirty="0">
                <a:latin typeface="+mn-ea"/>
              </a:rPr>
              <a:t>）</a:t>
            </a:r>
            <a:r>
              <a:rPr lang="en-US" altLang="zh-CN" dirty="0">
                <a:latin typeface="+mn-ea"/>
              </a:rPr>
              <a:t> G-</a:t>
            </a:r>
            <a:r>
              <a:rPr lang="en-US" altLang="zh-CN" dirty="0" err="1">
                <a:latin typeface="+mn-ea"/>
              </a:rPr>
              <a:t>hbase</a:t>
            </a:r>
            <a:r>
              <a:rPr lang="en-US" altLang="zh-CN" dirty="0">
                <a:latin typeface="+mn-ea"/>
              </a:rPr>
              <a:t> </a:t>
            </a:r>
            <a:r>
              <a:rPr lang="zh-CN" altLang="zh-CN" dirty="0">
                <a:latin typeface="+mn-ea"/>
              </a:rPr>
              <a:t>将空间经纬度编码后的</a:t>
            </a:r>
            <a:r>
              <a:rPr lang="en-US" altLang="zh-CN" dirty="0">
                <a:latin typeface="+mn-ea"/>
              </a:rPr>
              <a:t>Geohash</a:t>
            </a:r>
            <a:r>
              <a:rPr lang="zh-CN" altLang="zh-CN" dirty="0">
                <a:latin typeface="+mn-ea"/>
              </a:rPr>
              <a:t>作为行键，并利用行键作为第一层</a:t>
            </a:r>
            <a:r>
              <a:rPr lang="zh-CN" altLang="en-US" dirty="0">
                <a:latin typeface="+mn-ea"/>
              </a:rPr>
              <a:t>空间</a:t>
            </a:r>
            <a:r>
              <a:rPr lang="zh-CN" altLang="zh-CN" dirty="0">
                <a:latin typeface="+mn-ea"/>
              </a:rPr>
              <a:t>过滤</a:t>
            </a:r>
            <a:r>
              <a:rPr lang="zh-CN" altLang="en-US" dirty="0">
                <a:latin typeface="+mn-ea"/>
              </a:rPr>
              <a:t>。并将所有对象所在</a:t>
            </a:r>
            <a:r>
              <a:rPr lang="en-US" altLang="zh-CN" dirty="0">
                <a:latin typeface="+mn-ea"/>
              </a:rPr>
              <a:t>Geohash</a:t>
            </a:r>
            <a:r>
              <a:rPr lang="zh-CN" altLang="en-US" dirty="0">
                <a:latin typeface="+mn-ea"/>
              </a:rPr>
              <a:t>的矩形作为输入在每个</a:t>
            </a:r>
            <a:r>
              <a:rPr lang="en-US" altLang="zh-CN" dirty="0">
                <a:latin typeface="+mn-ea"/>
              </a:rPr>
              <a:t>Region</a:t>
            </a:r>
            <a:r>
              <a:rPr lang="zh-CN" altLang="en-US" dirty="0">
                <a:latin typeface="+mn-ea"/>
              </a:rPr>
              <a:t>建立</a:t>
            </a:r>
            <a:r>
              <a:rPr lang="en-US" altLang="zh-CN" dirty="0">
                <a:latin typeface="+mn-ea"/>
              </a:rPr>
              <a:t>R</a:t>
            </a:r>
            <a:r>
              <a:rPr lang="zh-CN" altLang="en-US" dirty="0">
                <a:latin typeface="+mn-ea"/>
              </a:rPr>
              <a:t>树。</a:t>
            </a:r>
            <a:endParaRPr lang="en-US" altLang="zh-CN" dirty="0">
              <a:latin typeface="+mn-ea"/>
            </a:endParaRPr>
          </a:p>
          <a:p>
            <a:pPr>
              <a:lnSpc>
                <a:spcPct val="150000"/>
              </a:lnSpc>
            </a:pPr>
            <a:endParaRPr lang="zh-CN" alt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809516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88EF9-1FEB-46CC-ABC1-66892D68A91B}"/>
              </a:ext>
            </a:extLst>
          </p:cNvPr>
          <p:cNvSpPr>
            <a:spLocks noGrp="1"/>
          </p:cNvSpPr>
          <p:nvPr>
            <p:ph type="title"/>
          </p:nvPr>
        </p:nvSpPr>
        <p:spPr/>
        <p:txBody>
          <a:bodyPr/>
          <a:lstStyle/>
          <a:p>
            <a:r>
              <a:rPr lang="zh-CN" altLang="en-US" dirty="0"/>
              <a:t>补充：</a:t>
            </a:r>
          </a:p>
        </p:txBody>
      </p:sp>
      <p:sp>
        <p:nvSpPr>
          <p:cNvPr id="4" name="灯片编号占位符 3">
            <a:extLst>
              <a:ext uri="{FF2B5EF4-FFF2-40B4-BE49-F238E27FC236}">
                <a16:creationId xmlns:a16="http://schemas.microsoft.com/office/drawing/2014/main" id="{CA00E53E-0BB5-42F6-B8F0-3A709A1C5BF4}"/>
              </a:ext>
            </a:extLst>
          </p:cNvPr>
          <p:cNvSpPr>
            <a:spLocks noGrp="1"/>
          </p:cNvSpPr>
          <p:nvPr>
            <p:ph type="sldNum" sz="quarter" idx="12"/>
          </p:nvPr>
        </p:nvSpPr>
        <p:spPr/>
        <p:txBody>
          <a:bodyPr/>
          <a:lstStyle/>
          <a:p>
            <a:fld id="{5DD3DB80-B894-403A-B48E-6FDC1A72010E}" type="slidenum">
              <a:rPr lang="zh-CN" altLang="en-US" smtClean="0"/>
              <a:pPr/>
              <a:t>13</a:t>
            </a:fld>
            <a:endParaRPr lang="zh-CN" altLang="en-US"/>
          </a:p>
        </p:txBody>
      </p:sp>
      <p:sp>
        <p:nvSpPr>
          <p:cNvPr id="6" name="矩形 5">
            <a:extLst>
              <a:ext uri="{FF2B5EF4-FFF2-40B4-BE49-F238E27FC236}">
                <a16:creationId xmlns:a16="http://schemas.microsoft.com/office/drawing/2014/main" id="{C2BADC69-5F15-43B8-A4BE-A091C19D1113}"/>
              </a:ext>
            </a:extLst>
          </p:cNvPr>
          <p:cNvSpPr/>
          <p:nvPr/>
        </p:nvSpPr>
        <p:spPr>
          <a:xfrm>
            <a:off x="929832" y="1846179"/>
            <a:ext cx="10251311" cy="2125325"/>
          </a:xfrm>
          <a:prstGeom prst="rect">
            <a:avLst/>
          </a:prstGeom>
        </p:spPr>
        <p:txBody>
          <a:bodyPr wrap="square">
            <a:spAutoFit/>
          </a:bodyPr>
          <a:lstStyle/>
          <a:p>
            <a:pPr>
              <a:lnSpc>
                <a:spcPct val="150000"/>
              </a:lnSpc>
            </a:pPr>
            <a:r>
              <a:rPr lang="en-US" altLang="zh-CN" dirty="0">
                <a:latin typeface="+mn-ea"/>
              </a:rPr>
              <a:t>1</a:t>
            </a:r>
            <a:r>
              <a:rPr lang="zh-CN" altLang="en-US" dirty="0">
                <a:latin typeface="+mn-ea"/>
              </a:rPr>
              <a:t>）</a:t>
            </a:r>
            <a:r>
              <a:rPr lang="en-US" altLang="zh-CN" dirty="0">
                <a:latin typeface="+mn-ea"/>
              </a:rPr>
              <a:t>TST ST TS </a:t>
            </a:r>
            <a:r>
              <a:rPr lang="zh-CN" altLang="en-US" dirty="0">
                <a:latin typeface="+mn-ea"/>
              </a:rPr>
              <a:t>实验对比 </a:t>
            </a:r>
            <a:r>
              <a:rPr lang="en-US" altLang="zh-CN" dirty="0">
                <a:latin typeface="+mn-ea"/>
              </a:rPr>
              <a:t>: </a:t>
            </a:r>
          </a:p>
          <a:p>
            <a:pPr>
              <a:lnSpc>
                <a:spcPct val="150000"/>
              </a:lnSpc>
            </a:pPr>
            <a:r>
              <a:rPr lang="zh-CN" altLang="en-US" dirty="0">
                <a:latin typeface="+mn-ea"/>
              </a:rPr>
              <a:t>数据为</a:t>
            </a:r>
            <a:r>
              <a:rPr lang="en-US" altLang="zh-CN" dirty="0">
                <a:latin typeface="+mn-ea"/>
              </a:rPr>
              <a:t>2018</a:t>
            </a:r>
            <a:r>
              <a:rPr lang="zh-CN" altLang="en-US" dirty="0">
                <a:latin typeface="+mn-ea"/>
              </a:rPr>
              <a:t>年</a:t>
            </a:r>
            <a:r>
              <a:rPr lang="en-US" altLang="zh-CN" dirty="0">
                <a:latin typeface="+mn-ea"/>
              </a:rPr>
              <a:t>9</a:t>
            </a:r>
            <a:r>
              <a:rPr lang="zh-CN" altLang="en-US" dirty="0">
                <a:latin typeface="+mn-ea"/>
              </a:rPr>
              <a:t>月至</a:t>
            </a:r>
            <a:r>
              <a:rPr lang="en-US" altLang="zh-CN" dirty="0">
                <a:latin typeface="+mn-ea"/>
              </a:rPr>
              <a:t>2018</a:t>
            </a:r>
            <a:r>
              <a:rPr lang="zh-CN" altLang="en-US" dirty="0">
                <a:latin typeface="+mn-ea"/>
              </a:rPr>
              <a:t>年</a:t>
            </a:r>
            <a:r>
              <a:rPr lang="en-US" altLang="zh-CN" dirty="0">
                <a:latin typeface="+mn-ea"/>
              </a:rPr>
              <a:t>11</a:t>
            </a:r>
            <a:r>
              <a:rPr lang="zh-CN" altLang="en-US" dirty="0">
                <a:latin typeface="+mn-ea"/>
              </a:rPr>
              <a:t>月数据</a:t>
            </a:r>
            <a:r>
              <a:rPr lang="en-US" altLang="zh-CN" dirty="0">
                <a:latin typeface="+mn-ea"/>
              </a:rPr>
              <a:t>  M-S-DY</a:t>
            </a:r>
            <a:r>
              <a:rPr lang="zh-CN" altLang="en-US" dirty="0">
                <a:latin typeface="+mn-ea"/>
              </a:rPr>
              <a:t>，对比实验。</a:t>
            </a:r>
            <a:endParaRPr lang="en-US" altLang="zh-CN" dirty="0">
              <a:latin typeface="+mn-ea"/>
            </a:endParaRPr>
          </a:p>
          <a:p>
            <a:pPr>
              <a:lnSpc>
                <a:spcPct val="150000"/>
              </a:lnSpc>
            </a:pPr>
            <a:endParaRPr lang="en-US" altLang="zh-CN" dirty="0">
              <a:latin typeface="+mn-ea"/>
            </a:endParaRPr>
          </a:p>
          <a:p>
            <a:pPr>
              <a:lnSpc>
                <a:spcPct val="150000"/>
              </a:lnSpc>
            </a:pPr>
            <a:r>
              <a:rPr lang="en-US" altLang="zh-CN" dirty="0">
                <a:latin typeface="+mn-ea"/>
              </a:rPr>
              <a:t>2</a:t>
            </a:r>
            <a:r>
              <a:rPr lang="zh-CN" altLang="en-US" dirty="0">
                <a:latin typeface="+mn-ea"/>
              </a:rPr>
              <a:t>） 深入了解</a:t>
            </a:r>
            <a:r>
              <a:rPr lang="en-US" altLang="zh-CN">
                <a:latin typeface="+mn-ea"/>
              </a:rPr>
              <a:t>Compact Hilbert Curve</a:t>
            </a:r>
            <a:endParaRPr lang="en-US" altLang="zh-CN" dirty="0">
              <a:latin typeface="+mn-ea"/>
            </a:endParaRPr>
          </a:p>
          <a:p>
            <a:pPr>
              <a:lnSpc>
                <a:spcPct val="150000"/>
              </a:lnSpc>
            </a:pPr>
            <a:endParaRPr lang="zh-CN" altLang="en-US"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2030122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Thanks.</a:t>
            </a:r>
            <a:endParaRPr lang="zh-CN" altLang="en-US" b="0" dirty="0"/>
          </a:p>
        </p:txBody>
      </p:sp>
      <p:pic>
        <p:nvPicPr>
          <p:cNvPr id="13" name="图片占位符 12"/>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35911" b="35911"/>
          <a:stretch>
            <a:fillRect/>
          </a:stretch>
        </p:blipFill>
        <p:spPr/>
      </p:pic>
      <p:sp>
        <p:nvSpPr>
          <p:cNvPr id="9" name="文本占位符 8"/>
          <p:cNvSpPr>
            <a:spLocks noGrp="1"/>
          </p:cNvSpPr>
          <p:nvPr>
            <p:ph type="body" sz="quarter" idx="11"/>
          </p:nvPr>
        </p:nvSpPr>
        <p:spPr/>
        <p:txBody>
          <a:bodyPr/>
          <a:lstStyle/>
          <a:p>
            <a:endParaRPr lang="zh-CN" altLang="en-US" dirty="0"/>
          </a:p>
        </p:txBody>
      </p:sp>
      <p:sp>
        <p:nvSpPr>
          <p:cNvPr id="20" name="文本框 76">
            <a:extLst/>
          </p:cNvPr>
          <p:cNvSpPr txBox="1"/>
          <p:nvPr/>
        </p:nvSpPr>
        <p:spPr>
          <a:xfrm>
            <a:off x="7609801" y="3242549"/>
            <a:ext cx="2273516" cy="457914"/>
          </a:xfrm>
          <a:prstGeom prst="rect">
            <a:avLst/>
          </a:prstGeom>
          <a:noFill/>
        </p:spPr>
        <p:txBody>
          <a:bodyPr wrap="none" numCol="1" rtlCol="0">
            <a:prstTxWarp prst="textPlain">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600" b="1" i="1" dirty="0">
                <a:solidFill>
                  <a:schemeClr val="bg1"/>
                </a:solidFill>
                <a:latin typeface="+mn-lt"/>
              </a:rPr>
              <a:t>THANKS</a:t>
            </a:r>
            <a:endParaRPr lang="zh-CN" altLang="en-US" sz="16600" b="1" i="1" dirty="0">
              <a:solidFill>
                <a:schemeClr val="bg1"/>
              </a:solidFill>
              <a:latin typeface="+mn-lt"/>
            </a:endParaRPr>
          </a:p>
        </p:txBody>
      </p:sp>
    </p:spTree>
    <p:extLst>
      <p:ext uri="{BB962C8B-B14F-4D97-AF65-F5344CB8AC3E}">
        <p14:creationId xmlns:p14="http://schemas.microsoft.com/office/powerpoint/2010/main" val="12590430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1a5cd26e-eda9-49bf-ab5c-fd0a83db0c79&quot;,&quot;Name&quot;:&quot;iSlide&quot;,&quot;HeaderHeight&quot;:15.0,&quot;FooterHeight&quot;:9.0,&quot;SideMargin&quot;:5.5,&quot;TopMargin&quot;:0.0,&quot;BottomMargin&quot;:0.0,&quot;IntervalMargin&quot;:1.4}"/>
  <p:tag name="ISLIDE.THEME" val="e4cd0dee-fdc6-4433-ad92-05d7d808ca1b"/>
</p:tagLst>
</file>

<file path=ppt/theme/theme1.xml><?xml version="1.0" encoding="utf-8"?>
<a:theme xmlns:a="http://schemas.openxmlformats.org/drawingml/2006/main" name="主题5">
  <a:themeElements>
    <a:clrScheme name="自定义 26">
      <a:dk1>
        <a:srgbClr val="000000"/>
      </a:dk1>
      <a:lt1>
        <a:srgbClr val="FFFFFF"/>
      </a:lt1>
      <a:dk2>
        <a:srgbClr val="778495"/>
      </a:dk2>
      <a:lt2>
        <a:srgbClr val="F0F0F0"/>
      </a:lt2>
      <a:accent1>
        <a:srgbClr val="4276AA"/>
      </a:accent1>
      <a:accent2>
        <a:srgbClr val="178AA1"/>
      </a:accent2>
      <a:accent3>
        <a:srgbClr val="40A693"/>
      </a:accent3>
      <a:accent4>
        <a:srgbClr val="5268A5"/>
      </a:accent4>
      <a:accent5>
        <a:srgbClr val="5E5CA2"/>
      </a:accent5>
      <a:accent6>
        <a:srgbClr val="778495"/>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主题5" id="{B8EDB911-D765-4A7B-BBC7-40DBB672FBA6}" vid="{AECAB1C0-5DF6-436C-85E8-20094DBE11C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6">
    <a:dk1>
      <a:srgbClr val="000000"/>
    </a:dk1>
    <a:lt1>
      <a:srgbClr val="FFFFFF"/>
    </a:lt1>
    <a:dk2>
      <a:srgbClr val="778495"/>
    </a:dk2>
    <a:lt2>
      <a:srgbClr val="F0F0F0"/>
    </a:lt2>
    <a:accent1>
      <a:srgbClr val="4276AA"/>
    </a:accent1>
    <a:accent2>
      <a:srgbClr val="178AA1"/>
    </a:accent2>
    <a:accent3>
      <a:srgbClr val="40A693"/>
    </a:accent3>
    <a:accent4>
      <a:srgbClr val="5268A5"/>
    </a:accent4>
    <a:accent5>
      <a:srgbClr val="5E5CA2"/>
    </a:accent5>
    <a:accent6>
      <a:srgbClr val="778495"/>
    </a:accent6>
    <a:hlink>
      <a:srgbClr val="4276AA"/>
    </a:hlink>
    <a:folHlink>
      <a:srgbClr val="BFBFBF"/>
    </a:folHlink>
  </a:clrScheme>
</a:themeOverride>
</file>

<file path=ppt/theme/themeOverride2.xml><?xml version="1.0" encoding="utf-8"?>
<a:themeOverride xmlns:a="http://schemas.openxmlformats.org/drawingml/2006/main">
  <a:clrScheme name="自定义 26">
    <a:dk1>
      <a:srgbClr val="000000"/>
    </a:dk1>
    <a:lt1>
      <a:srgbClr val="FFFFFF"/>
    </a:lt1>
    <a:dk2>
      <a:srgbClr val="778495"/>
    </a:dk2>
    <a:lt2>
      <a:srgbClr val="F0F0F0"/>
    </a:lt2>
    <a:accent1>
      <a:srgbClr val="4276AA"/>
    </a:accent1>
    <a:accent2>
      <a:srgbClr val="178AA1"/>
    </a:accent2>
    <a:accent3>
      <a:srgbClr val="40A693"/>
    </a:accent3>
    <a:accent4>
      <a:srgbClr val="5268A5"/>
    </a:accent4>
    <a:accent5>
      <a:srgbClr val="5E5CA2"/>
    </a:accent5>
    <a:accent6>
      <a:srgbClr val="778495"/>
    </a:accent6>
    <a:hlink>
      <a:srgbClr val="4276AA"/>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748</TotalTime>
  <Words>1525</Words>
  <Application>Microsoft Office PowerPoint</Application>
  <PresentationFormat>宽屏</PresentationFormat>
  <Paragraphs>131</Paragraphs>
  <Slides>14</Slides>
  <Notes>12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微软雅黑</vt:lpstr>
      <vt:lpstr>Arial</vt:lpstr>
      <vt:lpstr>Calibri</vt:lpstr>
      <vt:lpstr>Consolas</vt:lpstr>
      <vt:lpstr>Impact</vt:lpstr>
      <vt:lpstr>Times New Roman</vt:lpstr>
      <vt:lpstr>主题5</vt:lpstr>
      <vt:lpstr>PowerPoint 演示文稿</vt:lpstr>
      <vt:lpstr>时空索引介绍</vt:lpstr>
      <vt:lpstr>串接编码</vt:lpstr>
      <vt:lpstr>串接编码</vt:lpstr>
      <vt:lpstr>一体编码</vt:lpstr>
      <vt:lpstr>实例介绍 </vt:lpstr>
      <vt:lpstr>md-hbase：前缀策略</vt:lpstr>
      <vt:lpstr>md-hbase：表结构</vt:lpstr>
      <vt:lpstr>Md-hbase：查询</vt:lpstr>
      <vt:lpstr>md-HBase：查询</vt:lpstr>
      <vt:lpstr>Md-hbase：总结</vt:lpstr>
      <vt:lpstr>相关应用</vt:lpstr>
      <vt:lpstr>补充：</vt:lpstr>
      <vt:lpstr>Thanks.</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xc</cp:lastModifiedBy>
  <cp:revision>136</cp:revision>
  <cp:lastPrinted>2018-04-24T16:00:00Z</cp:lastPrinted>
  <dcterms:created xsi:type="dcterms:W3CDTF">2018-04-24T16:00:00Z</dcterms:created>
  <dcterms:modified xsi:type="dcterms:W3CDTF">2019-01-08T05:44:21Z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e4cd0dee-fdc6-4433-ad92-05d7d808ca1b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t-shyu@microsoft.com</vt:lpwstr>
  </property>
  <property fmtid="{D5CDD505-2E9C-101B-9397-08002B2CF9AE}" pid="6" name="MSIP_Label_f42aa342-8706-4288-bd11-ebb85995028c_SetDate">
    <vt:lpwstr>2018-08-31T03:27:23.0003555Z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